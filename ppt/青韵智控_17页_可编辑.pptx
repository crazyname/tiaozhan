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15925800" cy="896302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.png"/><Relationship Id="rId8" Type="http://schemas.openxmlformats.org/officeDocument/2006/relationships/image" Target="../media/image10.png"/><Relationship Id="rId7" Type="http://schemas.openxmlformats.org/officeDocument/2006/relationships/image" Target="../media/image9.png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12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20.png"/><Relationship Id="rId8" Type="http://schemas.openxmlformats.org/officeDocument/2006/relationships/image" Target="../media/image19.png"/><Relationship Id="rId7" Type="http://schemas.openxmlformats.org/officeDocument/2006/relationships/image" Target="../media/image18.png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21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29.png"/><Relationship Id="rId8" Type="http://schemas.openxmlformats.org/officeDocument/2006/relationships/image" Target="../media/image28.png"/><Relationship Id="rId7" Type="http://schemas.openxmlformats.org/officeDocument/2006/relationships/image" Target="../media/image27.png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30" Type="http://schemas.openxmlformats.org/officeDocument/2006/relationships/slideLayout" Target="../slideLayouts/slideLayout7.xml"/><Relationship Id="rId3" Type="http://schemas.openxmlformats.org/officeDocument/2006/relationships/image" Target="../media/image23.png"/><Relationship Id="rId29" Type="http://schemas.openxmlformats.org/officeDocument/2006/relationships/image" Target="../media/image49.png"/><Relationship Id="rId28" Type="http://schemas.openxmlformats.org/officeDocument/2006/relationships/image" Target="../media/image48.png"/><Relationship Id="rId27" Type="http://schemas.openxmlformats.org/officeDocument/2006/relationships/image" Target="../media/image47.png"/><Relationship Id="rId26" Type="http://schemas.openxmlformats.org/officeDocument/2006/relationships/image" Target="../media/image46.png"/><Relationship Id="rId25" Type="http://schemas.openxmlformats.org/officeDocument/2006/relationships/image" Target="../media/image45.png"/><Relationship Id="rId24" Type="http://schemas.openxmlformats.org/officeDocument/2006/relationships/image" Target="../media/image44.png"/><Relationship Id="rId23" Type="http://schemas.openxmlformats.org/officeDocument/2006/relationships/image" Target="../media/image43.png"/><Relationship Id="rId22" Type="http://schemas.openxmlformats.org/officeDocument/2006/relationships/image" Target="../media/image42.png"/><Relationship Id="rId21" Type="http://schemas.openxmlformats.org/officeDocument/2006/relationships/image" Target="../media/image41.png"/><Relationship Id="rId20" Type="http://schemas.openxmlformats.org/officeDocument/2006/relationships/image" Target="../media/image40.png"/><Relationship Id="rId2" Type="http://schemas.openxmlformats.org/officeDocument/2006/relationships/image" Target="../media/image22.png"/><Relationship Id="rId19" Type="http://schemas.openxmlformats.org/officeDocument/2006/relationships/image" Target="../media/image39.png"/><Relationship Id="rId18" Type="http://schemas.openxmlformats.org/officeDocument/2006/relationships/image" Target="../media/image38.png"/><Relationship Id="rId17" Type="http://schemas.openxmlformats.org/officeDocument/2006/relationships/image" Target="../media/image37.png"/><Relationship Id="rId16" Type="http://schemas.openxmlformats.org/officeDocument/2006/relationships/image" Target="../media/image36.png"/><Relationship Id="rId15" Type="http://schemas.openxmlformats.org/officeDocument/2006/relationships/image" Target="../media/image35.png"/><Relationship Id="rId14" Type="http://schemas.openxmlformats.org/officeDocument/2006/relationships/image" Target="../media/image34.png"/><Relationship Id="rId13" Type="http://schemas.openxmlformats.org/officeDocument/2006/relationships/image" Target="../media/image33.png"/><Relationship Id="rId12" Type="http://schemas.openxmlformats.org/officeDocument/2006/relationships/image" Target="../media/image32.png"/><Relationship Id="rId11" Type="http://schemas.openxmlformats.org/officeDocument/2006/relationships/image" Target="../media/image31.png"/><Relationship Id="rId10" Type="http://schemas.openxmlformats.org/officeDocument/2006/relationships/image" Target="../media/image30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57.png"/><Relationship Id="rId8" Type="http://schemas.openxmlformats.org/officeDocument/2006/relationships/image" Target="../media/image56.png"/><Relationship Id="rId7" Type="http://schemas.openxmlformats.org/officeDocument/2006/relationships/image" Target="../media/image55.png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Relationship Id="rId32" Type="http://schemas.openxmlformats.org/officeDocument/2006/relationships/slideLayout" Target="../slideLayouts/slideLayout7.xml"/><Relationship Id="rId31" Type="http://schemas.openxmlformats.org/officeDocument/2006/relationships/image" Target="../media/image79.png"/><Relationship Id="rId30" Type="http://schemas.openxmlformats.org/officeDocument/2006/relationships/image" Target="../media/image78.png"/><Relationship Id="rId3" Type="http://schemas.openxmlformats.org/officeDocument/2006/relationships/image" Target="../media/image51.png"/><Relationship Id="rId29" Type="http://schemas.openxmlformats.org/officeDocument/2006/relationships/image" Target="../media/image77.png"/><Relationship Id="rId28" Type="http://schemas.openxmlformats.org/officeDocument/2006/relationships/image" Target="../media/image76.png"/><Relationship Id="rId27" Type="http://schemas.openxmlformats.org/officeDocument/2006/relationships/image" Target="../media/image75.png"/><Relationship Id="rId26" Type="http://schemas.openxmlformats.org/officeDocument/2006/relationships/image" Target="../media/image74.png"/><Relationship Id="rId25" Type="http://schemas.openxmlformats.org/officeDocument/2006/relationships/image" Target="../media/image73.png"/><Relationship Id="rId24" Type="http://schemas.openxmlformats.org/officeDocument/2006/relationships/image" Target="../media/image72.png"/><Relationship Id="rId23" Type="http://schemas.openxmlformats.org/officeDocument/2006/relationships/image" Target="../media/image71.png"/><Relationship Id="rId22" Type="http://schemas.openxmlformats.org/officeDocument/2006/relationships/image" Target="../media/image70.png"/><Relationship Id="rId21" Type="http://schemas.openxmlformats.org/officeDocument/2006/relationships/image" Target="../media/image69.png"/><Relationship Id="rId20" Type="http://schemas.openxmlformats.org/officeDocument/2006/relationships/image" Target="../media/image68.png"/><Relationship Id="rId2" Type="http://schemas.openxmlformats.org/officeDocument/2006/relationships/image" Target="../media/image50.png"/><Relationship Id="rId19" Type="http://schemas.openxmlformats.org/officeDocument/2006/relationships/image" Target="../media/image67.png"/><Relationship Id="rId18" Type="http://schemas.openxmlformats.org/officeDocument/2006/relationships/image" Target="../media/image66.png"/><Relationship Id="rId17" Type="http://schemas.openxmlformats.org/officeDocument/2006/relationships/image" Target="../media/image65.png"/><Relationship Id="rId16" Type="http://schemas.openxmlformats.org/officeDocument/2006/relationships/image" Target="../media/image64.png"/><Relationship Id="rId15" Type="http://schemas.openxmlformats.org/officeDocument/2006/relationships/image" Target="../media/image63.png"/><Relationship Id="rId14" Type="http://schemas.openxmlformats.org/officeDocument/2006/relationships/image" Target="../media/image62.png"/><Relationship Id="rId13" Type="http://schemas.openxmlformats.org/officeDocument/2006/relationships/image" Target="../media/image61.png"/><Relationship Id="rId12" Type="http://schemas.openxmlformats.org/officeDocument/2006/relationships/image" Target="../media/image60.png"/><Relationship Id="rId11" Type="http://schemas.openxmlformats.org/officeDocument/2006/relationships/image" Target="../media/image59.png"/><Relationship Id="rId10" Type="http://schemas.openxmlformats.org/officeDocument/2006/relationships/image" Target="../media/image58.png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87.png"/><Relationship Id="rId8" Type="http://schemas.openxmlformats.org/officeDocument/2006/relationships/image" Target="../media/image86.png"/><Relationship Id="rId7" Type="http://schemas.openxmlformats.org/officeDocument/2006/relationships/image" Target="../media/image85.png"/><Relationship Id="rId6" Type="http://schemas.openxmlformats.org/officeDocument/2006/relationships/image" Target="../media/image84.png"/><Relationship Id="rId5" Type="http://schemas.openxmlformats.org/officeDocument/2006/relationships/image" Target="../media/image83.png"/><Relationship Id="rId4" Type="http://schemas.openxmlformats.org/officeDocument/2006/relationships/image" Target="../media/image82.png"/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5" Type="http://schemas.openxmlformats.org/officeDocument/2006/relationships/slideLayout" Target="../slideLayouts/slideLayout7.xml"/><Relationship Id="rId14" Type="http://schemas.openxmlformats.org/officeDocument/2006/relationships/image" Target="../media/image92.png"/><Relationship Id="rId13" Type="http://schemas.openxmlformats.org/officeDocument/2006/relationships/image" Target="../media/image91.png"/><Relationship Id="rId12" Type="http://schemas.openxmlformats.org/officeDocument/2006/relationships/image" Target="../media/image90.png"/><Relationship Id="rId11" Type="http://schemas.openxmlformats.org/officeDocument/2006/relationships/image" Target="../media/image89.png"/><Relationship Id="rId10" Type="http://schemas.openxmlformats.org/officeDocument/2006/relationships/image" Target="../media/image88.png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0.png"/><Relationship Id="rId8" Type="http://schemas.openxmlformats.org/officeDocument/2006/relationships/image" Target="../media/image99.png"/><Relationship Id="rId7" Type="http://schemas.openxmlformats.org/officeDocument/2006/relationships/image" Target="../media/image98.png"/><Relationship Id="rId6" Type="http://schemas.openxmlformats.org/officeDocument/2006/relationships/image" Target="../media/image97.png"/><Relationship Id="rId5" Type="http://schemas.openxmlformats.org/officeDocument/2006/relationships/image" Target="../media/image96.png"/><Relationship Id="rId4" Type="http://schemas.openxmlformats.org/officeDocument/2006/relationships/image" Target="../media/image95.png"/><Relationship Id="rId3" Type="http://schemas.openxmlformats.org/officeDocument/2006/relationships/image" Target="../media/image94.png"/><Relationship Id="rId25" Type="http://schemas.openxmlformats.org/officeDocument/2006/relationships/slideLayout" Target="../slideLayouts/slideLayout7.xml"/><Relationship Id="rId24" Type="http://schemas.openxmlformats.org/officeDocument/2006/relationships/image" Target="../media/image115.png"/><Relationship Id="rId23" Type="http://schemas.openxmlformats.org/officeDocument/2006/relationships/image" Target="../media/image114.png"/><Relationship Id="rId22" Type="http://schemas.openxmlformats.org/officeDocument/2006/relationships/image" Target="../media/image113.png"/><Relationship Id="rId21" Type="http://schemas.openxmlformats.org/officeDocument/2006/relationships/image" Target="../media/image112.png"/><Relationship Id="rId20" Type="http://schemas.openxmlformats.org/officeDocument/2006/relationships/image" Target="../media/image111.png"/><Relationship Id="rId2" Type="http://schemas.openxmlformats.org/officeDocument/2006/relationships/image" Target="../media/image93.png"/><Relationship Id="rId19" Type="http://schemas.openxmlformats.org/officeDocument/2006/relationships/image" Target="../media/image110.png"/><Relationship Id="rId18" Type="http://schemas.openxmlformats.org/officeDocument/2006/relationships/image" Target="../media/image109.png"/><Relationship Id="rId17" Type="http://schemas.openxmlformats.org/officeDocument/2006/relationships/image" Target="../media/image108.png"/><Relationship Id="rId16" Type="http://schemas.openxmlformats.org/officeDocument/2006/relationships/image" Target="../media/image107.png"/><Relationship Id="rId15" Type="http://schemas.openxmlformats.org/officeDocument/2006/relationships/image" Target="../media/image106.png"/><Relationship Id="rId14" Type="http://schemas.openxmlformats.org/officeDocument/2006/relationships/image" Target="../media/image105.png"/><Relationship Id="rId13" Type="http://schemas.openxmlformats.org/officeDocument/2006/relationships/image" Target="../media/image104.png"/><Relationship Id="rId12" Type="http://schemas.openxmlformats.org/officeDocument/2006/relationships/image" Target="../media/image103.png"/><Relationship Id="rId11" Type="http://schemas.openxmlformats.org/officeDocument/2006/relationships/image" Target="../media/image102.png"/><Relationship Id="rId10" Type="http://schemas.openxmlformats.org/officeDocument/2006/relationships/image" Target="../media/image101.png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3.png"/><Relationship Id="rId8" Type="http://schemas.openxmlformats.org/officeDocument/2006/relationships/image" Target="../media/image122.png"/><Relationship Id="rId7" Type="http://schemas.openxmlformats.org/officeDocument/2006/relationships/image" Target="../media/image121.png"/><Relationship Id="rId6" Type="http://schemas.openxmlformats.org/officeDocument/2006/relationships/image" Target="../media/image120.png"/><Relationship Id="rId5" Type="http://schemas.openxmlformats.org/officeDocument/2006/relationships/image" Target="../media/image119.png"/><Relationship Id="rId4" Type="http://schemas.openxmlformats.org/officeDocument/2006/relationships/image" Target="../media/image118.png"/><Relationship Id="rId3" Type="http://schemas.openxmlformats.org/officeDocument/2006/relationships/image" Target="../media/image117.png"/><Relationship Id="rId2" Type="http://schemas.openxmlformats.org/officeDocument/2006/relationships/image" Target="../media/image116.png"/><Relationship Id="rId17" Type="http://schemas.openxmlformats.org/officeDocument/2006/relationships/slideLayout" Target="../slideLayouts/slideLayout7.xml"/><Relationship Id="rId16" Type="http://schemas.openxmlformats.org/officeDocument/2006/relationships/image" Target="../media/image130.png"/><Relationship Id="rId15" Type="http://schemas.openxmlformats.org/officeDocument/2006/relationships/image" Target="../media/image129.png"/><Relationship Id="rId14" Type="http://schemas.openxmlformats.org/officeDocument/2006/relationships/image" Target="../media/image128.png"/><Relationship Id="rId13" Type="http://schemas.openxmlformats.org/officeDocument/2006/relationships/image" Target="../media/image127.png"/><Relationship Id="rId12" Type="http://schemas.openxmlformats.org/officeDocument/2006/relationships/image" Target="../media/image126.png"/><Relationship Id="rId11" Type="http://schemas.openxmlformats.org/officeDocument/2006/relationships/image" Target="../media/image125.png"/><Relationship Id="rId10" Type="http://schemas.openxmlformats.org/officeDocument/2006/relationships/image" Target="../media/image124.png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8.png"/><Relationship Id="rId8" Type="http://schemas.openxmlformats.org/officeDocument/2006/relationships/image" Target="../media/image137.png"/><Relationship Id="rId7" Type="http://schemas.openxmlformats.org/officeDocument/2006/relationships/image" Target="../media/image136.png"/><Relationship Id="rId6" Type="http://schemas.openxmlformats.org/officeDocument/2006/relationships/image" Target="../media/image135.png"/><Relationship Id="rId5" Type="http://schemas.openxmlformats.org/officeDocument/2006/relationships/image" Target="../media/image134.png"/><Relationship Id="rId4" Type="http://schemas.openxmlformats.org/officeDocument/2006/relationships/image" Target="../media/image133.png"/><Relationship Id="rId33" Type="http://schemas.openxmlformats.org/officeDocument/2006/relationships/slideLayout" Target="../slideLayouts/slideLayout7.xml"/><Relationship Id="rId32" Type="http://schemas.openxmlformats.org/officeDocument/2006/relationships/image" Target="../media/image161.png"/><Relationship Id="rId31" Type="http://schemas.openxmlformats.org/officeDocument/2006/relationships/image" Target="../media/image160.png"/><Relationship Id="rId30" Type="http://schemas.openxmlformats.org/officeDocument/2006/relationships/image" Target="../media/image159.png"/><Relationship Id="rId3" Type="http://schemas.openxmlformats.org/officeDocument/2006/relationships/image" Target="../media/image132.png"/><Relationship Id="rId29" Type="http://schemas.openxmlformats.org/officeDocument/2006/relationships/image" Target="../media/image158.png"/><Relationship Id="rId28" Type="http://schemas.openxmlformats.org/officeDocument/2006/relationships/image" Target="../media/image157.png"/><Relationship Id="rId27" Type="http://schemas.openxmlformats.org/officeDocument/2006/relationships/image" Target="../media/image156.png"/><Relationship Id="rId26" Type="http://schemas.openxmlformats.org/officeDocument/2006/relationships/image" Target="../media/image155.png"/><Relationship Id="rId25" Type="http://schemas.openxmlformats.org/officeDocument/2006/relationships/image" Target="../media/image154.png"/><Relationship Id="rId24" Type="http://schemas.openxmlformats.org/officeDocument/2006/relationships/image" Target="../media/image153.png"/><Relationship Id="rId23" Type="http://schemas.openxmlformats.org/officeDocument/2006/relationships/image" Target="../media/image152.png"/><Relationship Id="rId22" Type="http://schemas.openxmlformats.org/officeDocument/2006/relationships/image" Target="../media/image151.png"/><Relationship Id="rId21" Type="http://schemas.openxmlformats.org/officeDocument/2006/relationships/image" Target="../media/image150.png"/><Relationship Id="rId20" Type="http://schemas.openxmlformats.org/officeDocument/2006/relationships/image" Target="../media/image149.png"/><Relationship Id="rId2" Type="http://schemas.openxmlformats.org/officeDocument/2006/relationships/image" Target="../media/image131.png"/><Relationship Id="rId19" Type="http://schemas.openxmlformats.org/officeDocument/2006/relationships/image" Target="../media/image148.png"/><Relationship Id="rId18" Type="http://schemas.openxmlformats.org/officeDocument/2006/relationships/image" Target="../media/image147.png"/><Relationship Id="rId17" Type="http://schemas.openxmlformats.org/officeDocument/2006/relationships/image" Target="../media/image146.png"/><Relationship Id="rId16" Type="http://schemas.openxmlformats.org/officeDocument/2006/relationships/image" Target="../media/image145.png"/><Relationship Id="rId15" Type="http://schemas.openxmlformats.org/officeDocument/2006/relationships/image" Target="../media/image144.png"/><Relationship Id="rId14" Type="http://schemas.openxmlformats.org/officeDocument/2006/relationships/image" Target="../media/image143.png"/><Relationship Id="rId13" Type="http://schemas.openxmlformats.org/officeDocument/2006/relationships/image" Target="../media/image142.png"/><Relationship Id="rId12" Type="http://schemas.openxmlformats.org/officeDocument/2006/relationships/image" Target="../media/image141.png"/><Relationship Id="rId11" Type="http://schemas.openxmlformats.org/officeDocument/2006/relationships/image" Target="../media/image140.png"/><Relationship Id="rId10" Type="http://schemas.openxmlformats.org/officeDocument/2006/relationships/image" Target="../media/image139.png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69.png"/><Relationship Id="rId8" Type="http://schemas.openxmlformats.org/officeDocument/2006/relationships/image" Target="../media/image168.png"/><Relationship Id="rId7" Type="http://schemas.openxmlformats.org/officeDocument/2006/relationships/image" Target="../media/image167.png"/><Relationship Id="rId6" Type="http://schemas.openxmlformats.org/officeDocument/2006/relationships/image" Target="../media/image166.png"/><Relationship Id="rId5" Type="http://schemas.openxmlformats.org/officeDocument/2006/relationships/image" Target="../media/image165.png"/><Relationship Id="rId4" Type="http://schemas.openxmlformats.org/officeDocument/2006/relationships/image" Target="../media/image164.png"/><Relationship Id="rId3" Type="http://schemas.openxmlformats.org/officeDocument/2006/relationships/image" Target="../media/image163.png"/><Relationship Id="rId2" Type="http://schemas.openxmlformats.org/officeDocument/2006/relationships/image" Target="../media/image162.png"/><Relationship Id="rId14" Type="http://schemas.openxmlformats.org/officeDocument/2006/relationships/slideLayout" Target="../slideLayouts/slideLayout7.xml"/><Relationship Id="rId13" Type="http://schemas.openxmlformats.org/officeDocument/2006/relationships/image" Target="../media/image173.png"/><Relationship Id="rId12" Type="http://schemas.openxmlformats.org/officeDocument/2006/relationships/image" Target="../media/image172.png"/><Relationship Id="rId11" Type="http://schemas.openxmlformats.org/officeDocument/2006/relationships/image" Target="../media/image171.png"/><Relationship Id="rId10" Type="http://schemas.openxmlformats.org/officeDocument/2006/relationships/image" Target="../media/image170.png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81.png"/><Relationship Id="rId8" Type="http://schemas.openxmlformats.org/officeDocument/2006/relationships/image" Target="../media/image180.png"/><Relationship Id="rId7" Type="http://schemas.openxmlformats.org/officeDocument/2006/relationships/image" Target="../media/image179.png"/><Relationship Id="rId6" Type="http://schemas.openxmlformats.org/officeDocument/2006/relationships/image" Target="../media/image178.png"/><Relationship Id="rId5" Type="http://schemas.openxmlformats.org/officeDocument/2006/relationships/image" Target="../media/image177.png"/><Relationship Id="rId4" Type="http://schemas.openxmlformats.org/officeDocument/2006/relationships/image" Target="../media/image176.png"/><Relationship Id="rId3" Type="http://schemas.openxmlformats.org/officeDocument/2006/relationships/image" Target="../media/image175.png"/><Relationship Id="rId21" Type="http://schemas.openxmlformats.org/officeDocument/2006/relationships/slideLayout" Target="../slideLayouts/slideLayout7.xml"/><Relationship Id="rId20" Type="http://schemas.openxmlformats.org/officeDocument/2006/relationships/image" Target="../media/image192.png"/><Relationship Id="rId2" Type="http://schemas.openxmlformats.org/officeDocument/2006/relationships/image" Target="../media/image174.png"/><Relationship Id="rId19" Type="http://schemas.openxmlformats.org/officeDocument/2006/relationships/image" Target="../media/image191.png"/><Relationship Id="rId18" Type="http://schemas.openxmlformats.org/officeDocument/2006/relationships/image" Target="../media/image190.png"/><Relationship Id="rId17" Type="http://schemas.openxmlformats.org/officeDocument/2006/relationships/image" Target="../media/image189.png"/><Relationship Id="rId16" Type="http://schemas.openxmlformats.org/officeDocument/2006/relationships/image" Target="../media/image188.png"/><Relationship Id="rId15" Type="http://schemas.openxmlformats.org/officeDocument/2006/relationships/image" Target="../media/image187.png"/><Relationship Id="rId14" Type="http://schemas.openxmlformats.org/officeDocument/2006/relationships/image" Target="../media/image186.png"/><Relationship Id="rId13" Type="http://schemas.openxmlformats.org/officeDocument/2006/relationships/image" Target="../media/image185.png"/><Relationship Id="rId12" Type="http://schemas.openxmlformats.org/officeDocument/2006/relationships/image" Target="../media/image184.png"/><Relationship Id="rId11" Type="http://schemas.openxmlformats.org/officeDocument/2006/relationships/image" Target="../media/image183.png"/><Relationship Id="rId10" Type="http://schemas.openxmlformats.org/officeDocument/2006/relationships/image" Target="../media/image182.png"/><Relationship Id="rId1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00.png"/><Relationship Id="rId8" Type="http://schemas.openxmlformats.org/officeDocument/2006/relationships/image" Target="../media/image199.png"/><Relationship Id="rId7" Type="http://schemas.openxmlformats.org/officeDocument/2006/relationships/image" Target="../media/image198.png"/><Relationship Id="rId6" Type="http://schemas.openxmlformats.org/officeDocument/2006/relationships/image" Target="../media/image197.png"/><Relationship Id="rId5" Type="http://schemas.openxmlformats.org/officeDocument/2006/relationships/image" Target="../media/image196.png"/><Relationship Id="rId4" Type="http://schemas.openxmlformats.org/officeDocument/2006/relationships/image" Target="../media/image195.png"/><Relationship Id="rId39" Type="http://schemas.openxmlformats.org/officeDocument/2006/relationships/slideLayout" Target="../slideLayouts/slideLayout7.xml"/><Relationship Id="rId38" Type="http://schemas.openxmlformats.org/officeDocument/2006/relationships/image" Target="../media/image229.png"/><Relationship Id="rId37" Type="http://schemas.openxmlformats.org/officeDocument/2006/relationships/image" Target="../media/image228.png"/><Relationship Id="rId36" Type="http://schemas.openxmlformats.org/officeDocument/2006/relationships/image" Target="../media/image227.png"/><Relationship Id="rId35" Type="http://schemas.openxmlformats.org/officeDocument/2006/relationships/image" Target="../media/image226.png"/><Relationship Id="rId34" Type="http://schemas.openxmlformats.org/officeDocument/2006/relationships/image" Target="../media/image225.png"/><Relationship Id="rId33" Type="http://schemas.openxmlformats.org/officeDocument/2006/relationships/image" Target="../media/image224.png"/><Relationship Id="rId32" Type="http://schemas.openxmlformats.org/officeDocument/2006/relationships/image" Target="../media/image223.png"/><Relationship Id="rId31" Type="http://schemas.openxmlformats.org/officeDocument/2006/relationships/image" Target="../media/image222.png"/><Relationship Id="rId30" Type="http://schemas.openxmlformats.org/officeDocument/2006/relationships/image" Target="../media/image221.png"/><Relationship Id="rId3" Type="http://schemas.openxmlformats.org/officeDocument/2006/relationships/image" Target="../media/image194.png"/><Relationship Id="rId29" Type="http://schemas.openxmlformats.org/officeDocument/2006/relationships/image" Target="../media/image220.png"/><Relationship Id="rId28" Type="http://schemas.openxmlformats.org/officeDocument/2006/relationships/image" Target="../media/image219.png"/><Relationship Id="rId27" Type="http://schemas.openxmlformats.org/officeDocument/2006/relationships/image" Target="../media/image218.png"/><Relationship Id="rId26" Type="http://schemas.openxmlformats.org/officeDocument/2006/relationships/image" Target="../media/image217.png"/><Relationship Id="rId25" Type="http://schemas.openxmlformats.org/officeDocument/2006/relationships/image" Target="../media/image216.png"/><Relationship Id="rId24" Type="http://schemas.openxmlformats.org/officeDocument/2006/relationships/image" Target="../media/image215.png"/><Relationship Id="rId23" Type="http://schemas.openxmlformats.org/officeDocument/2006/relationships/image" Target="../media/image214.png"/><Relationship Id="rId22" Type="http://schemas.openxmlformats.org/officeDocument/2006/relationships/image" Target="../media/image213.png"/><Relationship Id="rId21" Type="http://schemas.openxmlformats.org/officeDocument/2006/relationships/image" Target="../media/image212.png"/><Relationship Id="rId20" Type="http://schemas.openxmlformats.org/officeDocument/2006/relationships/image" Target="../media/image211.png"/><Relationship Id="rId2" Type="http://schemas.openxmlformats.org/officeDocument/2006/relationships/image" Target="../media/image193.png"/><Relationship Id="rId19" Type="http://schemas.openxmlformats.org/officeDocument/2006/relationships/image" Target="../media/image210.png"/><Relationship Id="rId18" Type="http://schemas.openxmlformats.org/officeDocument/2006/relationships/image" Target="../media/image209.png"/><Relationship Id="rId17" Type="http://schemas.openxmlformats.org/officeDocument/2006/relationships/image" Target="../media/image208.png"/><Relationship Id="rId16" Type="http://schemas.openxmlformats.org/officeDocument/2006/relationships/image" Target="../media/image207.png"/><Relationship Id="rId15" Type="http://schemas.openxmlformats.org/officeDocument/2006/relationships/image" Target="../media/image206.png"/><Relationship Id="rId14" Type="http://schemas.openxmlformats.org/officeDocument/2006/relationships/image" Target="../media/image205.png"/><Relationship Id="rId13" Type="http://schemas.openxmlformats.org/officeDocument/2006/relationships/image" Target="../media/image204.png"/><Relationship Id="rId12" Type="http://schemas.openxmlformats.org/officeDocument/2006/relationships/image" Target="../media/image203.png"/><Relationship Id="rId11" Type="http://schemas.openxmlformats.org/officeDocument/2006/relationships/image" Target="../media/image202.png"/><Relationship Id="rId10" Type="http://schemas.openxmlformats.org/officeDocument/2006/relationships/image" Target="../media/image201.png"/><Relationship Id="rId1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237.png"/><Relationship Id="rId8" Type="http://schemas.openxmlformats.org/officeDocument/2006/relationships/image" Target="../media/image236.png"/><Relationship Id="rId7" Type="http://schemas.openxmlformats.org/officeDocument/2006/relationships/image" Target="../media/image235.png"/><Relationship Id="rId6" Type="http://schemas.openxmlformats.org/officeDocument/2006/relationships/image" Target="../media/image234.png"/><Relationship Id="rId5" Type="http://schemas.openxmlformats.org/officeDocument/2006/relationships/image" Target="../media/image233.png"/><Relationship Id="rId4" Type="http://schemas.openxmlformats.org/officeDocument/2006/relationships/image" Target="../media/image232.png"/><Relationship Id="rId3" Type="http://schemas.openxmlformats.org/officeDocument/2006/relationships/image" Target="../media/image231.png"/><Relationship Id="rId21" Type="http://schemas.openxmlformats.org/officeDocument/2006/relationships/slideLayout" Target="../slideLayouts/slideLayout7.xml"/><Relationship Id="rId20" Type="http://schemas.openxmlformats.org/officeDocument/2006/relationships/image" Target="../media/image248.png"/><Relationship Id="rId2" Type="http://schemas.openxmlformats.org/officeDocument/2006/relationships/image" Target="../media/image230.png"/><Relationship Id="rId19" Type="http://schemas.openxmlformats.org/officeDocument/2006/relationships/image" Target="../media/image247.png"/><Relationship Id="rId18" Type="http://schemas.openxmlformats.org/officeDocument/2006/relationships/image" Target="../media/image246.png"/><Relationship Id="rId17" Type="http://schemas.openxmlformats.org/officeDocument/2006/relationships/image" Target="../media/image245.png"/><Relationship Id="rId16" Type="http://schemas.openxmlformats.org/officeDocument/2006/relationships/image" Target="../media/image244.png"/><Relationship Id="rId15" Type="http://schemas.openxmlformats.org/officeDocument/2006/relationships/image" Target="../media/image243.png"/><Relationship Id="rId14" Type="http://schemas.openxmlformats.org/officeDocument/2006/relationships/image" Target="../media/image242.png"/><Relationship Id="rId13" Type="http://schemas.openxmlformats.org/officeDocument/2006/relationships/image" Target="../media/image241.png"/><Relationship Id="rId12" Type="http://schemas.openxmlformats.org/officeDocument/2006/relationships/image" Target="../media/image240.png"/><Relationship Id="rId11" Type="http://schemas.openxmlformats.org/officeDocument/2006/relationships/image" Target="../media/image239.png"/><Relationship Id="rId10" Type="http://schemas.openxmlformats.org/officeDocument/2006/relationships/image" Target="../media/image238.png"/><Relationship Id="rId1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256.png"/><Relationship Id="rId8" Type="http://schemas.openxmlformats.org/officeDocument/2006/relationships/image" Target="../media/image255.png"/><Relationship Id="rId7" Type="http://schemas.openxmlformats.org/officeDocument/2006/relationships/image" Target="../media/image254.png"/><Relationship Id="rId6" Type="http://schemas.openxmlformats.org/officeDocument/2006/relationships/image" Target="../media/image253.png"/><Relationship Id="rId5" Type="http://schemas.openxmlformats.org/officeDocument/2006/relationships/image" Target="../media/image252.png"/><Relationship Id="rId4" Type="http://schemas.openxmlformats.org/officeDocument/2006/relationships/image" Target="../media/image251.png"/><Relationship Id="rId31" Type="http://schemas.openxmlformats.org/officeDocument/2006/relationships/slideLayout" Target="../slideLayouts/slideLayout7.xml"/><Relationship Id="rId30" Type="http://schemas.openxmlformats.org/officeDocument/2006/relationships/image" Target="../media/image277.png"/><Relationship Id="rId3" Type="http://schemas.openxmlformats.org/officeDocument/2006/relationships/image" Target="../media/image250.png"/><Relationship Id="rId29" Type="http://schemas.openxmlformats.org/officeDocument/2006/relationships/image" Target="../media/image276.png"/><Relationship Id="rId28" Type="http://schemas.openxmlformats.org/officeDocument/2006/relationships/image" Target="../media/image275.png"/><Relationship Id="rId27" Type="http://schemas.openxmlformats.org/officeDocument/2006/relationships/image" Target="../media/image274.png"/><Relationship Id="rId26" Type="http://schemas.openxmlformats.org/officeDocument/2006/relationships/image" Target="../media/image273.png"/><Relationship Id="rId25" Type="http://schemas.openxmlformats.org/officeDocument/2006/relationships/image" Target="../media/image272.png"/><Relationship Id="rId24" Type="http://schemas.openxmlformats.org/officeDocument/2006/relationships/image" Target="../media/image271.png"/><Relationship Id="rId23" Type="http://schemas.openxmlformats.org/officeDocument/2006/relationships/image" Target="../media/image270.png"/><Relationship Id="rId22" Type="http://schemas.openxmlformats.org/officeDocument/2006/relationships/image" Target="../media/image269.png"/><Relationship Id="rId21" Type="http://schemas.openxmlformats.org/officeDocument/2006/relationships/image" Target="../media/image268.png"/><Relationship Id="rId20" Type="http://schemas.openxmlformats.org/officeDocument/2006/relationships/image" Target="../media/image267.png"/><Relationship Id="rId2" Type="http://schemas.openxmlformats.org/officeDocument/2006/relationships/image" Target="../media/image249.png"/><Relationship Id="rId19" Type="http://schemas.openxmlformats.org/officeDocument/2006/relationships/image" Target="../media/image266.png"/><Relationship Id="rId18" Type="http://schemas.openxmlformats.org/officeDocument/2006/relationships/image" Target="../media/image265.png"/><Relationship Id="rId17" Type="http://schemas.openxmlformats.org/officeDocument/2006/relationships/image" Target="../media/image264.png"/><Relationship Id="rId16" Type="http://schemas.openxmlformats.org/officeDocument/2006/relationships/image" Target="../media/image263.png"/><Relationship Id="rId15" Type="http://schemas.openxmlformats.org/officeDocument/2006/relationships/image" Target="../media/image262.png"/><Relationship Id="rId14" Type="http://schemas.openxmlformats.org/officeDocument/2006/relationships/image" Target="../media/image261.png"/><Relationship Id="rId13" Type="http://schemas.openxmlformats.org/officeDocument/2006/relationships/image" Target="../media/image260.png"/><Relationship Id="rId12" Type="http://schemas.openxmlformats.org/officeDocument/2006/relationships/image" Target="../media/image259.png"/><Relationship Id="rId11" Type="http://schemas.openxmlformats.org/officeDocument/2006/relationships/image" Target="../media/image258.png"/><Relationship Id="rId10" Type="http://schemas.openxmlformats.org/officeDocument/2006/relationships/image" Target="../media/image257.png"/><Relationship Id="rId1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285.png"/><Relationship Id="rId8" Type="http://schemas.openxmlformats.org/officeDocument/2006/relationships/image" Target="../media/image284.png"/><Relationship Id="rId7" Type="http://schemas.openxmlformats.org/officeDocument/2006/relationships/image" Target="../media/image283.png"/><Relationship Id="rId6" Type="http://schemas.openxmlformats.org/officeDocument/2006/relationships/image" Target="../media/image282.png"/><Relationship Id="rId5" Type="http://schemas.openxmlformats.org/officeDocument/2006/relationships/image" Target="../media/image281.png"/><Relationship Id="rId4" Type="http://schemas.openxmlformats.org/officeDocument/2006/relationships/image" Target="../media/image280.png"/><Relationship Id="rId30" Type="http://schemas.openxmlformats.org/officeDocument/2006/relationships/slideLayout" Target="../slideLayouts/slideLayout7.xml"/><Relationship Id="rId3" Type="http://schemas.openxmlformats.org/officeDocument/2006/relationships/image" Target="../media/image279.png"/><Relationship Id="rId29" Type="http://schemas.openxmlformats.org/officeDocument/2006/relationships/image" Target="../media/image305.png"/><Relationship Id="rId28" Type="http://schemas.openxmlformats.org/officeDocument/2006/relationships/image" Target="../media/image304.png"/><Relationship Id="rId27" Type="http://schemas.openxmlformats.org/officeDocument/2006/relationships/image" Target="../media/image303.png"/><Relationship Id="rId26" Type="http://schemas.openxmlformats.org/officeDocument/2006/relationships/image" Target="../media/image302.png"/><Relationship Id="rId25" Type="http://schemas.openxmlformats.org/officeDocument/2006/relationships/image" Target="../media/image301.png"/><Relationship Id="rId24" Type="http://schemas.openxmlformats.org/officeDocument/2006/relationships/image" Target="../media/image300.png"/><Relationship Id="rId23" Type="http://schemas.openxmlformats.org/officeDocument/2006/relationships/image" Target="../media/image299.png"/><Relationship Id="rId22" Type="http://schemas.openxmlformats.org/officeDocument/2006/relationships/image" Target="../media/image298.png"/><Relationship Id="rId21" Type="http://schemas.openxmlformats.org/officeDocument/2006/relationships/image" Target="../media/image297.png"/><Relationship Id="rId20" Type="http://schemas.openxmlformats.org/officeDocument/2006/relationships/image" Target="../media/image296.png"/><Relationship Id="rId2" Type="http://schemas.openxmlformats.org/officeDocument/2006/relationships/image" Target="../media/image278.png"/><Relationship Id="rId19" Type="http://schemas.openxmlformats.org/officeDocument/2006/relationships/image" Target="../media/image295.png"/><Relationship Id="rId18" Type="http://schemas.openxmlformats.org/officeDocument/2006/relationships/image" Target="../media/image294.png"/><Relationship Id="rId17" Type="http://schemas.openxmlformats.org/officeDocument/2006/relationships/image" Target="../media/image293.png"/><Relationship Id="rId16" Type="http://schemas.openxmlformats.org/officeDocument/2006/relationships/image" Target="../media/image292.png"/><Relationship Id="rId15" Type="http://schemas.openxmlformats.org/officeDocument/2006/relationships/image" Target="../media/image291.png"/><Relationship Id="rId14" Type="http://schemas.openxmlformats.org/officeDocument/2006/relationships/image" Target="../media/image290.png"/><Relationship Id="rId13" Type="http://schemas.openxmlformats.org/officeDocument/2006/relationships/image" Target="../media/image289.png"/><Relationship Id="rId12" Type="http://schemas.openxmlformats.org/officeDocument/2006/relationships/image" Target="../media/image288.png"/><Relationship Id="rId11" Type="http://schemas.openxmlformats.org/officeDocument/2006/relationships/image" Target="../media/image287.png"/><Relationship Id="rId10" Type="http://schemas.openxmlformats.org/officeDocument/2006/relationships/image" Target="../media/image286.png"/><Relationship Id="rId1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0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共享背景：原图茶园风景（无内容组件）" descr="landscape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5925800" cy="8963025"/>
          </a:xfrm>
          <a:prstGeom prst="rect">
            <a:avLst/>
          </a:prstGeom>
        </p:spPr>
      </p:pic>
      <p:sp>
        <p:nvSpPr>
          <p:cNvPr id="3" name="可编辑框架"/>
          <p:cNvSpPr/>
          <p:nvPr/>
        </p:nvSpPr>
        <p:spPr>
          <a:xfrm>
            <a:off x="0" y="0"/>
            <a:ext cx="15925800" cy="723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：青韵智控"/>
          <p:cNvSpPr txBox="1"/>
          <p:nvPr/>
        </p:nvSpPr>
        <p:spPr>
          <a:xfrm>
            <a:off x="361950" y="190500"/>
            <a:ext cx="13335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73F32"/>
                </a:solidFill>
                <a:latin typeface="微软雅黑" panose="020B0503020204020204" charset="-122"/>
                <a:ea typeface="微软雅黑" panose="020B0503020204020204" charset="-122"/>
              </a:rPr>
              <a:t>青韵智控</a:t>
            </a:r>
            <a:endParaRPr sz="2400" b="1">
              <a:solidFill>
                <a:srgbClr val="073F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1819275" y="257175"/>
            <a:ext cx="0" cy="2762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字：让传统制茶更可控"/>
          <p:cNvSpPr txBox="1"/>
          <p:nvPr/>
        </p:nvSpPr>
        <p:spPr>
          <a:xfrm>
            <a:off x="2076450" y="238125"/>
            <a:ext cx="2190750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让传统制茶更可控</a:t>
            </a:r>
            <a:endParaRPr sz="18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文字：项目背景"/>
          <p:cNvSpPr txBox="1"/>
          <p:nvPr/>
        </p:nvSpPr>
        <p:spPr>
          <a:xfrm>
            <a:off x="8515350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项目背景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9486900" y="323850"/>
            <a:ext cx="0" cy="1619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字：项目概述"/>
          <p:cNvSpPr txBox="1"/>
          <p:nvPr/>
        </p:nvSpPr>
        <p:spPr>
          <a:xfrm>
            <a:off x="9648825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项目概述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10620375" y="323850"/>
            <a:ext cx="0" cy="1619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字：关键技术"/>
          <p:cNvSpPr txBox="1"/>
          <p:nvPr/>
        </p:nvSpPr>
        <p:spPr>
          <a:xfrm>
            <a:off x="10782300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关键技术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11753850" y="323850"/>
            <a:ext cx="0" cy="1619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字：实施与验证"/>
          <p:cNvSpPr txBox="1"/>
          <p:nvPr/>
        </p:nvSpPr>
        <p:spPr>
          <a:xfrm>
            <a:off x="11915775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实施与验证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4" name="Connector 13"/>
          <p:cNvCxnSpPr/>
          <p:nvPr/>
        </p:nvCxnSpPr>
        <p:spPr>
          <a:xfrm>
            <a:off x="12887325" y="323850"/>
            <a:ext cx="0" cy="1619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字：商业模式"/>
          <p:cNvSpPr txBox="1"/>
          <p:nvPr/>
        </p:nvSpPr>
        <p:spPr>
          <a:xfrm>
            <a:off x="13049250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商业模式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14020800" y="323850"/>
            <a:ext cx="0" cy="1619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字：未来展望"/>
          <p:cNvSpPr txBox="1"/>
          <p:nvPr/>
        </p:nvSpPr>
        <p:spPr>
          <a:xfrm>
            <a:off x="14182725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未来展望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8" name="文字：01"/>
          <p:cNvSpPr txBox="1"/>
          <p:nvPr/>
        </p:nvSpPr>
        <p:spPr>
          <a:xfrm>
            <a:off x="15163800" y="257175"/>
            <a:ext cx="428625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950" b="0">
                <a:solidFill>
                  <a:srgbClr val="073F32"/>
                </a:solidFill>
                <a:latin typeface="Times New Roman" panose="02020603050405020304"/>
                <a:ea typeface="Times New Roman" panose="02020603050405020304"/>
              </a:rPr>
              <a:t>01</a:t>
            </a:r>
            <a:endParaRPr sz="1950" b="0">
              <a:solidFill>
                <a:srgbClr val="073F32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0" y="723900"/>
            <a:ext cx="15725775" cy="0"/>
          </a:xfrm>
          <a:prstGeom prst="line">
            <a:avLst/>
          </a:prstGeom>
          <a:ln w="9525">
            <a:solidFill>
              <a:srgbClr val="C7D8D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字：青韵智控"/>
          <p:cNvSpPr txBox="1"/>
          <p:nvPr/>
        </p:nvSpPr>
        <p:spPr>
          <a:xfrm>
            <a:off x="762000" y="1819275"/>
            <a:ext cx="6038850" cy="1695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1675"/>
              </a:lnSpc>
              <a:spcBef>
                <a:spcPts val="0"/>
              </a:spcBef>
              <a:spcAft>
                <a:spcPts val="0"/>
              </a:spcAft>
            </a:pPr>
            <a:r>
              <a:rPr sz="11675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青韵智控</a:t>
            </a:r>
            <a:endParaRPr sz="11675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1" name="文字：一片好茶，"/>
          <p:cNvSpPr txBox="1"/>
          <p:nvPr/>
        </p:nvSpPr>
        <p:spPr>
          <a:xfrm rot="20820000">
            <a:off x="12001500" y="2438400"/>
            <a:ext cx="1924050" cy="942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895"/>
              </a:lnSpc>
              <a:spcBef>
                <a:spcPts val="0"/>
              </a:spcBef>
              <a:spcAft>
                <a:spcPts val="0"/>
              </a:spcAft>
            </a:pPr>
            <a:r>
              <a:rPr sz="2895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一片好茶，</a:t>
            </a:r>
            <a:endParaRPr sz="2895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2" name="文字：源于更可控的做青"/>
          <p:cNvSpPr txBox="1"/>
          <p:nvPr/>
        </p:nvSpPr>
        <p:spPr>
          <a:xfrm rot="20820000">
            <a:off x="12449175" y="2667000"/>
            <a:ext cx="2952750" cy="1200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820"/>
              </a:lnSpc>
              <a:spcBef>
                <a:spcPts val="0"/>
              </a:spcBef>
              <a:spcAft>
                <a:spcPts val="0"/>
              </a:spcAft>
            </a:pPr>
            <a:r>
              <a:rPr sz="282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源于更可控的做青</a:t>
            </a:r>
            <a:endParaRPr sz="282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3" name="文字：凤凰单丛做青多模态感知与自适应控制系统"/>
          <p:cNvSpPr txBox="1"/>
          <p:nvPr/>
        </p:nvSpPr>
        <p:spPr>
          <a:xfrm>
            <a:off x="971550" y="3533775"/>
            <a:ext cx="10153650" cy="552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3575"/>
              </a:lnSpc>
              <a:spcBef>
                <a:spcPts val="0"/>
              </a:spcBef>
              <a:spcAft>
                <a:spcPts val="0"/>
              </a:spcAft>
            </a:pPr>
            <a:r>
              <a:rPr sz="3575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凤凰单丛做青多模态感知与自适应控制系统</a:t>
            </a:r>
            <a:endParaRPr sz="3575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4" name="文字：以数字科技重塑传统制茶工艺"/>
          <p:cNvSpPr txBox="1"/>
          <p:nvPr/>
        </p:nvSpPr>
        <p:spPr>
          <a:xfrm>
            <a:off x="1000125" y="4752975"/>
            <a:ext cx="5419725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360"/>
              </a:lnSpc>
              <a:spcBef>
                <a:spcPts val="0"/>
              </a:spcBef>
              <a:spcAft>
                <a:spcPts val="0"/>
              </a:spcAft>
            </a:pPr>
            <a:r>
              <a:rPr sz="236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以数字科技重塑传统制茶工艺</a:t>
            </a:r>
            <a:endParaRPr sz="236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5" name="文字：让做青从“按时间执行”走向“按状态决策”"/>
          <p:cNvSpPr txBox="1"/>
          <p:nvPr/>
        </p:nvSpPr>
        <p:spPr>
          <a:xfrm>
            <a:off x="962025" y="5314950"/>
            <a:ext cx="5524500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75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让做青从“按时间执行”走向“按状态决策”</a:t>
            </a:r>
            <a:endParaRPr sz="175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6" name="文字：申报单位：广东工业大学"/>
          <p:cNvSpPr txBox="1"/>
          <p:nvPr/>
        </p:nvSpPr>
        <p:spPr>
          <a:xfrm>
            <a:off x="962025" y="6267450"/>
            <a:ext cx="2343150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15"/>
              </a:lnSpc>
              <a:spcBef>
                <a:spcPts val="0"/>
              </a:spcBef>
              <a:spcAft>
                <a:spcPts val="0"/>
              </a:spcAft>
            </a:pPr>
            <a:r>
              <a:rPr sz="141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申报单位：广东工业大学</a:t>
            </a:r>
            <a:endParaRPr sz="141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7" name="文字：项目类别：科技发明制作"/>
          <p:cNvSpPr txBox="1"/>
          <p:nvPr/>
        </p:nvSpPr>
        <p:spPr>
          <a:xfrm>
            <a:off x="962025" y="6591300"/>
            <a:ext cx="2352675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项目类别：科技发明制作</a:t>
            </a:r>
            <a:endParaRPr sz="13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8" name="文字：项目负责人：待填写"/>
          <p:cNvSpPr txBox="1"/>
          <p:nvPr/>
        </p:nvSpPr>
        <p:spPr>
          <a:xfrm>
            <a:off x="962025" y="6905625"/>
            <a:ext cx="1933575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15"/>
              </a:lnSpc>
              <a:spcBef>
                <a:spcPts val="0"/>
              </a:spcBef>
              <a:spcAft>
                <a:spcPts val="0"/>
              </a:spcAft>
            </a:pPr>
            <a:r>
              <a:rPr sz="141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项目负责人：待填写</a:t>
            </a:r>
            <a:endParaRPr sz="141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9" name="文字：中国茶·产业智造·中国未来"/>
          <p:cNvSpPr txBox="1"/>
          <p:nvPr/>
        </p:nvSpPr>
        <p:spPr>
          <a:xfrm>
            <a:off x="1152525" y="8305800"/>
            <a:ext cx="3295650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85"/>
              </a:lnSpc>
              <a:spcBef>
                <a:spcPts val="0"/>
              </a:spcBef>
              <a:spcAft>
                <a:spcPts val="0"/>
              </a:spcAft>
            </a:pPr>
            <a:r>
              <a:rPr sz="148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中国茶·产业智造·中国未来</a:t>
            </a:r>
            <a:endParaRPr sz="148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共享背景：原图茶园风景（无内容组件）" descr="landscape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5925800" cy="8963025"/>
          </a:xfrm>
          <a:prstGeom prst="rect">
            <a:avLst/>
          </a:prstGeom>
        </p:spPr>
      </p:pic>
      <p:sp>
        <p:nvSpPr>
          <p:cNvPr id="3" name="可编辑框架"/>
          <p:cNvSpPr/>
          <p:nvPr/>
        </p:nvSpPr>
        <p:spPr>
          <a:xfrm>
            <a:off x="0" y="0"/>
            <a:ext cx="15925800" cy="723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：青韵智控"/>
          <p:cNvSpPr txBox="1"/>
          <p:nvPr/>
        </p:nvSpPr>
        <p:spPr>
          <a:xfrm>
            <a:off x="361950" y="190500"/>
            <a:ext cx="13335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73F32"/>
                </a:solidFill>
                <a:latin typeface="微软雅黑" panose="020B0503020204020204" charset="-122"/>
                <a:ea typeface="微软雅黑" panose="020B0503020204020204" charset="-122"/>
              </a:rPr>
              <a:t>青韵智控</a:t>
            </a:r>
            <a:endParaRPr sz="2400" b="1">
              <a:solidFill>
                <a:srgbClr val="073F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1819275" y="257175"/>
            <a:ext cx="0" cy="2762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字：让传统制茶更可控"/>
          <p:cNvSpPr txBox="1"/>
          <p:nvPr/>
        </p:nvSpPr>
        <p:spPr>
          <a:xfrm>
            <a:off x="2076450" y="238125"/>
            <a:ext cx="2190750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让传统制茶更可控</a:t>
            </a:r>
            <a:endParaRPr sz="18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文字：项目背景"/>
          <p:cNvSpPr txBox="1"/>
          <p:nvPr/>
        </p:nvSpPr>
        <p:spPr>
          <a:xfrm>
            <a:off x="8515350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项目背景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9486900" y="323850"/>
            <a:ext cx="0" cy="1619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字：项目概述"/>
          <p:cNvSpPr txBox="1"/>
          <p:nvPr/>
        </p:nvSpPr>
        <p:spPr>
          <a:xfrm>
            <a:off x="9648825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项目概述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10620375" y="323850"/>
            <a:ext cx="0" cy="1619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字：关键技术"/>
          <p:cNvSpPr txBox="1"/>
          <p:nvPr/>
        </p:nvSpPr>
        <p:spPr>
          <a:xfrm>
            <a:off x="10782300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关键技术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11753850" y="323850"/>
            <a:ext cx="0" cy="1619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字：实施与验证"/>
          <p:cNvSpPr txBox="1"/>
          <p:nvPr/>
        </p:nvSpPr>
        <p:spPr>
          <a:xfrm>
            <a:off x="11915775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实施与验证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4" name="Connector 13"/>
          <p:cNvCxnSpPr/>
          <p:nvPr/>
        </p:nvCxnSpPr>
        <p:spPr>
          <a:xfrm>
            <a:off x="12887325" y="323850"/>
            <a:ext cx="0" cy="1619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字：商业模式"/>
          <p:cNvSpPr txBox="1"/>
          <p:nvPr/>
        </p:nvSpPr>
        <p:spPr>
          <a:xfrm>
            <a:off x="13049250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商业模式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14020800" y="323850"/>
            <a:ext cx="0" cy="1619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字：未来展望"/>
          <p:cNvSpPr txBox="1"/>
          <p:nvPr/>
        </p:nvSpPr>
        <p:spPr>
          <a:xfrm>
            <a:off x="14182725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未来展望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8" name="文字：02"/>
          <p:cNvSpPr txBox="1"/>
          <p:nvPr/>
        </p:nvSpPr>
        <p:spPr>
          <a:xfrm>
            <a:off x="15163800" y="257175"/>
            <a:ext cx="428625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950" b="0">
                <a:solidFill>
                  <a:srgbClr val="073F32"/>
                </a:solidFill>
                <a:latin typeface="Times New Roman" panose="02020603050405020304"/>
                <a:ea typeface="Times New Roman" panose="02020603050405020304"/>
              </a:rPr>
              <a:t>02</a:t>
            </a:r>
            <a:endParaRPr sz="1950" b="0">
              <a:solidFill>
                <a:srgbClr val="073F32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0" y="723900"/>
            <a:ext cx="15725775" cy="0"/>
          </a:xfrm>
          <a:prstGeom prst="line">
            <a:avLst/>
          </a:prstGeom>
          <a:ln w="9525">
            <a:solidFill>
              <a:srgbClr val="C7D8D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458395" y="2547110"/>
            <a:ext cx="4873128" cy="0"/>
          </a:xfrm>
          <a:prstGeom prst="line">
            <a:avLst/>
          </a:prstGeom>
          <a:ln w="19050">
            <a:solidFill>
              <a:srgbClr val="B4CFC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458395" y="3439911"/>
            <a:ext cx="4873128" cy="0"/>
          </a:xfrm>
          <a:prstGeom prst="line">
            <a:avLst/>
          </a:prstGeom>
          <a:ln w="19050">
            <a:solidFill>
              <a:srgbClr val="B4CFC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458395" y="3728758"/>
            <a:ext cx="4873128" cy="0"/>
          </a:xfrm>
          <a:prstGeom prst="line">
            <a:avLst/>
          </a:prstGeom>
          <a:ln w="19050">
            <a:solidFill>
              <a:srgbClr val="B4CFC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458395" y="4621560"/>
            <a:ext cx="4873128" cy="0"/>
          </a:xfrm>
          <a:prstGeom prst="line">
            <a:avLst/>
          </a:prstGeom>
          <a:ln w="19050">
            <a:solidFill>
              <a:srgbClr val="B4CFC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458395" y="4892901"/>
            <a:ext cx="4873128" cy="0"/>
          </a:xfrm>
          <a:prstGeom prst="line">
            <a:avLst/>
          </a:prstGeom>
          <a:ln w="19050">
            <a:solidFill>
              <a:srgbClr val="B4CFC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458395" y="5776950"/>
            <a:ext cx="4873128" cy="0"/>
          </a:xfrm>
          <a:prstGeom prst="line">
            <a:avLst/>
          </a:prstGeom>
          <a:ln w="19050">
            <a:solidFill>
              <a:srgbClr val="B4CFC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0212834" y="2547110"/>
            <a:ext cx="4873129" cy="0"/>
          </a:xfrm>
          <a:prstGeom prst="line">
            <a:avLst/>
          </a:prstGeom>
          <a:ln w="19050">
            <a:solidFill>
              <a:srgbClr val="B4CFC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0212834" y="3439911"/>
            <a:ext cx="4873129" cy="0"/>
          </a:xfrm>
          <a:prstGeom prst="line">
            <a:avLst/>
          </a:prstGeom>
          <a:ln w="19050">
            <a:solidFill>
              <a:srgbClr val="B4CFC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212834" y="3728758"/>
            <a:ext cx="4873129" cy="0"/>
          </a:xfrm>
          <a:prstGeom prst="line">
            <a:avLst/>
          </a:prstGeom>
          <a:ln w="19050">
            <a:solidFill>
              <a:srgbClr val="B4CFC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212834" y="4621560"/>
            <a:ext cx="4873129" cy="0"/>
          </a:xfrm>
          <a:prstGeom prst="line">
            <a:avLst/>
          </a:prstGeom>
          <a:ln w="19050">
            <a:solidFill>
              <a:srgbClr val="B4CFC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0212834" y="4892901"/>
            <a:ext cx="4873129" cy="0"/>
          </a:xfrm>
          <a:prstGeom prst="line">
            <a:avLst/>
          </a:prstGeom>
          <a:ln w="19050">
            <a:solidFill>
              <a:srgbClr val="B4CFC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0212834" y="5776950"/>
            <a:ext cx="4873129" cy="0"/>
          </a:xfrm>
          <a:prstGeom prst="line">
            <a:avLst/>
          </a:prstGeom>
          <a:ln w="19050">
            <a:solidFill>
              <a:srgbClr val="B4CFC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9549259" y="2485839"/>
            <a:ext cx="0" cy="3991347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5070128" y="2739675"/>
            <a:ext cx="238472" cy="551436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5070128" y="3903818"/>
            <a:ext cx="238472" cy="551436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5070128" y="5067960"/>
            <a:ext cx="238472" cy="551437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11000829" y="2739675"/>
            <a:ext cx="238473" cy="551436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11000829" y="3903818"/>
            <a:ext cx="238473" cy="551436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11000829" y="5067960"/>
            <a:ext cx="238473" cy="551437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文字：目录"/>
          <p:cNvSpPr txBox="1"/>
          <p:nvPr/>
        </p:nvSpPr>
        <p:spPr>
          <a:xfrm>
            <a:off x="435471" y="1714035"/>
            <a:ext cx="2820194" cy="13479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9065"/>
              </a:lnSpc>
              <a:spcBef>
                <a:spcPts val="0"/>
              </a:spcBef>
              <a:spcAft>
                <a:spcPts val="0"/>
              </a:spcAft>
            </a:pPr>
            <a:r>
              <a:rPr sz="9065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目录</a:t>
            </a:r>
            <a:endParaRPr sz="9065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1" name="文字：01"/>
          <p:cNvSpPr txBox="1"/>
          <p:nvPr/>
        </p:nvSpPr>
        <p:spPr>
          <a:xfrm>
            <a:off x="4022923" y="2694366"/>
            <a:ext cx="943521" cy="64771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4280"/>
              </a:lnSpc>
              <a:spcBef>
                <a:spcPts val="0"/>
              </a:spcBef>
              <a:spcAft>
                <a:spcPts val="0"/>
              </a:spcAft>
            </a:pPr>
            <a:r>
              <a:rPr sz="428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01</a:t>
            </a:r>
            <a:endParaRPr sz="428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2" name="文字：项目背景"/>
          <p:cNvSpPr txBox="1"/>
          <p:nvPr/>
        </p:nvSpPr>
        <p:spPr>
          <a:xfrm>
            <a:off x="5547072" y="2729378"/>
            <a:ext cx="1285677" cy="3238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98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项目背景</a:t>
            </a:r>
            <a:endParaRPr sz="198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3" name="文字：04"/>
          <p:cNvSpPr txBox="1"/>
          <p:nvPr/>
        </p:nvSpPr>
        <p:spPr>
          <a:xfrm>
            <a:off x="9912152" y="2703119"/>
            <a:ext cx="1005731" cy="6564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4340"/>
              </a:lnSpc>
              <a:spcBef>
                <a:spcPts val="0"/>
              </a:spcBef>
              <a:spcAft>
                <a:spcPts val="0"/>
              </a:spcAft>
            </a:pPr>
            <a:r>
              <a:rPr sz="434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04</a:t>
            </a:r>
            <a:endParaRPr sz="434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4" name="文字：实施与验证"/>
          <p:cNvSpPr txBox="1"/>
          <p:nvPr/>
        </p:nvSpPr>
        <p:spPr>
          <a:xfrm>
            <a:off x="11457037" y="2720625"/>
            <a:ext cx="1513780" cy="31510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89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实施与验证</a:t>
            </a:r>
            <a:endParaRPr sz="189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5" name="文字：CONTENTS"/>
          <p:cNvSpPr txBox="1"/>
          <p:nvPr/>
        </p:nvSpPr>
        <p:spPr>
          <a:xfrm>
            <a:off x="580628" y="3132013"/>
            <a:ext cx="2415828" cy="26258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CONTENTS</a:t>
            </a:r>
            <a:endParaRPr sz="15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6" name="文字：行业痛点与技术缺口"/>
          <p:cNvSpPr txBox="1"/>
          <p:nvPr/>
        </p:nvSpPr>
        <p:spPr>
          <a:xfrm>
            <a:off x="5547072" y="3105755"/>
            <a:ext cx="1700411" cy="236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185"/>
              </a:lnSpc>
              <a:spcBef>
                <a:spcPts val="0"/>
              </a:spcBef>
              <a:spcAft>
                <a:spcPts val="0"/>
              </a:spcAft>
            </a:pPr>
            <a:r>
              <a:rPr sz="118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行业痛点与技术缺口</a:t>
            </a:r>
            <a:endParaRPr sz="118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8" name="文字：从实验室到真实场景的验证路径"/>
          <p:cNvSpPr txBox="1"/>
          <p:nvPr/>
        </p:nvSpPr>
        <p:spPr>
          <a:xfrm>
            <a:off x="11498511" y="3123261"/>
            <a:ext cx="2529880" cy="21007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155"/>
              </a:lnSpc>
              <a:spcBef>
                <a:spcPts val="0"/>
              </a:spcBef>
              <a:spcAft>
                <a:spcPts val="0"/>
              </a:spcAft>
            </a:pPr>
            <a:r>
              <a:rPr sz="115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从实验室到真实场景的验证路径</a:t>
            </a:r>
            <a:endParaRPr sz="115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0" name="文字：02"/>
          <p:cNvSpPr txBox="1"/>
          <p:nvPr/>
        </p:nvSpPr>
        <p:spPr>
          <a:xfrm>
            <a:off x="4002187" y="3832250"/>
            <a:ext cx="1047204" cy="69148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4590"/>
              </a:lnSpc>
              <a:spcBef>
                <a:spcPts val="0"/>
              </a:spcBef>
              <a:spcAft>
                <a:spcPts val="0"/>
              </a:spcAft>
            </a:pPr>
            <a:r>
              <a:rPr sz="459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02</a:t>
            </a:r>
            <a:endParaRPr sz="459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1" name="文字：项目概述"/>
          <p:cNvSpPr txBox="1"/>
          <p:nvPr/>
        </p:nvSpPr>
        <p:spPr>
          <a:xfrm>
            <a:off x="5547072" y="3902273"/>
            <a:ext cx="1296045" cy="31510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</a:pPr>
            <a:r>
              <a:rPr sz="192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项目概述</a:t>
            </a:r>
            <a:endParaRPr sz="192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2" name="文字：05"/>
          <p:cNvSpPr txBox="1"/>
          <p:nvPr/>
        </p:nvSpPr>
        <p:spPr>
          <a:xfrm>
            <a:off x="9891415" y="3867262"/>
            <a:ext cx="1067941" cy="69148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4590"/>
              </a:lnSpc>
              <a:spcBef>
                <a:spcPts val="0"/>
              </a:spcBef>
              <a:spcAft>
                <a:spcPts val="0"/>
              </a:spcAft>
            </a:pPr>
            <a:r>
              <a:rPr sz="459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05</a:t>
            </a:r>
            <a:endParaRPr sz="459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3" name="文字：商业模式"/>
          <p:cNvSpPr txBox="1"/>
          <p:nvPr/>
        </p:nvSpPr>
        <p:spPr>
          <a:xfrm>
            <a:off x="11488142" y="3902273"/>
            <a:ext cx="1285677" cy="3238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98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商业模式</a:t>
            </a:r>
            <a:endParaRPr sz="198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4" name="文字：以数字科技"/>
          <p:cNvSpPr txBox="1"/>
          <p:nvPr/>
        </p:nvSpPr>
        <p:spPr>
          <a:xfrm>
            <a:off x="601365" y="4094838"/>
            <a:ext cx="1690043" cy="31510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</a:pPr>
            <a:r>
              <a:rPr sz="192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以数字科技</a:t>
            </a:r>
            <a:endParaRPr sz="192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5" name="文字：系统定位、总体架构与作品形态"/>
          <p:cNvSpPr txBox="1"/>
          <p:nvPr/>
        </p:nvSpPr>
        <p:spPr>
          <a:xfrm>
            <a:off x="5557441" y="4296156"/>
            <a:ext cx="2550616" cy="21007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165"/>
              </a:lnSpc>
              <a:spcBef>
                <a:spcPts val="0"/>
              </a:spcBef>
              <a:spcAft>
                <a:spcPts val="0"/>
              </a:spcAft>
            </a:pPr>
            <a:r>
              <a:rPr sz="116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系统定位、总体架构与作品形态</a:t>
            </a:r>
            <a:endParaRPr sz="116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7" name="文字：应用场景、目标客户与商业路径"/>
          <p:cNvSpPr txBox="1"/>
          <p:nvPr/>
        </p:nvSpPr>
        <p:spPr>
          <a:xfrm>
            <a:off x="11488142" y="4296156"/>
            <a:ext cx="2540248" cy="21007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116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应用场景、目标客户与商业路径</a:t>
            </a:r>
            <a:endParaRPr sz="116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9" name="文字：重塑传统制茶工艺"/>
          <p:cNvSpPr txBox="1"/>
          <p:nvPr/>
        </p:nvSpPr>
        <p:spPr>
          <a:xfrm>
            <a:off x="590996" y="4471215"/>
            <a:ext cx="2623195" cy="28884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735"/>
              </a:lnSpc>
              <a:spcBef>
                <a:spcPts val="0"/>
              </a:spcBef>
              <a:spcAft>
                <a:spcPts val="0"/>
              </a:spcAft>
            </a:pPr>
            <a:r>
              <a:rPr sz="173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重塑传统制茶工艺</a:t>
            </a:r>
            <a:endParaRPr sz="173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0" name="文字：03"/>
          <p:cNvSpPr txBox="1"/>
          <p:nvPr/>
        </p:nvSpPr>
        <p:spPr>
          <a:xfrm>
            <a:off x="3991818" y="5005146"/>
            <a:ext cx="1057573" cy="69148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4590"/>
              </a:lnSpc>
              <a:spcBef>
                <a:spcPts val="0"/>
              </a:spcBef>
              <a:spcAft>
                <a:spcPts val="0"/>
              </a:spcAft>
            </a:pPr>
            <a:r>
              <a:rPr sz="459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03</a:t>
            </a:r>
            <a:endParaRPr sz="459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1" name="文字：关键技术"/>
          <p:cNvSpPr txBox="1"/>
          <p:nvPr/>
        </p:nvSpPr>
        <p:spPr>
          <a:xfrm>
            <a:off x="5536704" y="5057663"/>
            <a:ext cx="1296045" cy="3413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关键技术</a:t>
            </a:r>
            <a:endParaRPr sz="20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2" name="文字：06"/>
          <p:cNvSpPr txBox="1"/>
          <p:nvPr/>
        </p:nvSpPr>
        <p:spPr>
          <a:xfrm>
            <a:off x="9891415" y="5040157"/>
            <a:ext cx="1057573" cy="6739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4465"/>
              </a:lnSpc>
              <a:spcBef>
                <a:spcPts val="0"/>
              </a:spcBef>
              <a:spcAft>
                <a:spcPts val="0"/>
              </a:spcAft>
            </a:pPr>
            <a:r>
              <a:rPr sz="4465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06</a:t>
            </a:r>
            <a:endParaRPr sz="4465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3" name="文字：未来展望"/>
          <p:cNvSpPr txBox="1"/>
          <p:nvPr/>
        </p:nvSpPr>
        <p:spPr>
          <a:xfrm>
            <a:off x="11477774" y="5075169"/>
            <a:ext cx="1275308" cy="31510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</a:pPr>
            <a:r>
              <a:rPr sz="192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未来展望</a:t>
            </a:r>
            <a:endParaRPr sz="192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4" name="文字：DIGITAL INTELLIGENCE"/>
          <p:cNvSpPr txBox="1"/>
          <p:nvPr/>
        </p:nvSpPr>
        <p:spPr>
          <a:xfrm>
            <a:off x="590996" y="5223970"/>
            <a:ext cx="2249934" cy="16630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870"/>
              </a:lnSpc>
              <a:spcBef>
                <a:spcPts val="0"/>
              </a:spcBef>
              <a:spcAft>
                <a:spcPts val="0"/>
              </a:spcAft>
            </a:pPr>
            <a:r>
              <a:rPr sz="87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DIGITAL INTELLIGENCE</a:t>
            </a:r>
            <a:endParaRPr sz="87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5" name="文字：FOR BETTER CHINESE TEA"/>
          <p:cNvSpPr txBox="1"/>
          <p:nvPr/>
        </p:nvSpPr>
        <p:spPr>
          <a:xfrm>
            <a:off x="590996" y="5416534"/>
            <a:ext cx="2488406" cy="16630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870"/>
              </a:lnSpc>
              <a:spcBef>
                <a:spcPts val="0"/>
              </a:spcBef>
              <a:spcAft>
                <a:spcPts val="0"/>
              </a:spcAft>
            </a:pPr>
            <a:r>
              <a:rPr sz="87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FOR BETTER CHINESE TEA</a:t>
            </a:r>
            <a:endParaRPr sz="87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6" name="文字：多模态感知、状态估计与自适应控制"/>
          <p:cNvSpPr txBox="1"/>
          <p:nvPr/>
        </p:nvSpPr>
        <p:spPr>
          <a:xfrm>
            <a:off x="5547072" y="5451546"/>
            <a:ext cx="2903141" cy="236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165"/>
              </a:lnSpc>
              <a:spcBef>
                <a:spcPts val="0"/>
              </a:spcBef>
              <a:spcAft>
                <a:spcPts val="0"/>
              </a:spcAft>
            </a:pPr>
            <a:r>
              <a:rPr sz="116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多模态感知、状态估计与自适应控制</a:t>
            </a:r>
            <a:endParaRPr sz="116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7" name="文字：发展规划、产业拓展与社会价值"/>
          <p:cNvSpPr txBox="1"/>
          <p:nvPr/>
        </p:nvSpPr>
        <p:spPr>
          <a:xfrm>
            <a:off x="11477774" y="5442793"/>
            <a:ext cx="2550616" cy="236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165"/>
              </a:lnSpc>
              <a:spcBef>
                <a:spcPts val="0"/>
              </a:spcBef>
              <a:spcAft>
                <a:spcPts val="0"/>
              </a:spcAft>
            </a:pPr>
            <a:r>
              <a:rPr sz="116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发展规划、产业拓展与社会价值</a:t>
            </a:r>
            <a:endParaRPr sz="116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共享背景：原图茶园风景（无内容组件）" descr="landscap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5925800" cy="8963025"/>
          </a:xfrm>
          <a:prstGeom prst="rect">
            <a:avLst/>
          </a:prstGeom>
        </p:spPr>
      </p:pic>
      <p:sp>
        <p:nvSpPr>
          <p:cNvPr id="3" name="可编辑框架"/>
          <p:cNvSpPr/>
          <p:nvPr/>
        </p:nvSpPr>
        <p:spPr>
          <a:xfrm>
            <a:off x="0" y="0"/>
            <a:ext cx="15925800" cy="723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：青韵智控"/>
          <p:cNvSpPr txBox="1"/>
          <p:nvPr/>
        </p:nvSpPr>
        <p:spPr>
          <a:xfrm>
            <a:off x="361950" y="190500"/>
            <a:ext cx="13335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73F32"/>
                </a:solidFill>
                <a:latin typeface="微软雅黑" panose="020B0503020204020204" charset="-122"/>
                <a:ea typeface="微软雅黑" panose="020B0503020204020204" charset="-122"/>
              </a:rPr>
              <a:t>青韵智控</a:t>
            </a:r>
            <a:endParaRPr sz="2400" b="1">
              <a:solidFill>
                <a:srgbClr val="073F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1819275" y="257175"/>
            <a:ext cx="0" cy="2762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字：让传统制茶更可控"/>
          <p:cNvSpPr txBox="1"/>
          <p:nvPr/>
        </p:nvSpPr>
        <p:spPr>
          <a:xfrm>
            <a:off x="2076450" y="238125"/>
            <a:ext cx="2190750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让传统制茶更可控</a:t>
            </a:r>
            <a:endParaRPr sz="18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文字：项目背景"/>
          <p:cNvSpPr txBox="1"/>
          <p:nvPr/>
        </p:nvSpPr>
        <p:spPr>
          <a:xfrm>
            <a:off x="8515350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项目背景</a:t>
            </a:r>
            <a:endParaRPr sz="150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9486900" y="323850"/>
            <a:ext cx="0" cy="1619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753475" y="628650"/>
            <a:ext cx="381000" cy="0"/>
          </a:xfrm>
          <a:prstGeom prst="line">
            <a:avLst/>
          </a:prstGeom>
          <a:ln w="19050">
            <a:solidFill>
              <a:srgbClr val="073F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字：项目概述"/>
          <p:cNvSpPr txBox="1"/>
          <p:nvPr/>
        </p:nvSpPr>
        <p:spPr>
          <a:xfrm>
            <a:off x="9648825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项目概述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1" name="Connector 10"/>
          <p:cNvCxnSpPr/>
          <p:nvPr/>
        </p:nvCxnSpPr>
        <p:spPr>
          <a:xfrm>
            <a:off x="10620375" y="323850"/>
            <a:ext cx="0" cy="1619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字：关键技术"/>
          <p:cNvSpPr txBox="1"/>
          <p:nvPr/>
        </p:nvSpPr>
        <p:spPr>
          <a:xfrm>
            <a:off x="10782300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关键技术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3" name="Connector 12"/>
          <p:cNvCxnSpPr/>
          <p:nvPr/>
        </p:nvCxnSpPr>
        <p:spPr>
          <a:xfrm>
            <a:off x="11753850" y="323850"/>
            <a:ext cx="0" cy="1619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字：实施与验证"/>
          <p:cNvSpPr txBox="1"/>
          <p:nvPr/>
        </p:nvSpPr>
        <p:spPr>
          <a:xfrm>
            <a:off x="11915775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实施与验证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12887325" y="323850"/>
            <a:ext cx="0" cy="1619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字：商业模式"/>
          <p:cNvSpPr txBox="1"/>
          <p:nvPr/>
        </p:nvSpPr>
        <p:spPr>
          <a:xfrm>
            <a:off x="13049250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商业模式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14020800" y="323850"/>
            <a:ext cx="0" cy="1619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字：未来展望"/>
          <p:cNvSpPr txBox="1"/>
          <p:nvPr/>
        </p:nvSpPr>
        <p:spPr>
          <a:xfrm>
            <a:off x="14182725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未来展望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9" name="文字：03"/>
          <p:cNvSpPr txBox="1"/>
          <p:nvPr/>
        </p:nvSpPr>
        <p:spPr>
          <a:xfrm>
            <a:off x="15163800" y="257175"/>
            <a:ext cx="428625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950" b="0">
                <a:solidFill>
                  <a:srgbClr val="073F32"/>
                </a:solidFill>
                <a:latin typeface="Times New Roman" panose="02020603050405020304"/>
                <a:ea typeface="Times New Roman" panose="02020603050405020304"/>
              </a:rPr>
              <a:t>03</a:t>
            </a:r>
            <a:endParaRPr sz="1950" b="0">
              <a:solidFill>
                <a:srgbClr val="073F32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cxnSp>
        <p:nvCxnSpPr>
          <p:cNvPr id="20" name="Connector 19"/>
          <p:cNvCxnSpPr/>
          <p:nvPr/>
        </p:nvCxnSpPr>
        <p:spPr>
          <a:xfrm>
            <a:off x="0" y="723900"/>
            <a:ext cx="15725775" cy="0"/>
          </a:xfrm>
          <a:prstGeom prst="line">
            <a:avLst/>
          </a:prstGeom>
          <a:ln w="9525">
            <a:solidFill>
              <a:srgbClr val="C7D8D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571875" y="990600"/>
            <a:ext cx="0" cy="6896100"/>
          </a:xfrm>
          <a:prstGeom prst="line">
            <a:avLst/>
          </a:prstGeom>
          <a:ln w="9525">
            <a:solidFill>
              <a:srgbClr val="A4BCB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字：01"/>
          <p:cNvSpPr txBox="1"/>
          <p:nvPr/>
        </p:nvSpPr>
        <p:spPr>
          <a:xfrm>
            <a:off x="457200" y="1409700"/>
            <a:ext cx="2286000" cy="1666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500"/>
              </a:lnSpc>
              <a:spcBef>
                <a:spcPts val="0"/>
              </a:spcBef>
              <a:spcAft>
                <a:spcPts val="0"/>
              </a:spcAft>
            </a:pPr>
            <a:r>
              <a:rPr sz="13500" b="1" i="1">
                <a:solidFill>
                  <a:srgbClr val="073F32"/>
                </a:solidFill>
                <a:latin typeface="Times New Roman" panose="02020603050405020304"/>
                <a:ea typeface="Times New Roman" panose="02020603050405020304"/>
              </a:rPr>
              <a:t>01</a:t>
            </a:r>
            <a:endParaRPr sz="13500" b="1" i="1">
              <a:solidFill>
                <a:srgbClr val="073F32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cxnSp>
        <p:nvCxnSpPr>
          <p:cNvPr id="23" name="Connector 22"/>
          <p:cNvCxnSpPr/>
          <p:nvPr/>
        </p:nvCxnSpPr>
        <p:spPr>
          <a:xfrm flipV="1">
            <a:off x="2619375" y="1704975"/>
            <a:ext cx="514350" cy="1190625"/>
          </a:xfrm>
          <a:prstGeom prst="line">
            <a:avLst/>
          </a:prstGeom>
          <a:ln w="11429">
            <a:solidFill>
              <a:srgbClr val="073F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字：项目背景"/>
          <p:cNvSpPr txBox="1"/>
          <p:nvPr/>
        </p:nvSpPr>
        <p:spPr>
          <a:xfrm>
            <a:off x="485775" y="3114675"/>
            <a:ext cx="3000375" cy="838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5250"/>
              </a:lnSpc>
              <a:spcBef>
                <a:spcPts val="0"/>
              </a:spcBef>
              <a:spcAft>
                <a:spcPts val="0"/>
              </a:spcAft>
            </a:pPr>
            <a:r>
              <a:rPr sz="525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项目背景</a:t>
            </a:r>
            <a:endParaRPr sz="525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5" name="文字：传统做青面临的现实问题&#10;与技术缺口"/>
          <p:cNvSpPr txBox="1"/>
          <p:nvPr/>
        </p:nvSpPr>
        <p:spPr>
          <a:xfrm>
            <a:off x="552450" y="4076700"/>
            <a:ext cx="2905125" cy="838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208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传统做青面临的现实问题</a:t>
            </a:r>
            <a:br>
              <a:rPr sz="208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sz="208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与技术缺口</a:t>
            </a:r>
            <a:endParaRPr sz="208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26" name="Connector 25"/>
          <p:cNvCxnSpPr/>
          <p:nvPr/>
        </p:nvCxnSpPr>
        <p:spPr>
          <a:xfrm>
            <a:off x="552450" y="5076825"/>
            <a:ext cx="400050" cy="0"/>
          </a:xfrm>
          <a:prstGeom prst="line">
            <a:avLst/>
          </a:prstGeom>
          <a:ln w="9525">
            <a:solidFill>
              <a:srgbClr val="073F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字：“好茶，难以标准化；&#10; 好工艺，难以复制。”"/>
          <p:cNvSpPr txBox="1"/>
          <p:nvPr/>
        </p:nvSpPr>
        <p:spPr>
          <a:xfrm>
            <a:off x="457200" y="5314950"/>
            <a:ext cx="2990850" cy="1095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105"/>
              </a:lnSpc>
              <a:spcBef>
                <a:spcPts val="0"/>
              </a:spcBef>
              <a:spcAft>
                <a:spcPts val="0"/>
              </a:spcAft>
            </a:pPr>
            <a:r>
              <a:rPr sz="2105" b="0">
                <a:solidFill>
                  <a:srgbClr val="073F32"/>
                </a:solidFill>
                <a:latin typeface="楷体" panose="02010609060101010101" charset="-122"/>
                <a:ea typeface="楷体" panose="02010609060101010101" charset="-122"/>
              </a:rPr>
              <a:t>“好茶，难以标准化；</a:t>
            </a:r>
            <a:br>
              <a:rPr sz="2105" b="0">
                <a:solidFill>
                  <a:srgbClr val="073F32"/>
                </a:solidFill>
                <a:latin typeface="楷体" panose="02010609060101010101" charset="-122"/>
                <a:ea typeface="楷体" panose="02010609060101010101" charset="-122"/>
              </a:rPr>
            </a:br>
            <a:r>
              <a:rPr sz="2105" b="0">
                <a:solidFill>
                  <a:srgbClr val="073F32"/>
                </a:solidFill>
                <a:latin typeface="楷体" panose="02010609060101010101" charset="-122"/>
                <a:ea typeface="楷体" panose="02010609060101010101" charset="-122"/>
              </a:rPr>
              <a:t> 好工艺，难以复制。”</a:t>
            </a:r>
            <a:endParaRPr sz="2105" b="0">
              <a:solidFill>
                <a:srgbClr val="073F32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28" name="文字：中 国 茶 · 产 业 智 造 · 中 国 未 来"/>
          <p:cNvSpPr txBox="1"/>
          <p:nvPr/>
        </p:nvSpPr>
        <p:spPr>
          <a:xfrm>
            <a:off x="11791950" y="8439150"/>
            <a:ext cx="3619500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 国 茶 · 产 业 智 造 · 中 国 未 来</a:t>
            </a:r>
            <a:endParaRPr sz="13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9" name="文字：1.1 行业现状"/>
          <p:cNvSpPr txBox="1"/>
          <p:nvPr/>
        </p:nvSpPr>
        <p:spPr>
          <a:xfrm>
            <a:off x="3867150" y="981075"/>
            <a:ext cx="2447925" cy="514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3150"/>
              </a:lnSpc>
              <a:spcBef>
                <a:spcPts val="0"/>
              </a:spcBef>
              <a:spcAft>
                <a:spcPts val="0"/>
              </a:spcAft>
            </a:pPr>
            <a:r>
              <a:rPr sz="315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1.1 行业现状</a:t>
            </a:r>
            <a:endParaRPr sz="315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30" name="Connector 29"/>
          <p:cNvCxnSpPr/>
          <p:nvPr/>
        </p:nvCxnSpPr>
        <p:spPr>
          <a:xfrm>
            <a:off x="6400800" y="1085850"/>
            <a:ext cx="0" cy="304800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字：做青是形成凤凰单丛品质的关键环节，但仍高度依赖人工经验"/>
          <p:cNvSpPr txBox="1"/>
          <p:nvPr/>
        </p:nvSpPr>
        <p:spPr>
          <a:xfrm>
            <a:off x="6572250" y="1038225"/>
            <a:ext cx="8934450" cy="4476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做青是形成凤凰单丛品质的关键环节，但仍高度依赖人工经验</a:t>
            </a:r>
            <a:endParaRPr sz="210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2" name="可编辑框架"/>
          <p:cNvSpPr/>
          <p:nvPr/>
        </p:nvSpPr>
        <p:spPr>
          <a:xfrm>
            <a:off x="4552950" y="2847975"/>
            <a:ext cx="3571875" cy="4105275"/>
          </a:xfrm>
          <a:prstGeom prst="roundRect">
            <a:avLst>
              <a:gd name="adj" fmla="val 2500"/>
            </a:avLst>
          </a:prstGeom>
          <a:solidFill>
            <a:srgbClr val="F2F9F6"/>
          </a:solidFill>
          <a:ln>
            <a:solidFill>
              <a:srgbClr val="C8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可编辑框架"/>
          <p:cNvSpPr/>
          <p:nvPr/>
        </p:nvSpPr>
        <p:spPr>
          <a:xfrm>
            <a:off x="8334375" y="2847975"/>
            <a:ext cx="3724275" cy="4105275"/>
          </a:xfrm>
          <a:prstGeom prst="roundRect">
            <a:avLst>
              <a:gd name="adj" fmla="val 2500"/>
            </a:avLst>
          </a:prstGeom>
          <a:solidFill>
            <a:srgbClr val="F2F9F6"/>
          </a:solidFill>
          <a:ln>
            <a:solidFill>
              <a:srgbClr val="C8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可编辑框架"/>
          <p:cNvSpPr/>
          <p:nvPr/>
        </p:nvSpPr>
        <p:spPr>
          <a:xfrm>
            <a:off x="12382500" y="2847975"/>
            <a:ext cx="3086100" cy="4105275"/>
          </a:xfrm>
          <a:prstGeom prst="roundRect">
            <a:avLst>
              <a:gd name="adj" fmla="val 2500"/>
            </a:avLst>
          </a:prstGeom>
          <a:solidFill>
            <a:srgbClr val="F2F9F6"/>
          </a:solidFill>
          <a:ln>
            <a:solidFill>
              <a:srgbClr val="C8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可编辑框架"/>
          <p:cNvSpPr/>
          <p:nvPr/>
        </p:nvSpPr>
        <p:spPr>
          <a:xfrm>
            <a:off x="4552950" y="2847975"/>
            <a:ext cx="3571875" cy="542925"/>
          </a:xfrm>
          <a:prstGeom prst="rect">
            <a:avLst/>
          </a:prstGeom>
          <a:solidFill>
            <a:srgbClr val="E2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可编辑框架"/>
          <p:cNvSpPr/>
          <p:nvPr/>
        </p:nvSpPr>
        <p:spPr>
          <a:xfrm>
            <a:off x="8334375" y="2847975"/>
            <a:ext cx="3724275" cy="542925"/>
          </a:xfrm>
          <a:prstGeom prst="rect">
            <a:avLst/>
          </a:prstGeom>
          <a:solidFill>
            <a:srgbClr val="E2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可编辑框架"/>
          <p:cNvSpPr/>
          <p:nvPr/>
        </p:nvSpPr>
        <p:spPr>
          <a:xfrm>
            <a:off x="12382500" y="2847975"/>
            <a:ext cx="3086100" cy="542925"/>
          </a:xfrm>
          <a:prstGeom prst="rect">
            <a:avLst/>
          </a:prstGeom>
          <a:solidFill>
            <a:srgbClr val="E2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可编辑框架"/>
          <p:cNvSpPr/>
          <p:nvPr/>
        </p:nvSpPr>
        <p:spPr>
          <a:xfrm>
            <a:off x="3867150" y="7715250"/>
            <a:ext cx="11677650" cy="428625"/>
          </a:xfrm>
          <a:prstGeom prst="roundRect">
            <a:avLst>
              <a:gd name="adj" fmla="val 2500"/>
            </a:avLst>
          </a:prstGeom>
          <a:solidFill>
            <a:srgbClr val="095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独立照片或曲线图（内部为像素）" descr="p03_photo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4375" y="3581400"/>
            <a:ext cx="1133475" cy="981075"/>
          </a:xfrm>
          <a:prstGeom prst="rect">
            <a:avLst/>
          </a:prstGeom>
        </p:spPr>
      </p:pic>
      <p:pic>
        <p:nvPicPr>
          <p:cNvPr id="40" name="独立照片或曲线图（内部为像素）" descr="p03_photo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4375" y="4610100"/>
            <a:ext cx="1133475" cy="1000125"/>
          </a:xfrm>
          <a:prstGeom prst="rect">
            <a:avLst/>
          </a:prstGeom>
        </p:spPr>
      </p:pic>
      <p:pic>
        <p:nvPicPr>
          <p:cNvPr id="41" name="独立照片或曲线图（内部为像素）" descr="p03_photo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4375" y="5667375"/>
            <a:ext cx="1133475" cy="990599"/>
          </a:xfrm>
          <a:prstGeom prst="rect">
            <a:avLst/>
          </a:prstGeom>
        </p:spPr>
      </p:pic>
      <p:pic>
        <p:nvPicPr>
          <p:cNvPr id="42" name="独立图标或流程线" descr="p03_icon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4400" y="3781425"/>
            <a:ext cx="561975" cy="504825"/>
          </a:xfrm>
          <a:prstGeom prst="rect">
            <a:avLst/>
          </a:prstGeom>
        </p:spPr>
      </p:pic>
      <p:pic>
        <p:nvPicPr>
          <p:cNvPr id="43" name="独立图标或流程线" descr="p03_icon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696825" y="3810000"/>
            <a:ext cx="352425" cy="457200"/>
          </a:xfrm>
          <a:prstGeom prst="rect">
            <a:avLst/>
          </a:prstGeom>
        </p:spPr>
      </p:pic>
      <p:pic>
        <p:nvPicPr>
          <p:cNvPr id="44" name="独立图标或流程线" descr="p03_icon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639675" y="4895850"/>
            <a:ext cx="476250" cy="476250"/>
          </a:xfrm>
          <a:prstGeom prst="rect">
            <a:avLst/>
          </a:prstGeom>
        </p:spPr>
      </p:pic>
      <p:pic>
        <p:nvPicPr>
          <p:cNvPr id="45" name="独立图标或流程线" descr="p03_icon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82025" y="4914900"/>
            <a:ext cx="466724" cy="457200"/>
          </a:xfrm>
          <a:prstGeom prst="rect">
            <a:avLst/>
          </a:prstGeom>
        </p:spPr>
      </p:pic>
      <p:pic>
        <p:nvPicPr>
          <p:cNvPr id="46" name="独立图标或流程线" descr="p03_icon4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91550" y="6000750"/>
            <a:ext cx="447675" cy="495299"/>
          </a:xfrm>
          <a:prstGeom prst="rect">
            <a:avLst/>
          </a:prstGeom>
        </p:spPr>
      </p:pic>
      <p:pic>
        <p:nvPicPr>
          <p:cNvPr id="47" name="独立图标或流程线" descr="p03_icon5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639675" y="6000750"/>
            <a:ext cx="476250" cy="466724"/>
          </a:xfrm>
          <a:prstGeom prst="rect">
            <a:avLst/>
          </a:prstGeom>
        </p:spPr>
      </p:pic>
      <p:sp>
        <p:nvSpPr>
          <p:cNvPr id="48" name="文字：做青通过控制叶片的物理化学变化，决定了凤凰单丛的香气类型、滋味层次和品"/>
          <p:cNvSpPr txBox="1"/>
          <p:nvPr/>
        </p:nvSpPr>
        <p:spPr>
          <a:xfrm>
            <a:off x="4572000" y="2000250"/>
            <a:ext cx="8572500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85"/>
              </a:lnSpc>
              <a:spcBef>
                <a:spcPts val="0"/>
              </a:spcBef>
              <a:spcAft>
                <a:spcPts val="0"/>
              </a:spcAft>
            </a:pPr>
            <a:r>
              <a:rPr sz="148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做青通过控制叶片的物理化学变化，决定了凤凰单丛的香气类型、滋味层次和品质稳定性，</a:t>
            </a:r>
            <a:endParaRPr sz="148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9" name="文字：是制茶过程中最关键、也最难标准化的环节。"/>
          <p:cNvSpPr txBox="1"/>
          <p:nvPr/>
        </p:nvSpPr>
        <p:spPr>
          <a:xfrm>
            <a:off x="4572000" y="2314575"/>
            <a:ext cx="4295775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85"/>
              </a:lnSpc>
              <a:spcBef>
                <a:spcPts val="0"/>
              </a:spcBef>
              <a:spcAft>
                <a:spcPts val="0"/>
              </a:spcAft>
            </a:pPr>
            <a:r>
              <a:rPr sz="148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是制茶过程中最关键、也最难标准化的环节。</a:t>
            </a:r>
            <a:endParaRPr sz="148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0" name="文字：凤凰单丛的品质特征"/>
          <p:cNvSpPr txBox="1"/>
          <p:nvPr/>
        </p:nvSpPr>
        <p:spPr>
          <a:xfrm>
            <a:off x="4676775" y="2990850"/>
            <a:ext cx="2505075" cy="3143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89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凤凰单丛的品质特征</a:t>
            </a:r>
            <a:endParaRPr sz="189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1" name="文字：做青过程复杂，影响因素多"/>
          <p:cNvSpPr txBox="1"/>
          <p:nvPr/>
        </p:nvSpPr>
        <p:spPr>
          <a:xfrm>
            <a:off x="8515350" y="3000375"/>
            <a:ext cx="3067050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75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做青过程复杂，影响因素多</a:t>
            </a:r>
            <a:endParaRPr sz="175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2" name="文字：现有模式面临的问题"/>
          <p:cNvSpPr txBox="1"/>
          <p:nvPr/>
        </p:nvSpPr>
        <p:spPr>
          <a:xfrm>
            <a:off x="12592050" y="3000375"/>
            <a:ext cx="2419350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75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现有模式面临的问题</a:t>
            </a:r>
            <a:endParaRPr sz="175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3" name="文字：香气丰富"/>
          <p:cNvSpPr txBox="1"/>
          <p:nvPr/>
        </p:nvSpPr>
        <p:spPr>
          <a:xfrm>
            <a:off x="5781675" y="3752850"/>
            <a:ext cx="10096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82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香气丰富</a:t>
            </a:r>
            <a:endParaRPr sz="182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4" name="文字：环境条件多变"/>
          <p:cNvSpPr txBox="1"/>
          <p:nvPr/>
        </p:nvSpPr>
        <p:spPr>
          <a:xfrm>
            <a:off x="9448800" y="3714750"/>
            <a:ext cx="1400175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</a:pPr>
            <a:r>
              <a:rPr sz="168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环境条件多变</a:t>
            </a:r>
            <a:endParaRPr sz="168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5" name="文字：品质不稳定"/>
          <p:cNvSpPr txBox="1"/>
          <p:nvPr/>
        </p:nvSpPr>
        <p:spPr>
          <a:xfrm>
            <a:off x="13515975" y="3676650"/>
            <a:ext cx="119062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740"/>
              </a:lnSpc>
              <a:spcBef>
                <a:spcPts val="0"/>
              </a:spcBef>
              <a:spcAft>
                <a:spcPts val="0"/>
              </a:spcAft>
            </a:pPr>
            <a:r>
              <a:rPr sz="174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品质不稳定</a:t>
            </a:r>
            <a:endParaRPr sz="174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6" name="文字：花香、果香等多种香型"/>
          <p:cNvSpPr txBox="1"/>
          <p:nvPr/>
        </p:nvSpPr>
        <p:spPr>
          <a:xfrm>
            <a:off x="5791200" y="4133850"/>
            <a:ext cx="1914525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15"/>
              </a:lnSpc>
              <a:spcBef>
                <a:spcPts val="0"/>
              </a:spcBef>
              <a:spcAft>
                <a:spcPts val="0"/>
              </a:spcAft>
            </a:pPr>
            <a:r>
              <a:rPr sz="141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花香、果香等多种香型</a:t>
            </a:r>
            <a:endParaRPr sz="141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7" name="文字：温度、湿度、通风等随"/>
          <p:cNvSpPr txBox="1"/>
          <p:nvPr/>
        </p:nvSpPr>
        <p:spPr>
          <a:xfrm>
            <a:off x="9458325" y="4067175"/>
            <a:ext cx="1857375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温度、湿度、通风等随</a:t>
            </a:r>
            <a:endParaRPr sz="13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8" name="文字：同一批次差异大，"/>
          <p:cNvSpPr txBox="1"/>
          <p:nvPr/>
        </p:nvSpPr>
        <p:spPr>
          <a:xfrm>
            <a:off x="13525500" y="4048125"/>
            <a:ext cx="1438275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33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同一批次差异大，</a:t>
            </a:r>
            <a:endParaRPr sz="133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9" name="文字：天气和场地变化"/>
          <p:cNvSpPr txBox="1"/>
          <p:nvPr/>
        </p:nvSpPr>
        <p:spPr>
          <a:xfrm>
            <a:off x="9467850" y="4305300"/>
            <a:ext cx="1323975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90"/>
              </a:lnSpc>
              <a:spcBef>
                <a:spcPts val="0"/>
              </a:spcBef>
              <a:spcAft>
                <a:spcPts val="0"/>
              </a:spcAft>
            </a:pPr>
            <a:r>
              <a:rPr sz="139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天气和场地变化</a:t>
            </a:r>
            <a:endParaRPr sz="139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0" name="文字：受人工经验影响大"/>
          <p:cNvSpPr txBox="1"/>
          <p:nvPr/>
        </p:nvSpPr>
        <p:spPr>
          <a:xfrm>
            <a:off x="13525500" y="4295775"/>
            <a:ext cx="1571625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15"/>
              </a:lnSpc>
              <a:spcBef>
                <a:spcPts val="0"/>
              </a:spcBef>
              <a:spcAft>
                <a:spcPts val="0"/>
              </a:spcAft>
            </a:pPr>
            <a:r>
              <a:rPr sz="141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受人工经验影响大</a:t>
            </a:r>
            <a:endParaRPr sz="141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1" name="文字：滋味醇厚"/>
          <p:cNvSpPr txBox="1"/>
          <p:nvPr/>
        </p:nvSpPr>
        <p:spPr>
          <a:xfrm>
            <a:off x="5772150" y="4791075"/>
            <a:ext cx="1028700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75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滋味醇厚</a:t>
            </a:r>
            <a:endParaRPr sz="175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2" name="文字：叶片状态难以量化"/>
          <p:cNvSpPr txBox="1"/>
          <p:nvPr/>
        </p:nvSpPr>
        <p:spPr>
          <a:xfrm>
            <a:off x="9467850" y="4819650"/>
            <a:ext cx="1857375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叶片状态难以量化</a:t>
            </a:r>
            <a:endParaRPr sz="15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3" name="文字：生产效率低"/>
          <p:cNvSpPr txBox="1"/>
          <p:nvPr/>
        </p:nvSpPr>
        <p:spPr>
          <a:xfrm>
            <a:off x="13515975" y="4819650"/>
            <a:ext cx="122872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75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生产效率低</a:t>
            </a:r>
            <a:endParaRPr sz="175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4" name="文字：口感层次丰富"/>
          <p:cNvSpPr txBox="1"/>
          <p:nvPr/>
        </p:nvSpPr>
        <p:spPr>
          <a:xfrm>
            <a:off x="5791200" y="5162550"/>
            <a:ext cx="1209675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15"/>
              </a:lnSpc>
              <a:spcBef>
                <a:spcPts val="0"/>
              </a:spcBef>
              <a:spcAft>
                <a:spcPts val="0"/>
              </a:spcAft>
            </a:pPr>
            <a:r>
              <a:rPr sz="141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口感层次丰富</a:t>
            </a:r>
            <a:endParaRPr sz="141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5" name="文字：含水率、酶活性、红变程度等"/>
          <p:cNvSpPr txBox="1"/>
          <p:nvPr/>
        </p:nvSpPr>
        <p:spPr>
          <a:xfrm>
            <a:off x="9467850" y="5162550"/>
            <a:ext cx="2438400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含水率、酶活性、红变程度等</a:t>
            </a:r>
            <a:endParaRPr sz="13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6" name="文字：高度依赖人工观察"/>
          <p:cNvSpPr txBox="1"/>
          <p:nvPr/>
        </p:nvSpPr>
        <p:spPr>
          <a:xfrm>
            <a:off x="13535025" y="5181600"/>
            <a:ext cx="1562100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高度依赖人工观察</a:t>
            </a:r>
            <a:endParaRPr sz="13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7" name="文字：难以实时准确获取"/>
          <p:cNvSpPr txBox="1"/>
          <p:nvPr/>
        </p:nvSpPr>
        <p:spPr>
          <a:xfrm>
            <a:off x="9467850" y="5410200"/>
            <a:ext cx="1552575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难以实时准确获取</a:t>
            </a:r>
            <a:endParaRPr sz="13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8" name="文字：和多次试错"/>
          <p:cNvSpPr txBox="1"/>
          <p:nvPr/>
        </p:nvSpPr>
        <p:spPr>
          <a:xfrm>
            <a:off x="13525500" y="5410200"/>
            <a:ext cx="1038225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和多次试错</a:t>
            </a:r>
            <a:endParaRPr sz="13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9" name="文字：品质高、价值高"/>
          <p:cNvSpPr txBox="1"/>
          <p:nvPr/>
        </p:nvSpPr>
        <p:spPr>
          <a:xfrm>
            <a:off x="5791200" y="5895975"/>
            <a:ext cx="165735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</a:pPr>
            <a:r>
              <a:rPr sz="168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品质高、价值高</a:t>
            </a:r>
            <a:endParaRPr sz="168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0" name="文字：工艺依赖经验"/>
          <p:cNvSpPr txBox="1"/>
          <p:nvPr/>
        </p:nvSpPr>
        <p:spPr>
          <a:xfrm>
            <a:off x="9467850" y="5924550"/>
            <a:ext cx="1428750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75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工艺依赖经验</a:t>
            </a:r>
            <a:endParaRPr sz="175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1" name="文字：难以规模化推广"/>
          <p:cNvSpPr txBox="1"/>
          <p:nvPr/>
        </p:nvSpPr>
        <p:spPr>
          <a:xfrm>
            <a:off x="13525500" y="5943600"/>
            <a:ext cx="1619250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难以规模化推广</a:t>
            </a:r>
            <a:endParaRPr sz="172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2" name="文字：具有稳定的地域与文化价值"/>
          <p:cNvSpPr txBox="1"/>
          <p:nvPr/>
        </p:nvSpPr>
        <p:spPr>
          <a:xfrm>
            <a:off x="5800725" y="6267450"/>
            <a:ext cx="2238375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</a:pPr>
            <a:r>
              <a:rPr sz="141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具有稳定的地域与文化价值</a:t>
            </a:r>
            <a:endParaRPr sz="141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3" name="文字：主要依靠制茶师的经验判断，"/>
          <p:cNvSpPr txBox="1"/>
          <p:nvPr/>
        </p:nvSpPr>
        <p:spPr>
          <a:xfrm>
            <a:off x="9467850" y="6286500"/>
            <a:ext cx="2314575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主要依靠制茶师的经验判断，</a:t>
            </a:r>
            <a:endParaRPr sz="13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4" name="文字：优质工艺难以复制，"/>
          <p:cNvSpPr txBox="1"/>
          <p:nvPr/>
        </p:nvSpPr>
        <p:spPr>
          <a:xfrm>
            <a:off x="13544550" y="6315075"/>
            <a:ext cx="1638300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60"/>
              </a:lnSpc>
              <a:spcBef>
                <a:spcPts val="0"/>
              </a:spcBef>
              <a:spcAft>
                <a:spcPts val="0"/>
              </a:spcAft>
            </a:pPr>
            <a:r>
              <a:rPr sz="136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优质工艺难以复制，</a:t>
            </a:r>
            <a:endParaRPr sz="136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5" name="文字：难以标准化和复制"/>
          <p:cNvSpPr txBox="1"/>
          <p:nvPr/>
        </p:nvSpPr>
        <p:spPr>
          <a:xfrm>
            <a:off x="9467850" y="6543675"/>
            <a:ext cx="1562100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15"/>
              </a:lnSpc>
              <a:spcBef>
                <a:spcPts val="0"/>
              </a:spcBef>
              <a:spcAft>
                <a:spcPts val="0"/>
              </a:spcAft>
            </a:pPr>
            <a:r>
              <a:rPr sz="141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难以标准化和复制</a:t>
            </a:r>
            <a:endParaRPr sz="141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6" name="文字：制约产业发展"/>
          <p:cNvSpPr txBox="1"/>
          <p:nvPr/>
        </p:nvSpPr>
        <p:spPr>
          <a:xfrm>
            <a:off x="13525500" y="6543675"/>
            <a:ext cx="123825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10"/>
              </a:lnSpc>
              <a:spcBef>
                <a:spcPts val="0"/>
              </a:spcBef>
              <a:spcAft>
                <a:spcPts val="0"/>
              </a:spcAft>
            </a:pPr>
            <a:r>
              <a:rPr sz="151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制约产业发展</a:t>
            </a:r>
            <a:endParaRPr sz="151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7" name="文字：亟需新的技术手段，实现做青过程的状态感知、智能判断与精准控制"/>
          <p:cNvSpPr txBox="1"/>
          <p:nvPr/>
        </p:nvSpPr>
        <p:spPr>
          <a:xfrm>
            <a:off x="6191250" y="7810500"/>
            <a:ext cx="73056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755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亟需新的技术手段，实现做青过程的状态感知、智能判断与精准控制</a:t>
            </a:r>
            <a:endParaRPr sz="1755" b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共享背景：原图茶园风景（无内容组件）" descr="landscap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5925800" cy="8963025"/>
          </a:xfrm>
          <a:prstGeom prst="rect">
            <a:avLst/>
          </a:prstGeom>
        </p:spPr>
      </p:pic>
      <p:sp>
        <p:nvSpPr>
          <p:cNvPr id="3" name="可编辑框架"/>
          <p:cNvSpPr/>
          <p:nvPr/>
        </p:nvSpPr>
        <p:spPr>
          <a:xfrm>
            <a:off x="0" y="0"/>
            <a:ext cx="15925800" cy="723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：青韵智控"/>
          <p:cNvSpPr txBox="1"/>
          <p:nvPr/>
        </p:nvSpPr>
        <p:spPr>
          <a:xfrm>
            <a:off x="361950" y="190500"/>
            <a:ext cx="13335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73F32"/>
                </a:solidFill>
                <a:latin typeface="微软雅黑" panose="020B0503020204020204" charset="-122"/>
                <a:ea typeface="微软雅黑" panose="020B0503020204020204" charset="-122"/>
              </a:rPr>
              <a:t>青韵智控</a:t>
            </a:r>
            <a:endParaRPr sz="2400" b="1">
              <a:solidFill>
                <a:srgbClr val="073F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1819275" y="257175"/>
            <a:ext cx="0" cy="2762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字：让传统制茶更可控"/>
          <p:cNvSpPr txBox="1"/>
          <p:nvPr/>
        </p:nvSpPr>
        <p:spPr>
          <a:xfrm>
            <a:off x="2076450" y="238125"/>
            <a:ext cx="2190750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让传统制茶更可控</a:t>
            </a:r>
            <a:endParaRPr sz="18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文字：项目背景"/>
          <p:cNvSpPr txBox="1"/>
          <p:nvPr/>
        </p:nvSpPr>
        <p:spPr>
          <a:xfrm>
            <a:off x="8515350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项目背景</a:t>
            </a:r>
            <a:endParaRPr sz="150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9486900" y="323850"/>
            <a:ext cx="0" cy="1619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753475" y="628650"/>
            <a:ext cx="381000" cy="0"/>
          </a:xfrm>
          <a:prstGeom prst="line">
            <a:avLst/>
          </a:prstGeom>
          <a:ln w="19050">
            <a:solidFill>
              <a:srgbClr val="073F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字：项目概述"/>
          <p:cNvSpPr txBox="1"/>
          <p:nvPr/>
        </p:nvSpPr>
        <p:spPr>
          <a:xfrm>
            <a:off x="9648825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项目概述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1" name="Connector 10"/>
          <p:cNvCxnSpPr/>
          <p:nvPr/>
        </p:nvCxnSpPr>
        <p:spPr>
          <a:xfrm>
            <a:off x="10620375" y="323850"/>
            <a:ext cx="0" cy="1619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字：关键技术"/>
          <p:cNvSpPr txBox="1"/>
          <p:nvPr/>
        </p:nvSpPr>
        <p:spPr>
          <a:xfrm>
            <a:off x="10782300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关键技术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3" name="Connector 12"/>
          <p:cNvCxnSpPr/>
          <p:nvPr/>
        </p:nvCxnSpPr>
        <p:spPr>
          <a:xfrm>
            <a:off x="11753850" y="323850"/>
            <a:ext cx="0" cy="1619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字：实施与验证"/>
          <p:cNvSpPr txBox="1"/>
          <p:nvPr/>
        </p:nvSpPr>
        <p:spPr>
          <a:xfrm>
            <a:off x="11915775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实施与验证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12887325" y="323850"/>
            <a:ext cx="0" cy="1619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字：商业模式"/>
          <p:cNvSpPr txBox="1"/>
          <p:nvPr/>
        </p:nvSpPr>
        <p:spPr>
          <a:xfrm>
            <a:off x="13049250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商业模式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14020800" y="323850"/>
            <a:ext cx="0" cy="1619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字：未来展望"/>
          <p:cNvSpPr txBox="1"/>
          <p:nvPr/>
        </p:nvSpPr>
        <p:spPr>
          <a:xfrm>
            <a:off x="14182725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未来展望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9" name="文字：04"/>
          <p:cNvSpPr txBox="1"/>
          <p:nvPr/>
        </p:nvSpPr>
        <p:spPr>
          <a:xfrm>
            <a:off x="15163800" y="257175"/>
            <a:ext cx="428625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950" b="0">
                <a:solidFill>
                  <a:srgbClr val="073F32"/>
                </a:solidFill>
                <a:latin typeface="Times New Roman" panose="02020603050405020304"/>
                <a:ea typeface="Times New Roman" panose="02020603050405020304"/>
              </a:rPr>
              <a:t>04</a:t>
            </a:r>
            <a:endParaRPr sz="1950" b="0">
              <a:solidFill>
                <a:srgbClr val="073F32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cxnSp>
        <p:nvCxnSpPr>
          <p:cNvPr id="20" name="Connector 19"/>
          <p:cNvCxnSpPr/>
          <p:nvPr/>
        </p:nvCxnSpPr>
        <p:spPr>
          <a:xfrm>
            <a:off x="0" y="723900"/>
            <a:ext cx="15725775" cy="0"/>
          </a:xfrm>
          <a:prstGeom prst="line">
            <a:avLst/>
          </a:prstGeom>
          <a:ln w="9525">
            <a:solidFill>
              <a:srgbClr val="C7D8D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571875" y="990600"/>
            <a:ext cx="0" cy="6896100"/>
          </a:xfrm>
          <a:prstGeom prst="line">
            <a:avLst/>
          </a:prstGeom>
          <a:ln w="9525">
            <a:solidFill>
              <a:srgbClr val="A4BCB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字：01"/>
          <p:cNvSpPr txBox="1"/>
          <p:nvPr/>
        </p:nvSpPr>
        <p:spPr>
          <a:xfrm>
            <a:off x="457200" y="1409700"/>
            <a:ext cx="2286000" cy="1666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500"/>
              </a:lnSpc>
              <a:spcBef>
                <a:spcPts val="0"/>
              </a:spcBef>
              <a:spcAft>
                <a:spcPts val="0"/>
              </a:spcAft>
            </a:pPr>
            <a:r>
              <a:rPr sz="13500" b="1" i="1">
                <a:solidFill>
                  <a:srgbClr val="073F32"/>
                </a:solidFill>
                <a:latin typeface="Times New Roman" panose="02020603050405020304"/>
                <a:ea typeface="Times New Roman" panose="02020603050405020304"/>
              </a:rPr>
              <a:t>01</a:t>
            </a:r>
            <a:endParaRPr sz="13500" b="1" i="1">
              <a:solidFill>
                <a:srgbClr val="073F32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cxnSp>
        <p:nvCxnSpPr>
          <p:cNvPr id="23" name="Connector 22"/>
          <p:cNvCxnSpPr/>
          <p:nvPr/>
        </p:nvCxnSpPr>
        <p:spPr>
          <a:xfrm flipV="1">
            <a:off x="2619375" y="1704975"/>
            <a:ext cx="514350" cy="1190625"/>
          </a:xfrm>
          <a:prstGeom prst="line">
            <a:avLst/>
          </a:prstGeom>
          <a:ln w="11429">
            <a:solidFill>
              <a:srgbClr val="073F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字：项目背景"/>
          <p:cNvSpPr txBox="1"/>
          <p:nvPr/>
        </p:nvSpPr>
        <p:spPr>
          <a:xfrm>
            <a:off x="485775" y="3114675"/>
            <a:ext cx="3000375" cy="838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5250"/>
              </a:lnSpc>
              <a:spcBef>
                <a:spcPts val="0"/>
              </a:spcBef>
              <a:spcAft>
                <a:spcPts val="0"/>
              </a:spcAft>
            </a:pPr>
            <a:r>
              <a:rPr sz="525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项目背景</a:t>
            </a:r>
            <a:endParaRPr sz="525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5" name="文字：传统做青面临的现实问题&#10;与技术缺口"/>
          <p:cNvSpPr txBox="1"/>
          <p:nvPr/>
        </p:nvSpPr>
        <p:spPr>
          <a:xfrm>
            <a:off x="552450" y="4076700"/>
            <a:ext cx="2905125" cy="838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208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传统做青面临的现实问题</a:t>
            </a:r>
            <a:br>
              <a:rPr sz="208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sz="208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与技术缺口</a:t>
            </a:r>
            <a:endParaRPr sz="208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26" name="Connector 25"/>
          <p:cNvCxnSpPr/>
          <p:nvPr/>
        </p:nvCxnSpPr>
        <p:spPr>
          <a:xfrm>
            <a:off x="552450" y="5076825"/>
            <a:ext cx="400050" cy="0"/>
          </a:xfrm>
          <a:prstGeom prst="line">
            <a:avLst/>
          </a:prstGeom>
          <a:ln w="9525">
            <a:solidFill>
              <a:srgbClr val="073F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字：“好茶，难以标准化；&#10; 好工艺，难以复制。”"/>
          <p:cNvSpPr txBox="1"/>
          <p:nvPr/>
        </p:nvSpPr>
        <p:spPr>
          <a:xfrm>
            <a:off x="457200" y="5314950"/>
            <a:ext cx="2990850" cy="1095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105"/>
              </a:lnSpc>
              <a:spcBef>
                <a:spcPts val="0"/>
              </a:spcBef>
              <a:spcAft>
                <a:spcPts val="0"/>
              </a:spcAft>
            </a:pPr>
            <a:r>
              <a:rPr sz="2105" b="0">
                <a:solidFill>
                  <a:srgbClr val="073F32"/>
                </a:solidFill>
                <a:latin typeface="楷体" panose="02010609060101010101" charset="-122"/>
                <a:ea typeface="楷体" panose="02010609060101010101" charset="-122"/>
              </a:rPr>
              <a:t>“好茶，难以标准化；</a:t>
            </a:r>
            <a:br>
              <a:rPr sz="2105" b="0">
                <a:solidFill>
                  <a:srgbClr val="073F32"/>
                </a:solidFill>
                <a:latin typeface="楷体" panose="02010609060101010101" charset="-122"/>
                <a:ea typeface="楷体" panose="02010609060101010101" charset="-122"/>
              </a:rPr>
            </a:br>
            <a:r>
              <a:rPr sz="2105" b="0">
                <a:solidFill>
                  <a:srgbClr val="073F32"/>
                </a:solidFill>
                <a:latin typeface="楷体" panose="02010609060101010101" charset="-122"/>
                <a:ea typeface="楷体" panose="02010609060101010101" charset="-122"/>
              </a:rPr>
              <a:t> 好工艺，难以复制。”</a:t>
            </a:r>
            <a:endParaRPr sz="2105" b="0">
              <a:solidFill>
                <a:srgbClr val="073F32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28" name="文字：中 国 茶 · 产 业 智 造 · 中 国 未 来"/>
          <p:cNvSpPr txBox="1"/>
          <p:nvPr/>
        </p:nvSpPr>
        <p:spPr>
          <a:xfrm>
            <a:off x="11791950" y="8439150"/>
            <a:ext cx="3619500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 国 茶 · 产 业 智 造 · 中 国 未 来</a:t>
            </a:r>
            <a:endParaRPr sz="13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9" name="文字：1.2 现有自动化边界"/>
          <p:cNvSpPr txBox="1"/>
          <p:nvPr/>
        </p:nvSpPr>
        <p:spPr>
          <a:xfrm>
            <a:off x="3867150" y="981075"/>
            <a:ext cx="3648075" cy="514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3150"/>
              </a:lnSpc>
              <a:spcBef>
                <a:spcPts val="0"/>
              </a:spcBef>
              <a:spcAft>
                <a:spcPts val="0"/>
              </a:spcAft>
            </a:pPr>
            <a:r>
              <a:rPr sz="315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1.2 现有自动化边界</a:t>
            </a:r>
            <a:endParaRPr sz="315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30" name="Connector 29"/>
          <p:cNvCxnSpPr/>
          <p:nvPr/>
        </p:nvCxnSpPr>
        <p:spPr>
          <a:xfrm>
            <a:off x="7600950" y="1085850"/>
            <a:ext cx="0" cy="304800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字：现有自动化主要解决“会执行”，仍缺少对鲜叶状态的理解与动态响应"/>
          <p:cNvSpPr txBox="1"/>
          <p:nvPr/>
        </p:nvSpPr>
        <p:spPr>
          <a:xfrm>
            <a:off x="7772400" y="1038225"/>
            <a:ext cx="7734300" cy="4476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965"/>
              </a:lnSpc>
              <a:spcBef>
                <a:spcPts val="0"/>
              </a:spcBef>
              <a:spcAft>
                <a:spcPts val="0"/>
              </a:spcAft>
            </a:pPr>
            <a:r>
              <a:rPr sz="1965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现有自动化主要解决“会执行”，仍缺少对鲜叶状态的理解与动态响应</a:t>
            </a:r>
            <a:endParaRPr sz="1965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2" name="可编辑框架"/>
          <p:cNvSpPr/>
          <p:nvPr/>
        </p:nvSpPr>
        <p:spPr>
          <a:xfrm>
            <a:off x="4524375" y="2143125"/>
            <a:ext cx="5124450" cy="4695825"/>
          </a:xfrm>
          <a:prstGeom prst="roundRect">
            <a:avLst>
              <a:gd name="adj" fmla="val 2500"/>
            </a:avLst>
          </a:prstGeom>
          <a:solidFill>
            <a:srgbClr val="F2F9F6"/>
          </a:solidFill>
          <a:ln>
            <a:solidFill>
              <a:srgbClr val="C8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可编辑框架"/>
          <p:cNvSpPr/>
          <p:nvPr/>
        </p:nvSpPr>
        <p:spPr>
          <a:xfrm>
            <a:off x="9848850" y="2143125"/>
            <a:ext cx="5619750" cy="4695825"/>
          </a:xfrm>
          <a:prstGeom prst="roundRect">
            <a:avLst>
              <a:gd name="adj" fmla="val 2500"/>
            </a:avLst>
          </a:prstGeom>
          <a:solidFill>
            <a:srgbClr val="F2F9F6"/>
          </a:solidFill>
          <a:ln>
            <a:solidFill>
              <a:srgbClr val="C8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可编辑框架"/>
          <p:cNvSpPr/>
          <p:nvPr/>
        </p:nvSpPr>
        <p:spPr>
          <a:xfrm>
            <a:off x="4524375" y="2143125"/>
            <a:ext cx="5124450" cy="457200"/>
          </a:xfrm>
          <a:prstGeom prst="rect">
            <a:avLst/>
          </a:prstGeom>
          <a:solidFill>
            <a:srgbClr val="E2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可编辑框架"/>
          <p:cNvSpPr/>
          <p:nvPr/>
        </p:nvSpPr>
        <p:spPr>
          <a:xfrm>
            <a:off x="9848850" y="2143125"/>
            <a:ext cx="5619750" cy="457200"/>
          </a:xfrm>
          <a:prstGeom prst="rect">
            <a:avLst/>
          </a:prstGeom>
          <a:solidFill>
            <a:srgbClr val="E2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可编辑框架"/>
          <p:cNvSpPr/>
          <p:nvPr/>
        </p:nvSpPr>
        <p:spPr>
          <a:xfrm>
            <a:off x="3867150" y="7715250"/>
            <a:ext cx="11677650" cy="428625"/>
          </a:xfrm>
          <a:prstGeom prst="roundRect">
            <a:avLst>
              <a:gd name="adj" fmla="val 2500"/>
            </a:avLst>
          </a:prstGeom>
          <a:solidFill>
            <a:srgbClr val="095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可编辑框架"/>
          <p:cNvSpPr/>
          <p:nvPr/>
        </p:nvSpPr>
        <p:spPr>
          <a:xfrm>
            <a:off x="3867150" y="8153400"/>
            <a:ext cx="11677650" cy="266700"/>
          </a:xfrm>
          <a:prstGeom prst="rect">
            <a:avLst/>
          </a:prstGeom>
          <a:solidFill>
            <a:srgbClr val="F1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独立图标或流程线" descr="p04_icon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875" y="2886075"/>
            <a:ext cx="447675" cy="409575"/>
          </a:xfrm>
          <a:prstGeom prst="rect">
            <a:avLst/>
          </a:prstGeom>
        </p:spPr>
      </p:pic>
      <p:pic>
        <p:nvPicPr>
          <p:cNvPr id="39" name="独立图标或流程线" descr="p04_icon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0800" y="2933700"/>
            <a:ext cx="533400" cy="514350"/>
          </a:xfrm>
          <a:prstGeom prst="rect">
            <a:avLst/>
          </a:prstGeom>
        </p:spPr>
      </p:pic>
      <p:pic>
        <p:nvPicPr>
          <p:cNvPr id="40" name="独立图标或流程线" descr="p04_icon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4875" y="3629025"/>
            <a:ext cx="428625" cy="419100"/>
          </a:xfrm>
          <a:prstGeom prst="rect">
            <a:avLst/>
          </a:prstGeom>
        </p:spPr>
      </p:pic>
      <p:pic>
        <p:nvPicPr>
          <p:cNvPr id="41" name="独立图标或流程线" descr="p04_icon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01275" y="4038600"/>
            <a:ext cx="581025" cy="523874"/>
          </a:xfrm>
          <a:prstGeom prst="rect">
            <a:avLst/>
          </a:prstGeom>
        </p:spPr>
      </p:pic>
      <p:pic>
        <p:nvPicPr>
          <p:cNvPr id="42" name="独立图标或流程线" descr="p04_icon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1550" y="4400550"/>
            <a:ext cx="304800" cy="495299"/>
          </a:xfrm>
          <a:prstGeom prst="rect">
            <a:avLst/>
          </a:prstGeom>
        </p:spPr>
      </p:pic>
      <p:pic>
        <p:nvPicPr>
          <p:cNvPr id="43" name="独立图标或流程线" descr="p04_icon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10800" y="5153025"/>
            <a:ext cx="561975" cy="495299"/>
          </a:xfrm>
          <a:prstGeom prst="rect">
            <a:avLst/>
          </a:prstGeom>
        </p:spPr>
      </p:pic>
      <p:pic>
        <p:nvPicPr>
          <p:cNvPr id="44" name="独立图标或流程线" descr="p04_icon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33925" y="5238750"/>
            <a:ext cx="390525" cy="447675"/>
          </a:xfrm>
          <a:prstGeom prst="rect">
            <a:avLst/>
          </a:prstGeom>
        </p:spPr>
      </p:pic>
      <p:pic>
        <p:nvPicPr>
          <p:cNvPr id="45" name="独立图标或流程线" descr="p04_icon7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95825" y="6086475"/>
            <a:ext cx="466724" cy="400050"/>
          </a:xfrm>
          <a:prstGeom prst="rect">
            <a:avLst/>
          </a:prstGeom>
        </p:spPr>
      </p:pic>
      <p:pic>
        <p:nvPicPr>
          <p:cNvPr id="46" name="独立图标或流程线" descr="p04_icon8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48900" y="6134100"/>
            <a:ext cx="400050" cy="447675"/>
          </a:xfrm>
          <a:prstGeom prst="rect">
            <a:avLst/>
          </a:prstGeom>
        </p:spPr>
      </p:pic>
      <p:sp>
        <p:nvSpPr>
          <p:cNvPr id="47" name="文字：已经可以做到"/>
          <p:cNvSpPr txBox="1"/>
          <p:nvPr/>
        </p:nvSpPr>
        <p:spPr>
          <a:xfrm>
            <a:off x="4733925" y="2209800"/>
            <a:ext cx="1838325" cy="3143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89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已经可以做到</a:t>
            </a:r>
            <a:endParaRPr sz="189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8" name="文字：仍然缺少"/>
          <p:cNvSpPr txBox="1"/>
          <p:nvPr/>
        </p:nvSpPr>
        <p:spPr>
          <a:xfrm>
            <a:off x="10239375" y="2200275"/>
            <a:ext cx="1295400" cy="3714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295"/>
              </a:lnSpc>
              <a:spcBef>
                <a:spcPts val="0"/>
              </a:spcBef>
              <a:spcAft>
                <a:spcPts val="0"/>
              </a:spcAft>
            </a:pPr>
            <a:r>
              <a:rPr sz="2295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仍然缺少</a:t>
            </a:r>
            <a:endParaRPr sz="2295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9" name="文字：自动摇青"/>
          <p:cNvSpPr txBox="1"/>
          <p:nvPr/>
        </p:nvSpPr>
        <p:spPr>
          <a:xfrm>
            <a:off x="5648325" y="2790825"/>
            <a:ext cx="10287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82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自动摇青</a:t>
            </a:r>
            <a:endParaRPr sz="182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0" name="文字：多源状态联合表征"/>
          <p:cNvSpPr txBox="1"/>
          <p:nvPr/>
        </p:nvSpPr>
        <p:spPr>
          <a:xfrm>
            <a:off x="11210925" y="2905125"/>
            <a:ext cx="2076450" cy="3143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89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多源状态联合表征</a:t>
            </a:r>
            <a:endParaRPr sz="189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1" name="文字：可按照设定程序完成基础执行"/>
          <p:cNvSpPr txBox="1"/>
          <p:nvPr/>
        </p:nvSpPr>
        <p:spPr>
          <a:xfrm>
            <a:off x="5648325" y="3124200"/>
            <a:ext cx="2466975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15"/>
              </a:lnSpc>
              <a:spcBef>
                <a:spcPts val="0"/>
              </a:spcBef>
              <a:spcAft>
                <a:spcPts val="0"/>
              </a:spcAft>
            </a:pPr>
            <a:r>
              <a:rPr sz="141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可按照设定程序完成基础执行</a:t>
            </a:r>
            <a:endParaRPr sz="141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2" name="文字：难以同时融合香气、视觉、失水与环境信息"/>
          <p:cNvSpPr txBox="1"/>
          <p:nvPr/>
        </p:nvSpPr>
        <p:spPr>
          <a:xfrm>
            <a:off x="11210925" y="3286125"/>
            <a:ext cx="3829050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难以同时融合香气、视觉、失水与环境信息</a:t>
            </a:r>
            <a:endParaRPr sz="15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3" name="文字：固定程序控制"/>
          <p:cNvSpPr txBox="1"/>
          <p:nvPr/>
        </p:nvSpPr>
        <p:spPr>
          <a:xfrm>
            <a:off x="5648325" y="3581400"/>
            <a:ext cx="153352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75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固定程序控制</a:t>
            </a:r>
            <a:endParaRPr sz="175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4" name="文字：预设转速、时长、间隔后自动运行"/>
          <p:cNvSpPr txBox="1"/>
          <p:nvPr/>
        </p:nvSpPr>
        <p:spPr>
          <a:xfrm>
            <a:off x="5648325" y="3905250"/>
            <a:ext cx="2914650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15"/>
              </a:lnSpc>
              <a:spcBef>
                <a:spcPts val="0"/>
              </a:spcBef>
              <a:spcAft>
                <a:spcPts val="0"/>
              </a:spcAft>
            </a:pPr>
            <a:r>
              <a:rPr sz="141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预设转速、时长、间隔后自动运行</a:t>
            </a:r>
            <a:endParaRPr sz="141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5" name="文字：跨天气／茶季／批次稳定"/>
          <p:cNvSpPr txBox="1"/>
          <p:nvPr/>
        </p:nvSpPr>
        <p:spPr>
          <a:xfrm>
            <a:off x="11182350" y="4038600"/>
            <a:ext cx="2847975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955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跨天气／茶季／批次稳定</a:t>
            </a:r>
            <a:endParaRPr sz="1955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6" name="文字：温湿度监测"/>
          <p:cNvSpPr txBox="1"/>
          <p:nvPr/>
        </p:nvSpPr>
        <p:spPr>
          <a:xfrm>
            <a:off x="5638800" y="4362450"/>
            <a:ext cx="12954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82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温湿度监测</a:t>
            </a:r>
            <a:endParaRPr sz="182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7" name="文字：工况变化下结果一致性不足"/>
          <p:cNvSpPr txBox="1"/>
          <p:nvPr/>
        </p:nvSpPr>
        <p:spPr>
          <a:xfrm>
            <a:off x="11229975" y="4419600"/>
            <a:ext cx="2428875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15"/>
              </a:lnSpc>
              <a:spcBef>
                <a:spcPts val="0"/>
              </a:spcBef>
              <a:spcAft>
                <a:spcPts val="0"/>
              </a:spcAft>
            </a:pPr>
            <a:r>
              <a:rPr sz="141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工况变化下结果一致性不足</a:t>
            </a:r>
            <a:endParaRPr sz="141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8" name="文字：能记录环境变化"/>
          <p:cNvSpPr txBox="1"/>
          <p:nvPr/>
        </p:nvSpPr>
        <p:spPr>
          <a:xfrm>
            <a:off x="5629275" y="4676775"/>
            <a:ext cx="1457325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40"/>
              </a:lnSpc>
              <a:spcBef>
                <a:spcPts val="0"/>
              </a:spcBef>
              <a:spcAft>
                <a:spcPts val="0"/>
              </a:spcAft>
            </a:pPr>
            <a:r>
              <a:rPr sz="154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能记录环境变化</a:t>
            </a:r>
            <a:endParaRPr sz="154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9" name="文字：电子鼻阶段识别"/>
          <p:cNvSpPr txBox="1"/>
          <p:nvPr/>
        </p:nvSpPr>
        <p:spPr>
          <a:xfrm>
            <a:off x="5638800" y="5191125"/>
            <a:ext cx="1790700" cy="3143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89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电子鼻阶段识别</a:t>
            </a:r>
            <a:endParaRPr sz="189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0" name="文字：状态进入工艺决策闭环"/>
          <p:cNvSpPr txBox="1"/>
          <p:nvPr/>
        </p:nvSpPr>
        <p:spPr>
          <a:xfrm>
            <a:off x="11191875" y="5105400"/>
            <a:ext cx="2590800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955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状态进入工艺决策闭环</a:t>
            </a:r>
            <a:endParaRPr sz="1955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1" name="文字：可用于识别部分加工阶段特征"/>
          <p:cNvSpPr txBox="1"/>
          <p:nvPr/>
        </p:nvSpPr>
        <p:spPr>
          <a:xfrm>
            <a:off x="5638800" y="5524500"/>
            <a:ext cx="2590800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85"/>
              </a:lnSpc>
              <a:spcBef>
                <a:spcPts val="0"/>
              </a:spcBef>
              <a:spcAft>
                <a:spcPts val="0"/>
              </a:spcAft>
            </a:pPr>
            <a:r>
              <a:rPr sz="148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可用于识别部分加工阶段特征</a:t>
            </a:r>
            <a:endParaRPr sz="148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2" name="文字：感知结果尚未真正驱动下一步做青动作"/>
          <p:cNvSpPr txBox="1"/>
          <p:nvPr/>
        </p:nvSpPr>
        <p:spPr>
          <a:xfrm>
            <a:off x="11220450" y="5495925"/>
            <a:ext cx="3419475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85"/>
              </a:lnSpc>
              <a:spcBef>
                <a:spcPts val="0"/>
              </a:spcBef>
              <a:spcAft>
                <a:spcPts val="0"/>
              </a:spcAft>
            </a:pPr>
            <a:r>
              <a:rPr sz="148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感知结果尚未真正驱动下一步做青动作</a:t>
            </a:r>
            <a:endParaRPr sz="148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3" name="文字：机器视觉提取色泽"/>
          <p:cNvSpPr txBox="1"/>
          <p:nvPr/>
        </p:nvSpPr>
        <p:spPr>
          <a:xfrm>
            <a:off x="5648325" y="6029325"/>
            <a:ext cx="2028825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</a:pPr>
            <a:r>
              <a:rPr sz="168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机器视觉提取色泽</a:t>
            </a:r>
            <a:endParaRPr sz="168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4" name="文字：以成茶品质验证控制效果"/>
          <p:cNvSpPr txBox="1"/>
          <p:nvPr/>
        </p:nvSpPr>
        <p:spPr>
          <a:xfrm>
            <a:off x="11210925" y="6086475"/>
            <a:ext cx="2762250" cy="3143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89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以成茶品质验证控制效果</a:t>
            </a:r>
            <a:endParaRPr sz="189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5" name="文字：可获取叶色和外观信息"/>
          <p:cNvSpPr txBox="1"/>
          <p:nvPr/>
        </p:nvSpPr>
        <p:spPr>
          <a:xfrm>
            <a:off x="5648325" y="6343650"/>
            <a:ext cx="2009775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85"/>
              </a:lnSpc>
              <a:spcBef>
                <a:spcPts val="0"/>
              </a:spcBef>
              <a:spcAft>
                <a:spcPts val="0"/>
              </a:spcAft>
            </a:pPr>
            <a:r>
              <a:rPr sz="148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可获取叶色和外观信息</a:t>
            </a:r>
            <a:endParaRPr sz="148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6" name="文字：最终还缺少面向品质稳定性的闭环验证"/>
          <p:cNvSpPr txBox="1"/>
          <p:nvPr/>
        </p:nvSpPr>
        <p:spPr>
          <a:xfrm>
            <a:off x="11210925" y="6457950"/>
            <a:ext cx="339090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30"/>
              </a:lnSpc>
              <a:spcBef>
                <a:spcPts val="0"/>
              </a:spcBef>
              <a:spcAft>
                <a:spcPts val="0"/>
              </a:spcAft>
            </a:pPr>
            <a:r>
              <a:rPr sz="153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最终还缺少面向品质稳定性的闭环验证</a:t>
            </a:r>
            <a:endParaRPr sz="153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7" name="文字：做青自动化≠做青智能化"/>
          <p:cNvSpPr txBox="1"/>
          <p:nvPr/>
        </p:nvSpPr>
        <p:spPr>
          <a:xfrm>
            <a:off x="7534275" y="7756475"/>
            <a:ext cx="4410075" cy="438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765"/>
              </a:lnSpc>
              <a:spcBef>
                <a:spcPts val="0"/>
              </a:spcBef>
              <a:spcAft>
                <a:spcPts val="0"/>
              </a:spcAft>
            </a:pPr>
            <a:r>
              <a:rPr sz="2765" b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做青自动化≠做青智能化</a:t>
            </a:r>
            <a:endParaRPr sz="2765" b="1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8" name="文字：关键缺口在于：从“监测与执行”走向“理解状态并动态决策”"/>
          <p:cNvSpPr txBox="1"/>
          <p:nvPr/>
        </p:nvSpPr>
        <p:spPr>
          <a:xfrm>
            <a:off x="6600825" y="8162925"/>
            <a:ext cx="6181725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关键缺口在于：从“监测与执行”走向“理解状态并动态决策”</a:t>
            </a:r>
            <a:endParaRPr sz="13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共享背景：原图茶园风景（无内容组件）" descr="landscap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5925800" cy="8963025"/>
          </a:xfrm>
          <a:prstGeom prst="rect">
            <a:avLst/>
          </a:prstGeom>
        </p:spPr>
      </p:pic>
      <p:sp>
        <p:nvSpPr>
          <p:cNvPr id="3" name="可编辑框架"/>
          <p:cNvSpPr/>
          <p:nvPr/>
        </p:nvSpPr>
        <p:spPr>
          <a:xfrm>
            <a:off x="0" y="0"/>
            <a:ext cx="15925800" cy="723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：青韵智控"/>
          <p:cNvSpPr txBox="1"/>
          <p:nvPr/>
        </p:nvSpPr>
        <p:spPr>
          <a:xfrm>
            <a:off x="361950" y="190500"/>
            <a:ext cx="13335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73F32"/>
                </a:solidFill>
                <a:latin typeface="微软雅黑" panose="020B0503020204020204" charset="-122"/>
                <a:ea typeface="微软雅黑" panose="020B0503020204020204" charset="-122"/>
              </a:rPr>
              <a:t>青韵智控</a:t>
            </a:r>
            <a:endParaRPr sz="2400" b="1">
              <a:solidFill>
                <a:srgbClr val="073F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1819275" y="257175"/>
            <a:ext cx="0" cy="2762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字：让传统制茶更可控"/>
          <p:cNvSpPr txBox="1"/>
          <p:nvPr/>
        </p:nvSpPr>
        <p:spPr>
          <a:xfrm>
            <a:off x="2076450" y="238125"/>
            <a:ext cx="2190750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让传统制茶更可控</a:t>
            </a:r>
            <a:endParaRPr sz="18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文字：项目背景"/>
          <p:cNvSpPr txBox="1"/>
          <p:nvPr/>
        </p:nvSpPr>
        <p:spPr>
          <a:xfrm>
            <a:off x="8515350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项目背景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9486900" y="323850"/>
            <a:ext cx="0" cy="1619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字：项目概述"/>
          <p:cNvSpPr txBox="1"/>
          <p:nvPr/>
        </p:nvSpPr>
        <p:spPr>
          <a:xfrm>
            <a:off x="9648825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项目概述</a:t>
            </a:r>
            <a:endParaRPr sz="150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10620375" y="323850"/>
            <a:ext cx="0" cy="1619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886950" y="628650"/>
            <a:ext cx="381000" cy="0"/>
          </a:xfrm>
          <a:prstGeom prst="line">
            <a:avLst/>
          </a:prstGeom>
          <a:ln w="19050">
            <a:solidFill>
              <a:srgbClr val="073F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字：关键技术"/>
          <p:cNvSpPr txBox="1"/>
          <p:nvPr/>
        </p:nvSpPr>
        <p:spPr>
          <a:xfrm>
            <a:off x="10782300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关键技术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3" name="Connector 12"/>
          <p:cNvCxnSpPr/>
          <p:nvPr/>
        </p:nvCxnSpPr>
        <p:spPr>
          <a:xfrm>
            <a:off x="11753850" y="323850"/>
            <a:ext cx="0" cy="1619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字：实施与验证"/>
          <p:cNvSpPr txBox="1"/>
          <p:nvPr/>
        </p:nvSpPr>
        <p:spPr>
          <a:xfrm>
            <a:off x="11915775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实施与验证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12887325" y="323850"/>
            <a:ext cx="0" cy="1619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字：商业模式"/>
          <p:cNvSpPr txBox="1"/>
          <p:nvPr/>
        </p:nvSpPr>
        <p:spPr>
          <a:xfrm>
            <a:off x="13049250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商业模式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14020800" y="323850"/>
            <a:ext cx="0" cy="1619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字：未来展望"/>
          <p:cNvSpPr txBox="1"/>
          <p:nvPr/>
        </p:nvSpPr>
        <p:spPr>
          <a:xfrm>
            <a:off x="14182725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未来展望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9" name="文字：05"/>
          <p:cNvSpPr txBox="1"/>
          <p:nvPr/>
        </p:nvSpPr>
        <p:spPr>
          <a:xfrm>
            <a:off x="15163800" y="257175"/>
            <a:ext cx="428625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950" b="0">
                <a:solidFill>
                  <a:srgbClr val="073F32"/>
                </a:solidFill>
                <a:latin typeface="Times New Roman" panose="02020603050405020304"/>
                <a:ea typeface="Times New Roman" panose="02020603050405020304"/>
              </a:rPr>
              <a:t>05</a:t>
            </a:r>
            <a:endParaRPr sz="1950" b="0">
              <a:solidFill>
                <a:srgbClr val="073F32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cxnSp>
        <p:nvCxnSpPr>
          <p:cNvPr id="20" name="Connector 19"/>
          <p:cNvCxnSpPr/>
          <p:nvPr/>
        </p:nvCxnSpPr>
        <p:spPr>
          <a:xfrm>
            <a:off x="0" y="723900"/>
            <a:ext cx="15725775" cy="0"/>
          </a:xfrm>
          <a:prstGeom prst="line">
            <a:avLst/>
          </a:prstGeom>
          <a:ln w="9525">
            <a:solidFill>
              <a:srgbClr val="C7D8D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571875" y="990600"/>
            <a:ext cx="0" cy="6896100"/>
          </a:xfrm>
          <a:prstGeom prst="line">
            <a:avLst/>
          </a:prstGeom>
          <a:ln w="9525">
            <a:solidFill>
              <a:srgbClr val="A4BCB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字：02"/>
          <p:cNvSpPr txBox="1"/>
          <p:nvPr/>
        </p:nvSpPr>
        <p:spPr>
          <a:xfrm>
            <a:off x="457200" y="1409700"/>
            <a:ext cx="2286000" cy="1666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500"/>
              </a:lnSpc>
              <a:spcBef>
                <a:spcPts val="0"/>
              </a:spcBef>
              <a:spcAft>
                <a:spcPts val="0"/>
              </a:spcAft>
            </a:pPr>
            <a:r>
              <a:rPr sz="13500" b="1" i="1">
                <a:solidFill>
                  <a:srgbClr val="073F32"/>
                </a:solidFill>
                <a:latin typeface="Times New Roman" panose="02020603050405020304"/>
                <a:ea typeface="Times New Roman" panose="02020603050405020304"/>
              </a:rPr>
              <a:t>02</a:t>
            </a:r>
            <a:endParaRPr sz="13500" b="1" i="1">
              <a:solidFill>
                <a:srgbClr val="073F32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cxnSp>
        <p:nvCxnSpPr>
          <p:cNvPr id="23" name="Connector 22"/>
          <p:cNvCxnSpPr/>
          <p:nvPr/>
        </p:nvCxnSpPr>
        <p:spPr>
          <a:xfrm flipV="1">
            <a:off x="2619375" y="1704975"/>
            <a:ext cx="514350" cy="1190625"/>
          </a:xfrm>
          <a:prstGeom prst="line">
            <a:avLst/>
          </a:prstGeom>
          <a:ln w="11429">
            <a:solidFill>
              <a:srgbClr val="073F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字：项目概述"/>
          <p:cNvSpPr txBox="1"/>
          <p:nvPr/>
        </p:nvSpPr>
        <p:spPr>
          <a:xfrm>
            <a:off x="485775" y="3114675"/>
            <a:ext cx="3000375" cy="838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5250"/>
              </a:lnSpc>
              <a:spcBef>
                <a:spcPts val="0"/>
              </a:spcBef>
              <a:spcAft>
                <a:spcPts val="0"/>
              </a:spcAft>
            </a:pPr>
            <a:r>
              <a:rPr sz="525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项目概述</a:t>
            </a:r>
            <a:endParaRPr sz="525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5" name="文字：系统定位、总体架构&#10;与作品形态"/>
          <p:cNvSpPr txBox="1"/>
          <p:nvPr/>
        </p:nvSpPr>
        <p:spPr>
          <a:xfrm>
            <a:off x="552450" y="4076700"/>
            <a:ext cx="2905125" cy="838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sz="217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系统定位、总体架构</a:t>
            </a:r>
            <a:br>
              <a:rPr sz="217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sz="217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与作品形态</a:t>
            </a:r>
            <a:endParaRPr sz="217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26" name="Connector 25"/>
          <p:cNvCxnSpPr/>
          <p:nvPr/>
        </p:nvCxnSpPr>
        <p:spPr>
          <a:xfrm>
            <a:off x="552450" y="5076825"/>
            <a:ext cx="400050" cy="0"/>
          </a:xfrm>
          <a:prstGeom prst="line">
            <a:avLst/>
          </a:prstGeom>
          <a:ln w="9525">
            <a:solidFill>
              <a:srgbClr val="073F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字：“用数字科技&#10; 让好茶更可控。”"/>
          <p:cNvSpPr txBox="1"/>
          <p:nvPr/>
        </p:nvSpPr>
        <p:spPr>
          <a:xfrm>
            <a:off x="457200" y="5314950"/>
            <a:ext cx="2990850" cy="1095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sz="2175" b="0">
                <a:solidFill>
                  <a:srgbClr val="073F32"/>
                </a:solidFill>
                <a:latin typeface="楷体" panose="02010609060101010101" charset="-122"/>
                <a:ea typeface="楷体" panose="02010609060101010101" charset="-122"/>
              </a:rPr>
              <a:t>“用数字科技</a:t>
            </a:r>
            <a:br>
              <a:rPr sz="2175" b="0">
                <a:solidFill>
                  <a:srgbClr val="073F32"/>
                </a:solidFill>
                <a:latin typeface="楷体" panose="02010609060101010101" charset="-122"/>
                <a:ea typeface="楷体" panose="02010609060101010101" charset="-122"/>
              </a:rPr>
            </a:br>
            <a:r>
              <a:rPr sz="2175" b="0">
                <a:solidFill>
                  <a:srgbClr val="073F32"/>
                </a:solidFill>
                <a:latin typeface="楷体" panose="02010609060101010101" charset="-122"/>
                <a:ea typeface="楷体" panose="02010609060101010101" charset="-122"/>
              </a:rPr>
              <a:t> 让好茶更可控。”</a:t>
            </a:r>
            <a:endParaRPr sz="2175" b="0">
              <a:solidFill>
                <a:srgbClr val="073F32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28" name="文字：中 国 茶 · 产 业 智 造 · 中 国 未 来"/>
          <p:cNvSpPr txBox="1"/>
          <p:nvPr/>
        </p:nvSpPr>
        <p:spPr>
          <a:xfrm>
            <a:off x="11791950" y="8439150"/>
            <a:ext cx="3619500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 国 茶 · 产 业 智 造 · 中 国 未 来</a:t>
            </a:r>
            <a:endParaRPr sz="13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9" name="文字：2.1 系统定位"/>
          <p:cNvSpPr txBox="1"/>
          <p:nvPr/>
        </p:nvSpPr>
        <p:spPr>
          <a:xfrm>
            <a:off x="3867150" y="981075"/>
            <a:ext cx="2447925" cy="514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3150"/>
              </a:lnSpc>
              <a:spcBef>
                <a:spcPts val="0"/>
              </a:spcBef>
              <a:spcAft>
                <a:spcPts val="0"/>
              </a:spcAft>
            </a:pPr>
            <a:r>
              <a:rPr sz="315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2.1 系统定位</a:t>
            </a:r>
            <a:endParaRPr sz="315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30" name="Connector 29"/>
          <p:cNvCxnSpPr/>
          <p:nvPr/>
        </p:nvCxnSpPr>
        <p:spPr>
          <a:xfrm>
            <a:off x="6400800" y="1085850"/>
            <a:ext cx="0" cy="304800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字：面向凤凰单丛做青的智能感知与精准控制系统"/>
          <p:cNvSpPr txBox="1"/>
          <p:nvPr/>
        </p:nvSpPr>
        <p:spPr>
          <a:xfrm>
            <a:off x="6572250" y="1038225"/>
            <a:ext cx="8934450" cy="4476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面向凤凰单丛做青的智能感知与精准控制系统</a:t>
            </a:r>
            <a:endParaRPr sz="210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2" name="可编辑框架"/>
          <p:cNvSpPr/>
          <p:nvPr/>
        </p:nvSpPr>
        <p:spPr>
          <a:xfrm>
            <a:off x="3924300" y="2247900"/>
            <a:ext cx="2533650" cy="1943100"/>
          </a:xfrm>
          <a:prstGeom prst="roundRect">
            <a:avLst>
              <a:gd name="adj" fmla="val 2500"/>
            </a:avLst>
          </a:prstGeom>
          <a:solidFill>
            <a:srgbClr val="F2F9F6"/>
          </a:solidFill>
          <a:ln>
            <a:solidFill>
              <a:srgbClr val="C8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可编辑框架"/>
          <p:cNvSpPr/>
          <p:nvPr/>
        </p:nvSpPr>
        <p:spPr>
          <a:xfrm>
            <a:off x="6848475" y="2247900"/>
            <a:ext cx="2533650" cy="1943100"/>
          </a:xfrm>
          <a:prstGeom prst="roundRect">
            <a:avLst>
              <a:gd name="adj" fmla="val 2500"/>
            </a:avLst>
          </a:prstGeom>
          <a:solidFill>
            <a:srgbClr val="F2F9F6"/>
          </a:solidFill>
          <a:ln>
            <a:solidFill>
              <a:srgbClr val="C8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可编辑框架"/>
          <p:cNvSpPr/>
          <p:nvPr/>
        </p:nvSpPr>
        <p:spPr>
          <a:xfrm>
            <a:off x="9791700" y="2247900"/>
            <a:ext cx="2628900" cy="1943100"/>
          </a:xfrm>
          <a:prstGeom prst="roundRect">
            <a:avLst>
              <a:gd name="adj" fmla="val 2500"/>
            </a:avLst>
          </a:prstGeom>
          <a:solidFill>
            <a:srgbClr val="F2F9F6"/>
          </a:solidFill>
          <a:ln>
            <a:solidFill>
              <a:srgbClr val="C8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可编辑框架"/>
          <p:cNvSpPr/>
          <p:nvPr/>
        </p:nvSpPr>
        <p:spPr>
          <a:xfrm>
            <a:off x="12849225" y="2247900"/>
            <a:ext cx="2695575" cy="1943100"/>
          </a:xfrm>
          <a:prstGeom prst="roundRect">
            <a:avLst>
              <a:gd name="adj" fmla="val 2500"/>
            </a:avLst>
          </a:prstGeom>
          <a:solidFill>
            <a:srgbClr val="F2F9F6"/>
          </a:solidFill>
          <a:ln>
            <a:solidFill>
              <a:srgbClr val="C8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可编辑框架"/>
          <p:cNvSpPr/>
          <p:nvPr/>
        </p:nvSpPr>
        <p:spPr>
          <a:xfrm>
            <a:off x="3924300" y="5019675"/>
            <a:ext cx="1419225" cy="2647950"/>
          </a:xfrm>
          <a:prstGeom prst="roundRect">
            <a:avLst>
              <a:gd name="adj" fmla="val 2500"/>
            </a:avLst>
          </a:prstGeom>
          <a:solidFill>
            <a:srgbClr val="F2F9F6"/>
          </a:solidFill>
          <a:ln>
            <a:solidFill>
              <a:srgbClr val="C8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可编辑框架"/>
          <p:cNvSpPr/>
          <p:nvPr/>
        </p:nvSpPr>
        <p:spPr>
          <a:xfrm>
            <a:off x="5495925" y="5019675"/>
            <a:ext cx="6915150" cy="2647950"/>
          </a:xfrm>
          <a:prstGeom prst="roundRect">
            <a:avLst>
              <a:gd name="adj" fmla="val 2500"/>
            </a:avLst>
          </a:prstGeom>
          <a:solidFill>
            <a:srgbClr val="F2F9F6"/>
          </a:solidFill>
          <a:ln>
            <a:solidFill>
              <a:srgbClr val="C8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可编辑框架"/>
          <p:cNvSpPr/>
          <p:nvPr/>
        </p:nvSpPr>
        <p:spPr>
          <a:xfrm>
            <a:off x="12973050" y="5019675"/>
            <a:ext cx="2571750" cy="2647950"/>
          </a:xfrm>
          <a:prstGeom prst="roundRect">
            <a:avLst>
              <a:gd name="adj" fmla="val 2500"/>
            </a:avLst>
          </a:prstGeom>
          <a:solidFill>
            <a:srgbClr val="F2F9F6"/>
          </a:solidFill>
          <a:ln>
            <a:solidFill>
              <a:srgbClr val="C8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可编辑框架"/>
          <p:cNvSpPr/>
          <p:nvPr/>
        </p:nvSpPr>
        <p:spPr>
          <a:xfrm>
            <a:off x="3924300" y="3848100"/>
            <a:ext cx="2533650" cy="342900"/>
          </a:xfrm>
          <a:prstGeom prst="rect">
            <a:avLst/>
          </a:prstGeom>
          <a:solidFill>
            <a:srgbClr val="E2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可编辑框架"/>
          <p:cNvSpPr/>
          <p:nvPr/>
        </p:nvSpPr>
        <p:spPr>
          <a:xfrm>
            <a:off x="6848475" y="3848100"/>
            <a:ext cx="2533650" cy="342900"/>
          </a:xfrm>
          <a:prstGeom prst="rect">
            <a:avLst/>
          </a:prstGeom>
          <a:solidFill>
            <a:srgbClr val="E2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可编辑框架"/>
          <p:cNvSpPr/>
          <p:nvPr/>
        </p:nvSpPr>
        <p:spPr>
          <a:xfrm>
            <a:off x="9791700" y="3848100"/>
            <a:ext cx="2628900" cy="342900"/>
          </a:xfrm>
          <a:prstGeom prst="rect">
            <a:avLst/>
          </a:prstGeom>
          <a:solidFill>
            <a:srgbClr val="E2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可编辑框架"/>
          <p:cNvSpPr/>
          <p:nvPr/>
        </p:nvSpPr>
        <p:spPr>
          <a:xfrm>
            <a:off x="12849225" y="3848100"/>
            <a:ext cx="2695575" cy="342900"/>
          </a:xfrm>
          <a:prstGeom prst="rect">
            <a:avLst/>
          </a:prstGeom>
          <a:solidFill>
            <a:srgbClr val="E2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可编辑框架"/>
          <p:cNvSpPr/>
          <p:nvPr/>
        </p:nvSpPr>
        <p:spPr>
          <a:xfrm>
            <a:off x="3867150" y="7715250"/>
            <a:ext cx="11677650" cy="428625"/>
          </a:xfrm>
          <a:prstGeom prst="roundRect">
            <a:avLst>
              <a:gd name="adj" fmla="val 2500"/>
            </a:avLst>
          </a:prstGeom>
          <a:solidFill>
            <a:srgbClr val="095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独立照片或曲线图（内部为像素）" descr="p05_photo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5950" y="5962650"/>
            <a:ext cx="685800" cy="838200"/>
          </a:xfrm>
          <a:prstGeom prst="rect">
            <a:avLst/>
          </a:prstGeom>
        </p:spPr>
      </p:pic>
      <p:pic>
        <p:nvPicPr>
          <p:cNvPr id="45" name="独立照片或曲线图（内部为像素）" descr="p05_photo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5962650"/>
            <a:ext cx="685800" cy="419100"/>
          </a:xfrm>
          <a:prstGeom prst="rect">
            <a:avLst/>
          </a:prstGeom>
        </p:spPr>
      </p:pic>
      <p:pic>
        <p:nvPicPr>
          <p:cNvPr id="46" name="独立照片或曲线图（内部为像素）" descr="p05_photo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6400800"/>
            <a:ext cx="685800" cy="409575"/>
          </a:xfrm>
          <a:prstGeom prst="rect">
            <a:avLst/>
          </a:prstGeom>
        </p:spPr>
      </p:pic>
      <p:pic>
        <p:nvPicPr>
          <p:cNvPr id="47" name="独立照片或曲线图（内部为像素）" descr="p05_photo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19975" y="5953125"/>
            <a:ext cx="1390650" cy="838200"/>
          </a:xfrm>
          <a:prstGeom prst="rect">
            <a:avLst/>
          </a:prstGeom>
        </p:spPr>
      </p:pic>
      <p:pic>
        <p:nvPicPr>
          <p:cNvPr id="48" name="独立照片或曲线图（内部为像素）" descr="p05_photo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05900" y="5953125"/>
            <a:ext cx="1362075" cy="838200"/>
          </a:xfrm>
          <a:prstGeom prst="rect">
            <a:avLst/>
          </a:prstGeom>
        </p:spPr>
      </p:pic>
      <p:pic>
        <p:nvPicPr>
          <p:cNvPr id="49" name="独立照片或曲线图（内部为像素）" descr="p05_photo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53725" y="5962650"/>
            <a:ext cx="1428750" cy="847725"/>
          </a:xfrm>
          <a:prstGeom prst="rect">
            <a:avLst/>
          </a:prstGeom>
        </p:spPr>
      </p:pic>
      <p:pic>
        <p:nvPicPr>
          <p:cNvPr id="50" name="独立图标或流程线" descr="p05_icon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10875" y="2343150"/>
            <a:ext cx="533400" cy="533400"/>
          </a:xfrm>
          <a:prstGeom prst="rect">
            <a:avLst/>
          </a:prstGeom>
        </p:spPr>
      </p:pic>
      <p:pic>
        <p:nvPicPr>
          <p:cNvPr id="51" name="独立图标或流程线" descr="p05_icon1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954125" y="2343150"/>
            <a:ext cx="590550" cy="542925"/>
          </a:xfrm>
          <a:prstGeom prst="rect">
            <a:avLst/>
          </a:prstGeom>
        </p:spPr>
      </p:pic>
      <p:pic>
        <p:nvPicPr>
          <p:cNvPr id="52" name="独立图标或流程线" descr="p05_icon2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14900" y="2352675"/>
            <a:ext cx="552450" cy="523874"/>
          </a:xfrm>
          <a:prstGeom prst="rect">
            <a:avLst/>
          </a:prstGeom>
        </p:spPr>
      </p:pic>
      <p:pic>
        <p:nvPicPr>
          <p:cNvPr id="53" name="独立图标或流程线" descr="p05_icon3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20025" y="2390775"/>
            <a:ext cx="561975" cy="495299"/>
          </a:xfrm>
          <a:prstGeom prst="rect">
            <a:avLst/>
          </a:prstGeom>
        </p:spPr>
      </p:pic>
      <p:pic>
        <p:nvPicPr>
          <p:cNvPr id="54" name="独立图标或流程线" descr="p05_icon4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62725" y="2867025"/>
            <a:ext cx="180975" cy="276225"/>
          </a:xfrm>
          <a:prstGeom prst="rect">
            <a:avLst/>
          </a:prstGeom>
        </p:spPr>
      </p:pic>
      <p:pic>
        <p:nvPicPr>
          <p:cNvPr id="55" name="独立图标或流程线" descr="p05_icon5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496425" y="2867025"/>
            <a:ext cx="180975" cy="276225"/>
          </a:xfrm>
          <a:prstGeom prst="rect">
            <a:avLst/>
          </a:prstGeom>
        </p:spPr>
      </p:pic>
      <p:pic>
        <p:nvPicPr>
          <p:cNvPr id="56" name="独立图标或流程线" descr="p05_icon6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534900" y="2867025"/>
            <a:ext cx="190500" cy="276225"/>
          </a:xfrm>
          <a:prstGeom prst="rect">
            <a:avLst/>
          </a:prstGeom>
        </p:spPr>
      </p:pic>
      <p:pic>
        <p:nvPicPr>
          <p:cNvPr id="57" name="独立图标或流程线" descr="p05_icon7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43650" y="4524375"/>
            <a:ext cx="85725" cy="314325"/>
          </a:xfrm>
          <a:prstGeom prst="rect">
            <a:avLst/>
          </a:prstGeom>
        </p:spPr>
      </p:pic>
      <p:pic>
        <p:nvPicPr>
          <p:cNvPr id="58" name="独立图标或流程线" descr="p05_icon8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095750" y="5181600"/>
            <a:ext cx="352425" cy="342900"/>
          </a:xfrm>
          <a:prstGeom prst="rect">
            <a:avLst/>
          </a:prstGeom>
        </p:spPr>
      </p:pic>
      <p:pic>
        <p:nvPicPr>
          <p:cNvPr id="59" name="独立图标或流程线" descr="p05_icon9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3182600" y="5191125"/>
            <a:ext cx="466724" cy="419100"/>
          </a:xfrm>
          <a:prstGeom prst="rect">
            <a:avLst/>
          </a:prstGeom>
        </p:spPr>
      </p:pic>
      <p:pic>
        <p:nvPicPr>
          <p:cNvPr id="60" name="独立图标或流程线" descr="p05_icon10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134225" y="5600700"/>
            <a:ext cx="209550" cy="209550"/>
          </a:xfrm>
          <a:prstGeom prst="rect">
            <a:avLst/>
          </a:prstGeom>
        </p:spPr>
      </p:pic>
      <p:pic>
        <p:nvPicPr>
          <p:cNvPr id="61" name="独立图标或流程线" descr="p05_icon11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839200" y="5600700"/>
            <a:ext cx="200025" cy="209550"/>
          </a:xfrm>
          <a:prstGeom prst="rect">
            <a:avLst/>
          </a:prstGeom>
        </p:spPr>
      </p:pic>
      <p:pic>
        <p:nvPicPr>
          <p:cNvPr id="62" name="独立图标或流程线" descr="p05_icon12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515600" y="5600700"/>
            <a:ext cx="200025" cy="209550"/>
          </a:xfrm>
          <a:prstGeom prst="rect">
            <a:avLst/>
          </a:prstGeom>
        </p:spPr>
      </p:pic>
      <p:pic>
        <p:nvPicPr>
          <p:cNvPr id="63" name="独立图标或流程线" descr="p05_icon13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143375" y="5638800"/>
            <a:ext cx="247649" cy="390525"/>
          </a:xfrm>
          <a:prstGeom prst="rect">
            <a:avLst/>
          </a:prstGeom>
        </p:spPr>
      </p:pic>
      <p:pic>
        <p:nvPicPr>
          <p:cNvPr id="64" name="独立图标或流程线" descr="p05_icon14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3192125" y="5791200"/>
            <a:ext cx="447675" cy="485775"/>
          </a:xfrm>
          <a:prstGeom prst="rect">
            <a:avLst/>
          </a:prstGeom>
        </p:spPr>
      </p:pic>
      <p:pic>
        <p:nvPicPr>
          <p:cNvPr id="65" name="独立图标或流程线" descr="p05_icon15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372100" y="6105525"/>
            <a:ext cx="219075" cy="200025"/>
          </a:xfrm>
          <a:prstGeom prst="rect">
            <a:avLst/>
          </a:prstGeom>
        </p:spPr>
      </p:pic>
      <p:pic>
        <p:nvPicPr>
          <p:cNvPr id="66" name="独立图标或流程线" descr="p05_icon16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086225" y="6162675"/>
            <a:ext cx="361950" cy="323850"/>
          </a:xfrm>
          <a:prstGeom prst="rect">
            <a:avLst/>
          </a:prstGeom>
        </p:spPr>
      </p:pic>
      <p:pic>
        <p:nvPicPr>
          <p:cNvPr id="67" name="独立图标或流程线" descr="p05_icon17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3182600" y="6429375"/>
            <a:ext cx="466724" cy="476250"/>
          </a:xfrm>
          <a:prstGeom prst="rect">
            <a:avLst/>
          </a:prstGeom>
        </p:spPr>
      </p:pic>
      <p:pic>
        <p:nvPicPr>
          <p:cNvPr id="68" name="独立图标或流程线" descr="p05_icon18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114800" y="6619875"/>
            <a:ext cx="304800" cy="361950"/>
          </a:xfrm>
          <a:prstGeom prst="rect">
            <a:avLst/>
          </a:prstGeom>
        </p:spPr>
      </p:pic>
      <p:pic>
        <p:nvPicPr>
          <p:cNvPr id="69" name="独立图标或流程线" descr="p05_icon19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105525" y="7010400"/>
            <a:ext cx="5419725" cy="371475"/>
          </a:xfrm>
          <a:prstGeom prst="rect">
            <a:avLst/>
          </a:prstGeom>
        </p:spPr>
      </p:pic>
      <p:pic>
        <p:nvPicPr>
          <p:cNvPr id="70" name="独立图标或流程线" descr="p05_icon20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3182600" y="7086600"/>
            <a:ext cx="466724" cy="457200"/>
          </a:xfrm>
          <a:prstGeom prst="rect">
            <a:avLst/>
          </a:prstGeom>
        </p:spPr>
      </p:pic>
      <p:pic>
        <p:nvPicPr>
          <p:cNvPr id="71" name="独立图标或流程线" descr="p05_icon21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4114800" y="7115175"/>
            <a:ext cx="304800" cy="361950"/>
          </a:xfrm>
          <a:prstGeom prst="rect">
            <a:avLst/>
          </a:prstGeom>
        </p:spPr>
      </p:pic>
      <p:sp>
        <p:nvSpPr>
          <p:cNvPr id="72" name="文字：青韵智控面向凤凰单丛做青环节，构建“多模态感知一状态估计一工艺决策一执"/>
          <p:cNvSpPr txBox="1"/>
          <p:nvPr/>
        </p:nvSpPr>
        <p:spPr>
          <a:xfrm>
            <a:off x="3933825" y="1543050"/>
            <a:ext cx="88011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25"/>
              </a:lnSpc>
              <a:spcBef>
                <a:spcPts val="0"/>
              </a:spcBef>
              <a:spcAft>
                <a:spcPts val="0"/>
              </a:spcAft>
            </a:pPr>
            <a:r>
              <a:rPr sz="152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青韵智控面向凤凰单丛做青环节，构建“多模态感知一状态估计一工艺决策一执行控制”一体化系统，</a:t>
            </a:r>
            <a:endParaRPr sz="152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3" name="文字：实现做青过程的状态实时感知、关键指标智能判断与工艺参数精准控制，以数字"/>
          <p:cNvSpPr txBox="1"/>
          <p:nvPr/>
        </p:nvSpPr>
        <p:spPr>
          <a:xfrm>
            <a:off x="3914775" y="1819275"/>
            <a:ext cx="9029700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30"/>
              </a:lnSpc>
              <a:spcBef>
                <a:spcPts val="0"/>
              </a:spcBef>
              <a:spcAft>
                <a:spcPts val="0"/>
              </a:spcAft>
            </a:pPr>
            <a:r>
              <a:rPr sz="153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实现做青过程的状态实时感知、关键指标智能判断与工艺参数精准控制，以数字科技重塑传统制茶工艺。</a:t>
            </a:r>
            <a:endParaRPr sz="153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4" name="文字：多模态感知"/>
          <p:cNvSpPr txBox="1"/>
          <p:nvPr/>
        </p:nvSpPr>
        <p:spPr>
          <a:xfrm>
            <a:off x="4581525" y="2924175"/>
            <a:ext cx="1323975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多模态感知</a:t>
            </a:r>
            <a:endParaRPr sz="195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5" name="文字：状态估计"/>
          <p:cNvSpPr txBox="1"/>
          <p:nvPr/>
        </p:nvSpPr>
        <p:spPr>
          <a:xfrm>
            <a:off x="7610475" y="2905125"/>
            <a:ext cx="1095375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985"/>
              </a:lnSpc>
              <a:spcBef>
                <a:spcPts val="0"/>
              </a:spcBef>
              <a:spcAft>
                <a:spcPts val="0"/>
              </a:spcAft>
            </a:pPr>
            <a:r>
              <a:rPr sz="1985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状态估计</a:t>
            </a:r>
            <a:endParaRPr sz="1985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6" name="文字：工艺决策"/>
          <p:cNvSpPr txBox="1"/>
          <p:nvPr/>
        </p:nvSpPr>
        <p:spPr>
          <a:xfrm>
            <a:off x="10610850" y="2933700"/>
            <a:ext cx="1066800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75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工艺决策</a:t>
            </a:r>
            <a:endParaRPr sz="175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7" name="文字：执行控制"/>
          <p:cNvSpPr txBox="1"/>
          <p:nvPr/>
        </p:nvSpPr>
        <p:spPr>
          <a:xfrm>
            <a:off x="13725525" y="2914650"/>
            <a:ext cx="1085850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955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执行控制</a:t>
            </a:r>
            <a:endParaRPr sz="1955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8" name="文字：采集温湿度、香气、图像等"/>
          <p:cNvSpPr txBox="1"/>
          <p:nvPr/>
        </p:nvSpPr>
        <p:spPr>
          <a:xfrm>
            <a:off x="4162425" y="3324225"/>
            <a:ext cx="2219325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采集温湿度、香气、图像等</a:t>
            </a:r>
            <a:endParaRPr sz="13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9" name="文字：融合多源信息，判断做青"/>
          <p:cNvSpPr txBox="1"/>
          <p:nvPr/>
        </p:nvSpPr>
        <p:spPr>
          <a:xfrm>
            <a:off x="7172325" y="3286125"/>
            <a:ext cx="1971675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融合多源信息，判断做青</a:t>
            </a:r>
            <a:endParaRPr sz="13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0" name="文字：生成个性化做青控制策略"/>
          <p:cNvSpPr txBox="1"/>
          <p:nvPr/>
        </p:nvSpPr>
        <p:spPr>
          <a:xfrm>
            <a:off x="10153650" y="3286125"/>
            <a:ext cx="2009775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生成个性化做青控制策略</a:t>
            </a:r>
            <a:endParaRPr sz="13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1" name="文字：驱动设备完成精准控制"/>
          <p:cNvSpPr txBox="1"/>
          <p:nvPr/>
        </p:nvSpPr>
        <p:spPr>
          <a:xfrm>
            <a:off x="13335000" y="3286125"/>
            <a:ext cx="1847850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驱动设备完成精准控制</a:t>
            </a:r>
            <a:endParaRPr sz="13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2" name="文字：多维度信息"/>
          <p:cNvSpPr txBox="1"/>
          <p:nvPr/>
        </p:nvSpPr>
        <p:spPr>
          <a:xfrm>
            <a:off x="4752975" y="3552825"/>
            <a:ext cx="100965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55"/>
              </a:lnSpc>
              <a:spcBef>
                <a:spcPts val="0"/>
              </a:spcBef>
              <a:spcAft>
                <a:spcPts val="0"/>
              </a:spcAft>
            </a:pPr>
            <a:r>
              <a:rPr sz="145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多维度信息</a:t>
            </a:r>
            <a:endParaRPr sz="145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3" name="文字：状态与发展趋势"/>
          <p:cNvSpPr txBox="1"/>
          <p:nvPr/>
        </p:nvSpPr>
        <p:spPr>
          <a:xfrm>
            <a:off x="7496175" y="3524250"/>
            <a:ext cx="1333500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05"/>
              </a:lnSpc>
              <a:spcBef>
                <a:spcPts val="0"/>
              </a:spcBef>
              <a:spcAft>
                <a:spcPts val="0"/>
              </a:spcAft>
            </a:pPr>
            <a:r>
              <a:rPr sz="140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状态与发展趋势</a:t>
            </a:r>
            <a:endParaRPr sz="140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4" name="文字：（时间、温度、翻叶频率等）"/>
          <p:cNvSpPr txBox="1"/>
          <p:nvPr/>
        </p:nvSpPr>
        <p:spPr>
          <a:xfrm>
            <a:off x="10077450" y="3524250"/>
            <a:ext cx="2162175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255"/>
              </a:lnSpc>
              <a:spcBef>
                <a:spcPts val="0"/>
              </a:spcBef>
              <a:spcAft>
                <a:spcPts val="0"/>
              </a:spcAft>
            </a:pPr>
            <a:r>
              <a:rPr sz="125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（时间、温度、翻叶频率等）</a:t>
            </a:r>
            <a:endParaRPr sz="125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5" name="文字：实现稳定、优质、可复制"/>
          <p:cNvSpPr txBox="1"/>
          <p:nvPr/>
        </p:nvSpPr>
        <p:spPr>
          <a:xfrm>
            <a:off x="13249275" y="3524250"/>
            <a:ext cx="2019300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实现稳定、优质、可复制</a:t>
            </a:r>
            <a:endParaRPr sz="13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6" name="文字：看得见"/>
          <p:cNvSpPr txBox="1"/>
          <p:nvPr/>
        </p:nvSpPr>
        <p:spPr>
          <a:xfrm>
            <a:off x="4857750" y="3886200"/>
            <a:ext cx="800100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看得见</a:t>
            </a:r>
            <a:endParaRPr sz="162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7" name="文字：看得准"/>
          <p:cNvSpPr txBox="1"/>
          <p:nvPr/>
        </p:nvSpPr>
        <p:spPr>
          <a:xfrm>
            <a:off x="7781925" y="3886200"/>
            <a:ext cx="800100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看得准</a:t>
            </a:r>
            <a:endParaRPr sz="162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8" name="文字：控得住"/>
          <p:cNvSpPr txBox="1"/>
          <p:nvPr/>
        </p:nvSpPr>
        <p:spPr>
          <a:xfrm>
            <a:off x="10744200" y="3886200"/>
            <a:ext cx="828675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控得住</a:t>
            </a:r>
            <a:endParaRPr sz="162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9" name="文字：可复制"/>
          <p:cNvSpPr txBox="1"/>
          <p:nvPr/>
        </p:nvSpPr>
        <p:spPr>
          <a:xfrm>
            <a:off x="13858875" y="3886200"/>
            <a:ext cx="819150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可复制</a:t>
            </a:r>
            <a:endParaRPr sz="162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0" name="文字：2.2 总体架构"/>
          <p:cNvSpPr txBox="1"/>
          <p:nvPr/>
        </p:nvSpPr>
        <p:spPr>
          <a:xfrm>
            <a:off x="4000500" y="4467225"/>
            <a:ext cx="22479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495"/>
              </a:lnSpc>
              <a:spcBef>
                <a:spcPts val="0"/>
              </a:spcBef>
              <a:spcAft>
                <a:spcPts val="0"/>
              </a:spcAft>
            </a:pPr>
            <a:r>
              <a:rPr sz="2495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2.2 总体架构</a:t>
            </a:r>
            <a:endParaRPr sz="2495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1" name="文字：数据驱动·闭环控制·持续优化"/>
          <p:cNvSpPr txBox="1"/>
          <p:nvPr/>
        </p:nvSpPr>
        <p:spPr>
          <a:xfrm>
            <a:off x="6610350" y="4552950"/>
            <a:ext cx="3562350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75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数据驱动·闭环控制·持续优化</a:t>
            </a:r>
            <a:endParaRPr sz="175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2" name="文字：2.3作品形态"/>
          <p:cNvSpPr txBox="1"/>
          <p:nvPr/>
        </p:nvSpPr>
        <p:spPr>
          <a:xfrm>
            <a:off x="13068300" y="4514850"/>
            <a:ext cx="2066925" cy="3714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295"/>
              </a:lnSpc>
              <a:spcBef>
                <a:spcPts val="0"/>
              </a:spcBef>
              <a:spcAft>
                <a:spcPts val="0"/>
              </a:spcAft>
            </a:pPr>
            <a:r>
              <a:rPr sz="2295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2.3作品形态</a:t>
            </a:r>
            <a:endParaRPr sz="2295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3" name="文字：鲜叶信息"/>
          <p:cNvSpPr txBox="1"/>
          <p:nvPr/>
        </p:nvSpPr>
        <p:spPr>
          <a:xfrm>
            <a:off x="4533900" y="5210175"/>
            <a:ext cx="752475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10"/>
              </a:lnSpc>
              <a:spcBef>
                <a:spcPts val="0"/>
              </a:spcBef>
              <a:spcAft>
                <a:spcPts val="0"/>
              </a:spcAft>
            </a:pPr>
            <a:r>
              <a:rPr sz="131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鲜叶信息</a:t>
            </a:r>
            <a:endParaRPr sz="131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4" name="文字：感知硬件模块"/>
          <p:cNvSpPr txBox="1"/>
          <p:nvPr/>
        </p:nvSpPr>
        <p:spPr>
          <a:xfrm>
            <a:off x="13830300" y="5143500"/>
            <a:ext cx="1171575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15"/>
              </a:lnSpc>
              <a:spcBef>
                <a:spcPts val="0"/>
              </a:spcBef>
              <a:spcAft>
                <a:spcPts val="0"/>
              </a:spcAft>
            </a:pPr>
            <a:r>
              <a:rPr sz="141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感知硬件模块</a:t>
            </a:r>
            <a:endParaRPr sz="141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5" name="文字：多模态感知"/>
          <p:cNvSpPr txBox="1"/>
          <p:nvPr/>
        </p:nvSpPr>
        <p:spPr>
          <a:xfrm>
            <a:off x="5953125" y="5362575"/>
            <a:ext cx="1009650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15"/>
              </a:lnSpc>
              <a:spcBef>
                <a:spcPts val="0"/>
              </a:spcBef>
              <a:spcAft>
                <a:spcPts val="0"/>
              </a:spcAft>
            </a:pPr>
            <a:r>
              <a:rPr sz="141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多模态感知</a:t>
            </a:r>
            <a:endParaRPr sz="141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6" name="文字：状态估计"/>
          <p:cNvSpPr txBox="1"/>
          <p:nvPr/>
        </p:nvSpPr>
        <p:spPr>
          <a:xfrm>
            <a:off x="7743825" y="5362575"/>
            <a:ext cx="838200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80"/>
              </a:lnSpc>
              <a:spcBef>
                <a:spcPts val="0"/>
              </a:spcBef>
              <a:spcAft>
                <a:spcPts val="0"/>
              </a:spcAft>
            </a:pPr>
            <a:r>
              <a:rPr sz="148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状态估计</a:t>
            </a:r>
            <a:endParaRPr sz="148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7" name="文字：工艺决策"/>
          <p:cNvSpPr txBox="1"/>
          <p:nvPr/>
        </p:nvSpPr>
        <p:spPr>
          <a:xfrm>
            <a:off x="9429750" y="5353050"/>
            <a:ext cx="847725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85"/>
              </a:lnSpc>
              <a:spcBef>
                <a:spcPts val="0"/>
              </a:spcBef>
              <a:spcAft>
                <a:spcPts val="0"/>
              </a:spcAft>
            </a:pPr>
            <a:r>
              <a:rPr sz="148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工艺决策</a:t>
            </a:r>
            <a:endParaRPr sz="148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8" name="文字：执行控制"/>
          <p:cNvSpPr txBox="1"/>
          <p:nvPr/>
        </p:nvSpPr>
        <p:spPr>
          <a:xfrm>
            <a:off x="11115675" y="5353050"/>
            <a:ext cx="857250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85"/>
              </a:lnSpc>
              <a:spcBef>
                <a:spcPts val="0"/>
              </a:spcBef>
              <a:spcAft>
                <a:spcPts val="0"/>
              </a:spcAft>
            </a:pPr>
            <a:r>
              <a:rPr sz="148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执行控制</a:t>
            </a:r>
            <a:endParaRPr sz="148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9" name="文字：(可集成、可迁移)"/>
          <p:cNvSpPr txBox="1"/>
          <p:nvPr/>
        </p:nvSpPr>
        <p:spPr>
          <a:xfrm>
            <a:off x="13820775" y="5410200"/>
            <a:ext cx="1362075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255"/>
              </a:lnSpc>
              <a:spcBef>
                <a:spcPts val="0"/>
              </a:spcBef>
              <a:spcAft>
                <a:spcPts val="0"/>
              </a:spcAft>
            </a:pPr>
            <a:r>
              <a:rPr sz="125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(可集成、可迁移)</a:t>
            </a:r>
            <a:endParaRPr sz="125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0" name="文字：（数据采集与预处理）"/>
          <p:cNvSpPr txBox="1"/>
          <p:nvPr/>
        </p:nvSpPr>
        <p:spPr>
          <a:xfrm>
            <a:off x="5781675" y="5610225"/>
            <a:ext cx="1333500" cy="2190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980"/>
              </a:lnSpc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（数据采集与预处理）</a:t>
            </a:r>
            <a:endParaRPr sz="98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1" name="文字：（特征提取与融合）"/>
          <p:cNvSpPr txBox="1"/>
          <p:nvPr/>
        </p:nvSpPr>
        <p:spPr>
          <a:xfrm>
            <a:off x="7543800" y="5600700"/>
            <a:ext cx="1219200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990"/>
              </a:lnSpc>
              <a:spcBef>
                <a:spcPts val="0"/>
              </a:spcBef>
              <a:spcAft>
                <a:spcPts val="0"/>
              </a:spcAft>
            </a:pPr>
            <a:r>
              <a:rPr sz="99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（特征提取与融合）</a:t>
            </a:r>
            <a:endParaRPr sz="99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2" name="文字：（控制策略生成）"/>
          <p:cNvSpPr txBox="1"/>
          <p:nvPr/>
        </p:nvSpPr>
        <p:spPr>
          <a:xfrm>
            <a:off x="9315450" y="5610225"/>
            <a:ext cx="1076325" cy="2190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975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（控制策略生成）</a:t>
            </a:r>
            <a:endParaRPr sz="97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3" name="文字：（设备驱动与反馈）"/>
          <p:cNvSpPr txBox="1"/>
          <p:nvPr/>
        </p:nvSpPr>
        <p:spPr>
          <a:xfrm>
            <a:off x="10944225" y="5610225"/>
            <a:ext cx="1200150" cy="2190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975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（设备驱动与反馈）</a:t>
            </a:r>
            <a:endParaRPr sz="97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4" name="文字：环境参数"/>
          <p:cNvSpPr txBox="1"/>
          <p:nvPr/>
        </p:nvSpPr>
        <p:spPr>
          <a:xfrm>
            <a:off x="4533900" y="5734050"/>
            <a:ext cx="762000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33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环境参数</a:t>
            </a:r>
            <a:endParaRPr sz="133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5" name="文字：控制软件系统"/>
          <p:cNvSpPr txBox="1"/>
          <p:nvPr/>
        </p:nvSpPr>
        <p:spPr>
          <a:xfrm>
            <a:off x="13830300" y="5800725"/>
            <a:ext cx="1181100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控制软件系统</a:t>
            </a:r>
            <a:endParaRPr sz="13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6" name="文字：（算法模型+控制策略）"/>
          <p:cNvSpPr txBox="1"/>
          <p:nvPr/>
        </p:nvSpPr>
        <p:spPr>
          <a:xfrm>
            <a:off x="13820775" y="6057900"/>
            <a:ext cx="1657350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118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（算法模型+控制策略）</a:t>
            </a:r>
            <a:endParaRPr sz="118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7" name="文字：图像数据"/>
          <p:cNvSpPr txBox="1"/>
          <p:nvPr/>
        </p:nvSpPr>
        <p:spPr>
          <a:xfrm>
            <a:off x="4533900" y="6219825"/>
            <a:ext cx="7429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280"/>
              </a:lnSpc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图像数据</a:t>
            </a:r>
            <a:endParaRPr sz="128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8" name="文字：设备集成方案"/>
          <p:cNvSpPr txBox="1"/>
          <p:nvPr/>
        </p:nvSpPr>
        <p:spPr>
          <a:xfrm>
            <a:off x="13839825" y="6438900"/>
            <a:ext cx="1162050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</a:pPr>
            <a:r>
              <a:rPr sz="141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设备集成方案</a:t>
            </a:r>
            <a:endParaRPr sz="141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9" name="文字：香气数据"/>
          <p:cNvSpPr txBox="1"/>
          <p:nvPr/>
        </p:nvSpPr>
        <p:spPr>
          <a:xfrm>
            <a:off x="4543425" y="6686550"/>
            <a:ext cx="742950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295"/>
              </a:lnSpc>
              <a:spcBef>
                <a:spcPts val="0"/>
              </a:spcBef>
              <a:spcAft>
                <a:spcPts val="0"/>
              </a:spcAft>
            </a:pPr>
            <a:r>
              <a:rPr sz="129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香气数据</a:t>
            </a:r>
            <a:endParaRPr sz="129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0" name="文字：（适配现有做青设备）"/>
          <p:cNvSpPr txBox="1"/>
          <p:nvPr/>
        </p:nvSpPr>
        <p:spPr>
          <a:xfrm>
            <a:off x="13839825" y="6715125"/>
            <a:ext cx="148590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（适配现有做青设备）</a:t>
            </a:r>
            <a:endParaRPr sz="11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1" name="文字：执行反馈与数据闭环"/>
          <p:cNvSpPr txBox="1"/>
          <p:nvPr/>
        </p:nvSpPr>
        <p:spPr>
          <a:xfrm>
            <a:off x="8229600" y="7038975"/>
            <a:ext cx="1524000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执行反馈与数据闭环</a:t>
            </a:r>
            <a:endParaRPr sz="126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2" name="文字：数据分析平台"/>
          <p:cNvSpPr txBox="1"/>
          <p:nvPr/>
        </p:nvSpPr>
        <p:spPr>
          <a:xfrm>
            <a:off x="13830300" y="7077075"/>
            <a:ext cx="1162050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</a:pPr>
            <a:r>
              <a:rPr sz="141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数据分析平台</a:t>
            </a:r>
            <a:endParaRPr sz="141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3" name="文字：历史数据"/>
          <p:cNvSpPr txBox="1"/>
          <p:nvPr/>
        </p:nvSpPr>
        <p:spPr>
          <a:xfrm>
            <a:off x="4533900" y="7181850"/>
            <a:ext cx="762000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33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历史数据</a:t>
            </a:r>
            <a:endParaRPr sz="133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4" name="文字：（过程可视化与记录）"/>
          <p:cNvSpPr txBox="1"/>
          <p:nvPr/>
        </p:nvSpPr>
        <p:spPr>
          <a:xfrm>
            <a:off x="13830300" y="7334250"/>
            <a:ext cx="1495425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110"/>
              </a:lnSpc>
              <a:spcBef>
                <a:spcPts val="0"/>
              </a:spcBef>
              <a:spcAft>
                <a:spcPts val="0"/>
              </a:spcAft>
            </a:pPr>
            <a:r>
              <a:rPr sz="111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（过程可视化与记录）</a:t>
            </a:r>
            <a:endParaRPr sz="111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5" name="文字：以数字科技传承茶香"/>
          <p:cNvSpPr txBox="1"/>
          <p:nvPr/>
        </p:nvSpPr>
        <p:spPr>
          <a:xfrm>
            <a:off x="7048500" y="7829222"/>
            <a:ext cx="213360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以数字科技传承茶香</a:t>
            </a:r>
            <a:endParaRPr sz="1550" b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6" name="文字：让传统工艺焕发新生"/>
          <p:cNvSpPr txBox="1"/>
          <p:nvPr/>
        </p:nvSpPr>
        <p:spPr>
          <a:xfrm>
            <a:off x="9467850" y="7821831"/>
            <a:ext cx="217170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让传统工艺焕发新生</a:t>
            </a:r>
            <a:endParaRPr sz="1550" b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共享背景：原图茶园风景（无内容组件）" descr="landscap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5925800" cy="8963025"/>
          </a:xfrm>
          <a:prstGeom prst="rect">
            <a:avLst/>
          </a:prstGeom>
        </p:spPr>
      </p:pic>
      <p:sp>
        <p:nvSpPr>
          <p:cNvPr id="3" name="可编辑框架"/>
          <p:cNvSpPr/>
          <p:nvPr/>
        </p:nvSpPr>
        <p:spPr>
          <a:xfrm>
            <a:off x="0" y="0"/>
            <a:ext cx="15925800" cy="723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：青韵智控"/>
          <p:cNvSpPr txBox="1"/>
          <p:nvPr/>
        </p:nvSpPr>
        <p:spPr>
          <a:xfrm>
            <a:off x="361950" y="190500"/>
            <a:ext cx="13335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73F32"/>
                </a:solidFill>
                <a:latin typeface="微软雅黑" panose="020B0503020204020204" charset="-122"/>
                <a:ea typeface="微软雅黑" panose="020B0503020204020204" charset="-122"/>
              </a:rPr>
              <a:t>青韵智控</a:t>
            </a:r>
            <a:endParaRPr sz="2400" b="1">
              <a:solidFill>
                <a:srgbClr val="073F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1819275" y="257175"/>
            <a:ext cx="0" cy="2762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字：让传统制茶更可控"/>
          <p:cNvSpPr txBox="1"/>
          <p:nvPr/>
        </p:nvSpPr>
        <p:spPr>
          <a:xfrm>
            <a:off x="2076450" y="238125"/>
            <a:ext cx="2190750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让传统制茶更可控</a:t>
            </a:r>
            <a:endParaRPr sz="18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文字：项目背景"/>
          <p:cNvSpPr txBox="1"/>
          <p:nvPr/>
        </p:nvSpPr>
        <p:spPr>
          <a:xfrm>
            <a:off x="8515350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项目背景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9486900" y="323850"/>
            <a:ext cx="0" cy="1619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字：项目概述"/>
          <p:cNvSpPr txBox="1"/>
          <p:nvPr/>
        </p:nvSpPr>
        <p:spPr>
          <a:xfrm>
            <a:off x="9648825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项目概述</a:t>
            </a:r>
            <a:endParaRPr sz="150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10620375" y="323850"/>
            <a:ext cx="0" cy="1619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886950" y="628650"/>
            <a:ext cx="381000" cy="0"/>
          </a:xfrm>
          <a:prstGeom prst="line">
            <a:avLst/>
          </a:prstGeom>
          <a:ln w="19050">
            <a:solidFill>
              <a:srgbClr val="073F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字：关键技术"/>
          <p:cNvSpPr txBox="1"/>
          <p:nvPr/>
        </p:nvSpPr>
        <p:spPr>
          <a:xfrm>
            <a:off x="10782300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关键技术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3" name="Connector 12"/>
          <p:cNvCxnSpPr/>
          <p:nvPr/>
        </p:nvCxnSpPr>
        <p:spPr>
          <a:xfrm>
            <a:off x="11753850" y="323850"/>
            <a:ext cx="0" cy="1619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字：实施与验证"/>
          <p:cNvSpPr txBox="1"/>
          <p:nvPr/>
        </p:nvSpPr>
        <p:spPr>
          <a:xfrm>
            <a:off x="11915775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实施与验证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12887325" y="323850"/>
            <a:ext cx="0" cy="1619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字：商业模式"/>
          <p:cNvSpPr txBox="1"/>
          <p:nvPr/>
        </p:nvSpPr>
        <p:spPr>
          <a:xfrm>
            <a:off x="13049250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商业模式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14020800" y="323850"/>
            <a:ext cx="0" cy="1619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字：未来展望"/>
          <p:cNvSpPr txBox="1"/>
          <p:nvPr/>
        </p:nvSpPr>
        <p:spPr>
          <a:xfrm>
            <a:off x="14182725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未来展望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9" name="文字：06"/>
          <p:cNvSpPr txBox="1"/>
          <p:nvPr/>
        </p:nvSpPr>
        <p:spPr>
          <a:xfrm>
            <a:off x="15163800" y="257175"/>
            <a:ext cx="428625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950" b="0">
                <a:solidFill>
                  <a:srgbClr val="073F32"/>
                </a:solidFill>
                <a:latin typeface="Times New Roman" panose="02020603050405020304"/>
                <a:ea typeface="Times New Roman" panose="02020603050405020304"/>
              </a:rPr>
              <a:t>06</a:t>
            </a:r>
            <a:endParaRPr sz="1950" b="0">
              <a:solidFill>
                <a:srgbClr val="073F32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cxnSp>
        <p:nvCxnSpPr>
          <p:cNvPr id="20" name="Connector 19"/>
          <p:cNvCxnSpPr/>
          <p:nvPr/>
        </p:nvCxnSpPr>
        <p:spPr>
          <a:xfrm>
            <a:off x="0" y="723900"/>
            <a:ext cx="15725775" cy="0"/>
          </a:xfrm>
          <a:prstGeom prst="line">
            <a:avLst/>
          </a:prstGeom>
          <a:ln w="9525">
            <a:solidFill>
              <a:srgbClr val="C7D8D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571875" y="990600"/>
            <a:ext cx="0" cy="6896100"/>
          </a:xfrm>
          <a:prstGeom prst="line">
            <a:avLst/>
          </a:prstGeom>
          <a:ln w="9525">
            <a:solidFill>
              <a:srgbClr val="A4BCB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字：02"/>
          <p:cNvSpPr txBox="1"/>
          <p:nvPr/>
        </p:nvSpPr>
        <p:spPr>
          <a:xfrm>
            <a:off x="457200" y="1409700"/>
            <a:ext cx="2286000" cy="1666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500"/>
              </a:lnSpc>
              <a:spcBef>
                <a:spcPts val="0"/>
              </a:spcBef>
              <a:spcAft>
                <a:spcPts val="0"/>
              </a:spcAft>
            </a:pPr>
            <a:r>
              <a:rPr sz="13500" b="1" i="1">
                <a:solidFill>
                  <a:srgbClr val="073F32"/>
                </a:solidFill>
                <a:latin typeface="Times New Roman" panose="02020603050405020304"/>
                <a:ea typeface="Times New Roman" panose="02020603050405020304"/>
              </a:rPr>
              <a:t>02</a:t>
            </a:r>
            <a:endParaRPr sz="13500" b="1" i="1">
              <a:solidFill>
                <a:srgbClr val="073F32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cxnSp>
        <p:nvCxnSpPr>
          <p:cNvPr id="23" name="Connector 22"/>
          <p:cNvCxnSpPr/>
          <p:nvPr/>
        </p:nvCxnSpPr>
        <p:spPr>
          <a:xfrm flipV="1">
            <a:off x="2619375" y="1704975"/>
            <a:ext cx="514350" cy="1190625"/>
          </a:xfrm>
          <a:prstGeom prst="line">
            <a:avLst/>
          </a:prstGeom>
          <a:ln w="11429">
            <a:solidFill>
              <a:srgbClr val="073F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字：项目概述"/>
          <p:cNvSpPr txBox="1"/>
          <p:nvPr/>
        </p:nvSpPr>
        <p:spPr>
          <a:xfrm>
            <a:off x="485775" y="3114675"/>
            <a:ext cx="3000375" cy="838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5250"/>
              </a:lnSpc>
              <a:spcBef>
                <a:spcPts val="0"/>
              </a:spcBef>
              <a:spcAft>
                <a:spcPts val="0"/>
              </a:spcAft>
            </a:pPr>
            <a:r>
              <a:rPr sz="525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项目概述</a:t>
            </a:r>
            <a:endParaRPr sz="525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5" name="文字：系统定位、总体架构&#10;与作品形态"/>
          <p:cNvSpPr txBox="1"/>
          <p:nvPr/>
        </p:nvSpPr>
        <p:spPr>
          <a:xfrm>
            <a:off x="552450" y="4076700"/>
            <a:ext cx="2905125" cy="838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sz="217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系统定位、总体架构</a:t>
            </a:r>
            <a:br>
              <a:rPr sz="217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sz="217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与作品形态</a:t>
            </a:r>
            <a:endParaRPr sz="217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26" name="Connector 25"/>
          <p:cNvCxnSpPr/>
          <p:nvPr/>
        </p:nvCxnSpPr>
        <p:spPr>
          <a:xfrm>
            <a:off x="552450" y="5076825"/>
            <a:ext cx="400050" cy="0"/>
          </a:xfrm>
          <a:prstGeom prst="line">
            <a:avLst/>
          </a:prstGeom>
          <a:ln w="9525">
            <a:solidFill>
              <a:srgbClr val="073F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字：“用数字科技&#10; 让好茶更可控。”"/>
          <p:cNvSpPr txBox="1"/>
          <p:nvPr/>
        </p:nvSpPr>
        <p:spPr>
          <a:xfrm>
            <a:off x="457200" y="5314950"/>
            <a:ext cx="2990850" cy="1095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sz="2175" b="0">
                <a:solidFill>
                  <a:srgbClr val="073F32"/>
                </a:solidFill>
                <a:latin typeface="楷体" panose="02010609060101010101" charset="-122"/>
                <a:ea typeface="楷体" panose="02010609060101010101" charset="-122"/>
              </a:rPr>
              <a:t>“用数字科技</a:t>
            </a:r>
            <a:br>
              <a:rPr sz="2175" b="0">
                <a:solidFill>
                  <a:srgbClr val="073F32"/>
                </a:solidFill>
                <a:latin typeface="楷体" panose="02010609060101010101" charset="-122"/>
                <a:ea typeface="楷体" panose="02010609060101010101" charset="-122"/>
              </a:rPr>
            </a:br>
            <a:r>
              <a:rPr sz="2175" b="0">
                <a:solidFill>
                  <a:srgbClr val="073F32"/>
                </a:solidFill>
                <a:latin typeface="楷体" panose="02010609060101010101" charset="-122"/>
                <a:ea typeface="楷体" panose="02010609060101010101" charset="-122"/>
              </a:rPr>
              <a:t> 让好茶更可控。”</a:t>
            </a:r>
            <a:endParaRPr sz="2175" b="0">
              <a:solidFill>
                <a:srgbClr val="073F32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28" name="文字：中 国 茶 · 产 业 智 造 · 中 国 未 来"/>
          <p:cNvSpPr txBox="1"/>
          <p:nvPr/>
        </p:nvSpPr>
        <p:spPr>
          <a:xfrm>
            <a:off x="11791950" y="8439150"/>
            <a:ext cx="3619500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 国 茶 · 产 业 智 造 · 中 国 未 来</a:t>
            </a:r>
            <a:endParaRPr sz="13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9" name="文字：2.3 系统架构"/>
          <p:cNvSpPr txBox="1"/>
          <p:nvPr/>
        </p:nvSpPr>
        <p:spPr>
          <a:xfrm>
            <a:off x="3867150" y="981075"/>
            <a:ext cx="2447925" cy="514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3150"/>
              </a:lnSpc>
              <a:spcBef>
                <a:spcPts val="0"/>
              </a:spcBef>
              <a:spcAft>
                <a:spcPts val="0"/>
              </a:spcAft>
            </a:pPr>
            <a:r>
              <a:rPr sz="315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2.3 系统架构</a:t>
            </a:r>
            <a:endParaRPr sz="315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30" name="Connector 29"/>
          <p:cNvCxnSpPr/>
          <p:nvPr/>
        </p:nvCxnSpPr>
        <p:spPr>
          <a:xfrm>
            <a:off x="6400800" y="1085850"/>
            <a:ext cx="0" cy="304800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字：软硬件协同的全流程闭环控制系统"/>
          <p:cNvSpPr txBox="1"/>
          <p:nvPr/>
        </p:nvSpPr>
        <p:spPr>
          <a:xfrm>
            <a:off x="6572250" y="1038225"/>
            <a:ext cx="8934450" cy="4476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软硬件协同的全流程闭环控制系统</a:t>
            </a:r>
            <a:endParaRPr sz="210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2" name="可编辑框架"/>
          <p:cNvSpPr/>
          <p:nvPr/>
        </p:nvSpPr>
        <p:spPr>
          <a:xfrm>
            <a:off x="3914775" y="2333625"/>
            <a:ext cx="2619375" cy="3962400"/>
          </a:xfrm>
          <a:prstGeom prst="roundRect">
            <a:avLst>
              <a:gd name="adj" fmla="val 2500"/>
            </a:avLst>
          </a:prstGeom>
          <a:solidFill>
            <a:srgbClr val="F2F9F6"/>
          </a:solidFill>
          <a:ln>
            <a:solidFill>
              <a:srgbClr val="C8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可编辑框架"/>
          <p:cNvSpPr/>
          <p:nvPr/>
        </p:nvSpPr>
        <p:spPr>
          <a:xfrm>
            <a:off x="6886575" y="2333625"/>
            <a:ext cx="2647950" cy="3962400"/>
          </a:xfrm>
          <a:prstGeom prst="roundRect">
            <a:avLst>
              <a:gd name="adj" fmla="val 2500"/>
            </a:avLst>
          </a:prstGeom>
          <a:solidFill>
            <a:srgbClr val="F2F9F6"/>
          </a:solidFill>
          <a:ln>
            <a:solidFill>
              <a:srgbClr val="C8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可编辑框架"/>
          <p:cNvSpPr/>
          <p:nvPr/>
        </p:nvSpPr>
        <p:spPr>
          <a:xfrm>
            <a:off x="9896475" y="2333625"/>
            <a:ext cx="2686050" cy="3962400"/>
          </a:xfrm>
          <a:prstGeom prst="roundRect">
            <a:avLst>
              <a:gd name="adj" fmla="val 2500"/>
            </a:avLst>
          </a:prstGeom>
          <a:solidFill>
            <a:srgbClr val="F2F9F6"/>
          </a:solidFill>
          <a:ln>
            <a:solidFill>
              <a:srgbClr val="C8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可编辑框架"/>
          <p:cNvSpPr/>
          <p:nvPr/>
        </p:nvSpPr>
        <p:spPr>
          <a:xfrm>
            <a:off x="12944475" y="2333625"/>
            <a:ext cx="2600325" cy="3962400"/>
          </a:xfrm>
          <a:prstGeom prst="roundRect">
            <a:avLst>
              <a:gd name="adj" fmla="val 2500"/>
            </a:avLst>
          </a:prstGeom>
          <a:solidFill>
            <a:srgbClr val="F2F9F6"/>
          </a:solidFill>
          <a:ln>
            <a:solidFill>
              <a:srgbClr val="C8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可编辑框架"/>
          <p:cNvSpPr/>
          <p:nvPr/>
        </p:nvSpPr>
        <p:spPr>
          <a:xfrm>
            <a:off x="3867150" y="6953250"/>
            <a:ext cx="11677650" cy="876300"/>
          </a:xfrm>
          <a:prstGeom prst="roundRect">
            <a:avLst>
              <a:gd name="adj" fmla="val 2500"/>
            </a:avLst>
          </a:prstGeom>
          <a:solidFill>
            <a:srgbClr val="095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>
            <a:off x="6877050" y="7172325"/>
            <a:ext cx="0" cy="438150"/>
          </a:xfrm>
          <a:prstGeom prst="line">
            <a:avLst/>
          </a:prstGeom>
          <a:ln w="9525">
            <a:solidFill>
              <a:srgbClr val="C7E2D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9725025" y="7172325"/>
            <a:ext cx="0" cy="438150"/>
          </a:xfrm>
          <a:prstGeom prst="line">
            <a:avLst/>
          </a:prstGeom>
          <a:ln w="9525">
            <a:solidFill>
              <a:srgbClr val="C7E2D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12592050" y="7172325"/>
            <a:ext cx="0" cy="438150"/>
          </a:xfrm>
          <a:prstGeom prst="line">
            <a:avLst/>
          </a:prstGeom>
          <a:ln w="9525">
            <a:solidFill>
              <a:srgbClr val="C7E2D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" name="独立照片或曲线图（内部为像素）" descr="p06_photo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7175" y="3810000"/>
            <a:ext cx="2314575" cy="1200150"/>
          </a:xfrm>
          <a:prstGeom prst="rect">
            <a:avLst/>
          </a:prstGeom>
        </p:spPr>
      </p:pic>
      <p:pic>
        <p:nvPicPr>
          <p:cNvPr id="41" name="独立照片或曲线图（内部为像素）" descr="p06_photo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8975" y="3810000"/>
            <a:ext cx="2314575" cy="1200150"/>
          </a:xfrm>
          <a:prstGeom prst="rect">
            <a:avLst/>
          </a:prstGeom>
        </p:spPr>
      </p:pic>
      <p:pic>
        <p:nvPicPr>
          <p:cNvPr id="42" name="独立照片或曲线图（内部为像素）" descr="p06_photo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9825" y="3810000"/>
            <a:ext cx="2447925" cy="1200150"/>
          </a:xfrm>
          <a:prstGeom prst="rect">
            <a:avLst/>
          </a:prstGeom>
        </p:spPr>
      </p:pic>
      <p:pic>
        <p:nvPicPr>
          <p:cNvPr id="43" name="独立照片或曲线图（内部为像素）" descr="p06_photo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096875" y="3810000"/>
            <a:ext cx="2324100" cy="1200150"/>
          </a:xfrm>
          <a:prstGeom prst="rect">
            <a:avLst/>
          </a:prstGeom>
        </p:spPr>
      </p:pic>
      <p:pic>
        <p:nvPicPr>
          <p:cNvPr id="44" name="独立图标或流程线" descr="p06_icon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63275" y="3171825"/>
            <a:ext cx="619125" cy="552450"/>
          </a:xfrm>
          <a:prstGeom prst="rect">
            <a:avLst/>
          </a:prstGeom>
        </p:spPr>
      </p:pic>
      <p:pic>
        <p:nvPicPr>
          <p:cNvPr id="45" name="独立图标或流程线" descr="p06_icon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963650" y="3181350"/>
            <a:ext cx="685800" cy="542925"/>
          </a:xfrm>
          <a:prstGeom prst="rect">
            <a:avLst/>
          </a:prstGeom>
        </p:spPr>
      </p:pic>
      <p:pic>
        <p:nvPicPr>
          <p:cNvPr id="46" name="独立图标或流程线" descr="p06_icon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53000" y="3190875"/>
            <a:ext cx="552450" cy="533400"/>
          </a:xfrm>
          <a:prstGeom prst="rect">
            <a:avLst/>
          </a:prstGeom>
        </p:spPr>
      </p:pic>
      <p:pic>
        <p:nvPicPr>
          <p:cNvPr id="47" name="独立图标或流程线" descr="p06_icon3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24799" y="3209925"/>
            <a:ext cx="571500" cy="514350"/>
          </a:xfrm>
          <a:prstGeom prst="rect">
            <a:avLst/>
          </a:prstGeom>
        </p:spPr>
      </p:pic>
      <p:pic>
        <p:nvPicPr>
          <p:cNvPr id="48" name="独立图标或流程线" descr="p06_icon4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29400" y="3905249"/>
            <a:ext cx="190500" cy="266700"/>
          </a:xfrm>
          <a:prstGeom prst="rect">
            <a:avLst/>
          </a:prstGeom>
        </p:spPr>
      </p:pic>
      <p:pic>
        <p:nvPicPr>
          <p:cNvPr id="49" name="独立图标或流程线" descr="p06_icon5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29775" y="3905249"/>
            <a:ext cx="190500" cy="266700"/>
          </a:xfrm>
          <a:prstGeom prst="rect">
            <a:avLst/>
          </a:prstGeom>
        </p:spPr>
      </p:pic>
      <p:pic>
        <p:nvPicPr>
          <p:cNvPr id="50" name="独立图标或流程线" descr="p06_icon6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677775" y="3905249"/>
            <a:ext cx="190500" cy="266700"/>
          </a:xfrm>
          <a:prstGeom prst="rect">
            <a:avLst/>
          </a:prstGeom>
        </p:spPr>
      </p:pic>
      <p:pic>
        <p:nvPicPr>
          <p:cNvPr id="51" name="独立图标或流程线" descr="p06_icon7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105274" y="5181600"/>
            <a:ext cx="133350" cy="133350"/>
          </a:xfrm>
          <a:prstGeom prst="rect">
            <a:avLst/>
          </a:prstGeom>
        </p:spPr>
      </p:pic>
      <p:pic>
        <p:nvPicPr>
          <p:cNvPr id="52" name="独立图标或流程线" descr="p06_icon8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124700" y="5181600"/>
            <a:ext cx="104775" cy="133350"/>
          </a:xfrm>
          <a:prstGeom prst="rect">
            <a:avLst/>
          </a:prstGeom>
        </p:spPr>
      </p:pic>
      <p:pic>
        <p:nvPicPr>
          <p:cNvPr id="53" name="独立图标或流程线" descr="p06_icon9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077450" y="5181600"/>
            <a:ext cx="104775" cy="133350"/>
          </a:xfrm>
          <a:prstGeom prst="rect">
            <a:avLst/>
          </a:prstGeom>
        </p:spPr>
      </p:pic>
      <p:pic>
        <p:nvPicPr>
          <p:cNvPr id="54" name="独立图标或流程线" descr="p06_icon10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3154025" y="5181600"/>
            <a:ext cx="133350" cy="133350"/>
          </a:xfrm>
          <a:prstGeom prst="rect">
            <a:avLst/>
          </a:prstGeom>
        </p:spPr>
      </p:pic>
      <p:pic>
        <p:nvPicPr>
          <p:cNvPr id="55" name="独立图标或流程线" descr="p06_icon11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105274" y="5457825"/>
            <a:ext cx="133350" cy="133350"/>
          </a:xfrm>
          <a:prstGeom prst="rect">
            <a:avLst/>
          </a:prstGeom>
        </p:spPr>
      </p:pic>
      <p:pic>
        <p:nvPicPr>
          <p:cNvPr id="56" name="独立图标或流程线" descr="p06_icon12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3154025" y="5457825"/>
            <a:ext cx="133350" cy="133350"/>
          </a:xfrm>
          <a:prstGeom prst="rect">
            <a:avLst/>
          </a:prstGeom>
        </p:spPr>
      </p:pic>
      <p:pic>
        <p:nvPicPr>
          <p:cNvPr id="57" name="独立图标或流程线" descr="p06_icon13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105274" y="5734050"/>
            <a:ext cx="133350" cy="133350"/>
          </a:xfrm>
          <a:prstGeom prst="rect">
            <a:avLst/>
          </a:prstGeom>
        </p:spPr>
      </p:pic>
      <p:pic>
        <p:nvPicPr>
          <p:cNvPr id="58" name="独立图标或流程线" descr="p06_icon14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124700" y="5734050"/>
            <a:ext cx="142875" cy="133350"/>
          </a:xfrm>
          <a:prstGeom prst="rect">
            <a:avLst/>
          </a:prstGeom>
        </p:spPr>
      </p:pic>
      <p:pic>
        <p:nvPicPr>
          <p:cNvPr id="59" name="独立图标或流程线" descr="p06_icon15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077450" y="5734050"/>
            <a:ext cx="95250" cy="133350"/>
          </a:xfrm>
          <a:prstGeom prst="rect">
            <a:avLst/>
          </a:prstGeom>
        </p:spPr>
      </p:pic>
      <p:pic>
        <p:nvPicPr>
          <p:cNvPr id="60" name="独立图标或流程线" descr="p06_icon16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3154025" y="5734050"/>
            <a:ext cx="133350" cy="133350"/>
          </a:xfrm>
          <a:prstGeom prst="rect">
            <a:avLst/>
          </a:prstGeom>
        </p:spPr>
      </p:pic>
      <p:pic>
        <p:nvPicPr>
          <p:cNvPr id="61" name="独立图标或流程线" descr="p06_icon17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105274" y="6010275"/>
            <a:ext cx="133350" cy="133350"/>
          </a:xfrm>
          <a:prstGeom prst="rect">
            <a:avLst/>
          </a:prstGeom>
        </p:spPr>
      </p:pic>
      <p:pic>
        <p:nvPicPr>
          <p:cNvPr id="62" name="独立图标或流程线" descr="p06_icon18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124700" y="6010275"/>
            <a:ext cx="123824" cy="133350"/>
          </a:xfrm>
          <a:prstGeom prst="rect">
            <a:avLst/>
          </a:prstGeom>
        </p:spPr>
      </p:pic>
      <p:pic>
        <p:nvPicPr>
          <p:cNvPr id="63" name="独立图标或流程线" descr="p06_icon19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077450" y="6010275"/>
            <a:ext cx="133350" cy="133350"/>
          </a:xfrm>
          <a:prstGeom prst="rect">
            <a:avLst/>
          </a:prstGeom>
        </p:spPr>
      </p:pic>
      <p:pic>
        <p:nvPicPr>
          <p:cNvPr id="64" name="独立图标或流程线" descr="p06_icon20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3154025" y="6010275"/>
            <a:ext cx="133350" cy="133350"/>
          </a:xfrm>
          <a:prstGeom prst="rect">
            <a:avLst/>
          </a:prstGeom>
        </p:spPr>
      </p:pic>
      <p:pic>
        <p:nvPicPr>
          <p:cNvPr id="65" name="独立图标或流程线" descr="p06_icon21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5029200" y="6391275"/>
            <a:ext cx="9353550" cy="361950"/>
          </a:xfrm>
          <a:prstGeom prst="rect">
            <a:avLst/>
          </a:prstGeom>
        </p:spPr>
      </p:pic>
      <p:sp>
        <p:nvSpPr>
          <p:cNvPr id="66" name="文字：青韵智控由多模态感知设备、边缘计算与控制系统、执行设备和数据平台组成，"/>
          <p:cNvSpPr txBox="1"/>
          <p:nvPr/>
        </p:nvSpPr>
        <p:spPr>
          <a:xfrm>
            <a:off x="3933825" y="1590675"/>
            <a:ext cx="7496175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青韵智控由多模态感知设备、边缘计算与控制系统、执行设备和数据平台组成，</a:t>
            </a:r>
            <a:endParaRPr sz="15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7" name="文字：形成“感知一分析一决策一控制一反馈”的闭环，实现做青过程的智能化、标准"/>
          <p:cNvSpPr txBox="1"/>
          <p:nvPr/>
        </p:nvSpPr>
        <p:spPr>
          <a:xfrm>
            <a:off x="3914775" y="1885950"/>
            <a:ext cx="8877300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形成“感知一分析一决策一控制一反馈”的闭环，实现做青过程的智能化、标准化与可复制。</a:t>
            </a:r>
            <a:endParaRPr sz="162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8" name="文字：01"/>
          <p:cNvSpPr txBox="1"/>
          <p:nvPr/>
        </p:nvSpPr>
        <p:spPr>
          <a:xfrm>
            <a:off x="4152900" y="2543175"/>
            <a:ext cx="600075" cy="438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765"/>
              </a:lnSpc>
              <a:spcBef>
                <a:spcPts val="0"/>
              </a:spcBef>
              <a:spcAft>
                <a:spcPts val="0"/>
              </a:spcAft>
            </a:pPr>
            <a:r>
              <a:rPr sz="2765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01</a:t>
            </a:r>
            <a:endParaRPr sz="2765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9" name="文字：感知层"/>
          <p:cNvSpPr txBox="1"/>
          <p:nvPr/>
        </p:nvSpPr>
        <p:spPr>
          <a:xfrm>
            <a:off x="4791075" y="2505075"/>
            <a:ext cx="838200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975"/>
              </a:lnSpc>
              <a:spcBef>
                <a:spcPts val="0"/>
              </a:spcBef>
              <a:spcAft>
                <a:spcPts val="0"/>
              </a:spcAft>
            </a:pPr>
            <a:r>
              <a:rPr sz="1975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感知层</a:t>
            </a:r>
            <a:endParaRPr sz="1975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0" name="文字：02"/>
          <p:cNvSpPr txBox="1"/>
          <p:nvPr/>
        </p:nvSpPr>
        <p:spPr>
          <a:xfrm>
            <a:off x="7067550" y="2524125"/>
            <a:ext cx="657225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02</a:t>
            </a:r>
            <a:endParaRPr sz="290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1" name="文字：分析层"/>
          <p:cNvSpPr txBox="1"/>
          <p:nvPr/>
        </p:nvSpPr>
        <p:spPr>
          <a:xfrm>
            <a:off x="7705725" y="2505075"/>
            <a:ext cx="847725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分析层</a:t>
            </a:r>
            <a:endParaRPr sz="200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2" name="文字：03"/>
          <p:cNvSpPr txBox="1"/>
          <p:nvPr/>
        </p:nvSpPr>
        <p:spPr>
          <a:xfrm>
            <a:off x="10077450" y="2533650"/>
            <a:ext cx="6477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03</a:t>
            </a:r>
            <a:endParaRPr sz="290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3" name="文字：执行层"/>
          <p:cNvSpPr txBox="1"/>
          <p:nvPr/>
        </p:nvSpPr>
        <p:spPr>
          <a:xfrm>
            <a:off x="10715625" y="2505075"/>
            <a:ext cx="847725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执行层</a:t>
            </a:r>
            <a:endParaRPr sz="200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4" name="文字：04"/>
          <p:cNvSpPr txBox="1"/>
          <p:nvPr/>
        </p:nvSpPr>
        <p:spPr>
          <a:xfrm>
            <a:off x="13125450" y="2543175"/>
            <a:ext cx="638175" cy="438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765"/>
              </a:lnSpc>
              <a:spcBef>
                <a:spcPts val="0"/>
              </a:spcBef>
              <a:spcAft>
                <a:spcPts val="0"/>
              </a:spcAft>
            </a:pPr>
            <a:r>
              <a:rPr sz="2765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04</a:t>
            </a:r>
            <a:endParaRPr sz="2765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5" name="文字：数据层"/>
          <p:cNvSpPr txBox="1"/>
          <p:nvPr/>
        </p:nvSpPr>
        <p:spPr>
          <a:xfrm>
            <a:off x="13763625" y="2505075"/>
            <a:ext cx="838200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975"/>
              </a:lnSpc>
              <a:spcBef>
                <a:spcPts val="0"/>
              </a:spcBef>
              <a:spcAft>
                <a:spcPts val="0"/>
              </a:spcAft>
            </a:pPr>
            <a:r>
              <a:rPr sz="1975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数据层</a:t>
            </a:r>
            <a:endParaRPr sz="1975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6" name="文字：多维数据采集"/>
          <p:cNvSpPr txBox="1"/>
          <p:nvPr/>
        </p:nvSpPr>
        <p:spPr>
          <a:xfrm>
            <a:off x="4810125" y="2819400"/>
            <a:ext cx="1162050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</a:pPr>
            <a:r>
              <a:rPr sz="141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多维数据采集</a:t>
            </a:r>
            <a:endParaRPr sz="141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7" name="文字：状态估计与工艺决策"/>
          <p:cNvSpPr txBox="1"/>
          <p:nvPr/>
        </p:nvSpPr>
        <p:spPr>
          <a:xfrm>
            <a:off x="7715250" y="2819400"/>
            <a:ext cx="1695450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</a:pPr>
            <a:r>
              <a:rPr sz="141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状态估计与工艺决策</a:t>
            </a:r>
            <a:endParaRPr sz="141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8" name="文字：设备驱动与过程控制"/>
          <p:cNvSpPr txBox="1"/>
          <p:nvPr/>
        </p:nvSpPr>
        <p:spPr>
          <a:xfrm>
            <a:off x="10725150" y="2819400"/>
            <a:ext cx="1685925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设备驱动与过程控制</a:t>
            </a:r>
            <a:endParaRPr sz="14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9" name="文字：记录、分析与优化"/>
          <p:cNvSpPr txBox="1"/>
          <p:nvPr/>
        </p:nvSpPr>
        <p:spPr>
          <a:xfrm>
            <a:off x="13763625" y="2800350"/>
            <a:ext cx="15240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15"/>
              </a:lnSpc>
              <a:spcBef>
                <a:spcPts val="0"/>
              </a:spcBef>
              <a:spcAft>
                <a:spcPts val="0"/>
              </a:spcAft>
            </a:pPr>
            <a:r>
              <a:rPr sz="141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记录、分析与优化</a:t>
            </a:r>
            <a:endParaRPr sz="141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0" name="文字：视觉图像采集"/>
          <p:cNvSpPr txBox="1"/>
          <p:nvPr/>
        </p:nvSpPr>
        <p:spPr>
          <a:xfrm>
            <a:off x="4238625" y="5124450"/>
            <a:ext cx="1295400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15"/>
              </a:lnSpc>
              <a:spcBef>
                <a:spcPts val="0"/>
              </a:spcBef>
              <a:spcAft>
                <a:spcPts val="0"/>
              </a:spcAft>
            </a:pPr>
            <a:r>
              <a:rPr sz="141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视觉图像采集</a:t>
            </a:r>
            <a:endParaRPr sz="141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1" name="文字：• 多模态信息融合"/>
          <p:cNvSpPr txBox="1"/>
          <p:nvPr/>
        </p:nvSpPr>
        <p:spPr>
          <a:xfrm>
            <a:off x="7219950" y="5124450"/>
            <a:ext cx="1514475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05"/>
              </a:lnSpc>
              <a:spcBef>
                <a:spcPts val="0"/>
              </a:spcBef>
              <a:spcAft>
                <a:spcPts val="0"/>
              </a:spcAft>
            </a:pPr>
            <a:r>
              <a:rPr sz="140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• 多模态信息融合</a:t>
            </a:r>
            <a:endParaRPr sz="140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2" name="文字：通风、温湿度等设备控制"/>
          <p:cNvSpPr txBox="1"/>
          <p:nvPr/>
        </p:nvSpPr>
        <p:spPr>
          <a:xfrm>
            <a:off x="10172700" y="5124450"/>
            <a:ext cx="2209800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通风、温湿度等设备控制</a:t>
            </a:r>
            <a:endParaRPr sz="13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3" name="文字：过程数据存储与可视化"/>
          <p:cNvSpPr txBox="1"/>
          <p:nvPr/>
        </p:nvSpPr>
        <p:spPr>
          <a:xfrm>
            <a:off x="13382625" y="5124450"/>
            <a:ext cx="1905000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过程数据存储与可视化</a:t>
            </a:r>
            <a:endParaRPr sz="13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4" name="文字：温湿度与环境参数监测"/>
          <p:cNvSpPr txBox="1"/>
          <p:nvPr/>
        </p:nvSpPr>
        <p:spPr>
          <a:xfrm>
            <a:off x="4333875" y="5400675"/>
            <a:ext cx="1905000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温湿度与环境参数监测</a:t>
            </a:r>
            <a:endParaRPr sz="13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5" name="文字：• 做青状态实时估计"/>
          <p:cNvSpPr txBox="1"/>
          <p:nvPr/>
        </p:nvSpPr>
        <p:spPr>
          <a:xfrm>
            <a:off x="7191375" y="5410200"/>
            <a:ext cx="1724025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• 做青状态实时估计</a:t>
            </a:r>
            <a:endParaRPr sz="13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6" name="文字：·执行策略动态调整"/>
          <p:cNvSpPr txBox="1"/>
          <p:nvPr/>
        </p:nvSpPr>
        <p:spPr>
          <a:xfrm>
            <a:off x="10134600" y="5410200"/>
            <a:ext cx="1743075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·执行策略动态调整</a:t>
            </a:r>
            <a:endParaRPr sz="13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7" name="文字：历史数据分析与工艺优化"/>
          <p:cNvSpPr txBox="1"/>
          <p:nvPr/>
        </p:nvSpPr>
        <p:spPr>
          <a:xfrm>
            <a:off x="13382625" y="5400675"/>
            <a:ext cx="2085975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历史数据分析与工艺优化</a:t>
            </a:r>
            <a:endParaRPr sz="13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8" name="文字：挥发性气体（香气）检测"/>
          <p:cNvSpPr txBox="1"/>
          <p:nvPr/>
        </p:nvSpPr>
        <p:spPr>
          <a:xfrm>
            <a:off x="4324350" y="5676900"/>
            <a:ext cx="2085975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挥发性气体（香气）检测</a:t>
            </a:r>
            <a:endParaRPr sz="13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9" name="文字：关键指标智能判断"/>
          <p:cNvSpPr txBox="1"/>
          <p:nvPr/>
        </p:nvSpPr>
        <p:spPr>
          <a:xfrm>
            <a:off x="7258050" y="5676900"/>
            <a:ext cx="1647825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15"/>
              </a:lnSpc>
              <a:spcBef>
                <a:spcPts val="0"/>
              </a:spcBef>
              <a:spcAft>
                <a:spcPts val="0"/>
              </a:spcAft>
            </a:pPr>
            <a:r>
              <a:rPr sz="141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关键指标智能判断</a:t>
            </a:r>
            <a:endParaRPr sz="141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0" name="文字：安全保护与异常处理"/>
          <p:cNvSpPr txBox="1"/>
          <p:nvPr/>
        </p:nvSpPr>
        <p:spPr>
          <a:xfrm>
            <a:off x="10163175" y="5676900"/>
            <a:ext cx="1885950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15"/>
              </a:lnSpc>
              <a:spcBef>
                <a:spcPts val="0"/>
              </a:spcBef>
              <a:spcAft>
                <a:spcPts val="0"/>
              </a:spcAft>
            </a:pPr>
            <a:r>
              <a:rPr sz="141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安全保护与异常处理</a:t>
            </a:r>
            <a:endParaRPr sz="141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1" name="文字：模型迭代与远程运维"/>
          <p:cNvSpPr txBox="1"/>
          <p:nvPr/>
        </p:nvSpPr>
        <p:spPr>
          <a:xfrm>
            <a:off x="13373100" y="5667375"/>
            <a:ext cx="1743075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模型迭代与远程运维</a:t>
            </a:r>
            <a:endParaRPr sz="14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2" name="文字：多源数据同步采集"/>
          <p:cNvSpPr txBox="1"/>
          <p:nvPr/>
        </p:nvSpPr>
        <p:spPr>
          <a:xfrm>
            <a:off x="4248150" y="5953125"/>
            <a:ext cx="1638300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15"/>
              </a:lnSpc>
              <a:spcBef>
                <a:spcPts val="0"/>
              </a:spcBef>
              <a:spcAft>
                <a:spcPts val="0"/>
              </a:spcAft>
            </a:pPr>
            <a:r>
              <a:rPr sz="141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多源数据同步采集</a:t>
            </a:r>
            <a:endParaRPr sz="141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3" name="文字：工艺参数自适应决策"/>
          <p:cNvSpPr txBox="1"/>
          <p:nvPr/>
        </p:nvSpPr>
        <p:spPr>
          <a:xfrm>
            <a:off x="7239000" y="5953125"/>
            <a:ext cx="1847850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工艺参数自适应决策</a:t>
            </a:r>
            <a:endParaRPr sz="13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4" name="文字：支持现有设备改造升级"/>
          <p:cNvSpPr txBox="1"/>
          <p:nvPr/>
        </p:nvSpPr>
        <p:spPr>
          <a:xfrm>
            <a:off x="10210800" y="5934075"/>
            <a:ext cx="2009775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15"/>
              </a:lnSpc>
              <a:spcBef>
                <a:spcPts val="0"/>
              </a:spcBef>
              <a:spcAft>
                <a:spcPts val="0"/>
              </a:spcAft>
            </a:pPr>
            <a:r>
              <a:rPr sz="151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支持现有设备改造升级</a:t>
            </a:r>
            <a:endParaRPr sz="151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5" name="文字：支持多茶厂、多批次管理"/>
          <p:cNvSpPr txBox="1"/>
          <p:nvPr/>
        </p:nvSpPr>
        <p:spPr>
          <a:xfrm>
            <a:off x="13306425" y="5943600"/>
            <a:ext cx="2171700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85"/>
              </a:lnSpc>
              <a:spcBef>
                <a:spcPts val="0"/>
              </a:spcBef>
              <a:spcAft>
                <a:spcPts val="0"/>
              </a:spcAft>
            </a:pPr>
            <a:r>
              <a:rPr sz="148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支持多茶厂、多批次管理</a:t>
            </a:r>
            <a:endParaRPr sz="148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6" name="文字：状态反馈与模型自学习"/>
          <p:cNvSpPr txBox="1"/>
          <p:nvPr/>
        </p:nvSpPr>
        <p:spPr>
          <a:xfrm>
            <a:off x="8791575" y="6410325"/>
            <a:ext cx="2000250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15"/>
              </a:lnSpc>
              <a:spcBef>
                <a:spcPts val="0"/>
              </a:spcBef>
              <a:spcAft>
                <a:spcPts val="0"/>
              </a:spcAft>
            </a:pPr>
            <a:r>
              <a:rPr sz="141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状态反馈与模型自学习</a:t>
            </a:r>
            <a:endParaRPr sz="141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7" name="文字：全流程感知"/>
          <p:cNvSpPr txBox="1"/>
          <p:nvPr/>
        </p:nvSpPr>
        <p:spPr>
          <a:xfrm>
            <a:off x="5314950" y="7162800"/>
            <a:ext cx="1095375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59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全流程感知</a:t>
            </a:r>
            <a:endParaRPr sz="1590" b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8" name="文字：智能决策"/>
          <p:cNvSpPr txBox="1"/>
          <p:nvPr/>
        </p:nvSpPr>
        <p:spPr>
          <a:xfrm>
            <a:off x="8267700" y="7143750"/>
            <a:ext cx="914400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630"/>
              </a:lnSpc>
              <a:spcBef>
                <a:spcPts val="0"/>
              </a:spcBef>
              <a:spcAft>
                <a:spcPts val="0"/>
              </a:spcAft>
            </a:pPr>
            <a:r>
              <a:rPr sz="163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智能决策</a:t>
            </a:r>
            <a:endParaRPr sz="1630" b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9" name="文字：精准执行"/>
          <p:cNvSpPr txBox="1"/>
          <p:nvPr/>
        </p:nvSpPr>
        <p:spPr>
          <a:xfrm>
            <a:off x="11134725" y="7143750"/>
            <a:ext cx="92392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精准执行</a:t>
            </a:r>
            <a:endParaRPr sz="1650" b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0" name="文字：数据闭环"/>
          <p:cNvSpPr txBox="1"/>
          <p:nvPr/>
        </p:nvSpPr>
        <p:spPr>
          <a:xfrm>
            <a:off x="14097000" y="7153275"/>
            <a:ext cx="914400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数据闭环</a:t>
            </a:r>
            <a:endParaRPr sz="1620" b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1" name="文字：看得见"/>
          <p:cNvSpPr txBox="1"/>
          <p:nvPr/>
        </p:nvSpPr>
        <p:spPr>
          <a:xfrm>
            <a:off x="5305425" y="7419975"/>
            <a:ext cx="7239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675"/>
              </a:lnSpc>
              <a:spcBef>
                <a:spcPts val="0"/>
              </a:spcBef>
              <a:spcAft>
                <a:spcPts val="0"/>
              </a:spcAft>
            </a:pPr>
            <a:r>
              <a:rPr sz="1675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看得见</a:t>
            </a:r>
            <a:endParaRPr sz="1675" b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2" name="文字：想得准"/>
          <p:cNvSpPr txBox="1"/>
          <p:nvPr/>
        </p:nvSpPr>
        <p:spPr>
          <a:xfrm>
            <a:off x="8258175" y="7419975"/>
            <a:ext cx="733425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想得准</a:t>
            </a:r>
            <a:endParaRPr sz="1620" b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3" name="文字：控得住"/>
          <p:cNvSpPr txBox="1"/>
          <p:nvPr/>
        </p:nvSpPr>
        <p:spPr>
          <a:xfrm>
            <a:off x="11134725" y="7410450"/>
            <a:ext cx="733425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</a:pPr>
            <a:r>
              <a:rPr sz="1685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控得住</a:t>
            </a:r>
            <a:endParaRPr sz="1685" b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4" name="文字：可优化"/>
          <p:cNvSpPr txBox="1"/>
          <p:nvPr/>
        </p:nvSpPr>
        <p:spPr>
          <a:xfrm>
            <a:off x="14087475" y="7419975"/>
            <a:ext cx="733425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可优化</a:t>
            </a:r>
            <a:endParaRPr sz="1620" b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05" name="独立白色图标" descr="benefit0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572000" y="7143750"/>
            <a:ext cx="571500" cy="523874"/>
          </a:xfrm>
          <a:prstGeom prst="rect">
            <a:avLst/>
          </a:prstGeom>
        </p:spPr>
      </p:pic>
      <p:pic>
        <p:nvPicPr>
          <p:cNvPr id="106" name="独立白色图标" descr="benefit1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515225" y="7143750"/>
            <a:ext cx="523874" cy="523874"/>
          </a:xfrm>
          <a:prstGeom prst="rect">
            <a:avLst/>
          </a:prstGeom>
        </p:spPr>
      </p:pic>
      <p:pic>
        <p:nvPicPr>
          <p:cNvPr id="107" name="独立白色图标" descr="benefit2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0372725" y="7143750"/>
            <a:ext cx="561975" cy="523874"/>
          </a:xfrm>
          <a:prstGeom prst="rect">
            <a:avLst/>
          </a:prstGeom>
        </p:spPr>
      </p:pic>
      <p:pic>
        <p:nvPicPr>
          <p:cNvPr id="108" name="独立白色图标" descr="benefit3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3296900" y="7143750"/>
            <a:ext cx="542925" cy="52387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共享背景：原图茶园风景（无内容组件）" descr="landscap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5925800" cy="8963025"/>
          </a:xfrm>
          <a:prstGeom prst="rect">
            <a:avLst/>
          </a:prstGeom>
        </p:spPr>
      </p:pic>
      <p:sp>
        <p:nvSpPr>
          <p:cNvPr id="3" name="可编辑框架"/>
          <p:cNvSpPr/>
          <p:nvPr/>
        </p:nvSpPr>
        <p:spPr>
          <a:xfrm>
            <a:off x="0" y="0"/>
            <a:ext cx="15925800" cy="723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：青韵智控"/>
          <p:cNvSpPr txBox="1"/>
          <p:nvPr/>
        </p:nvSpPr>
        <p:spPr>
          <a:xfrm>
            <a:off x="361950" y="190500"/>
            <a:ext cx="13335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73F32"/>
                </a:solidFill>
                <a:latin typeface="微软雅黑" panose="020B0503020204020204" charset="-122"/>
                <a:ea typeface="微软雅黑" panose="020B0503020204020204" charset="-122"/>
              </a:rPr>
              <a:t>青韵智控</a:t>
            </a:r>
            <a:endParaRPr sz="2400" b="1">
              <a:solidFill>
                <a:srgbClr val="073F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1819275" y="257175"/>
            <a:ext cx="0" cy="2762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字：让传统制茶更可控"/>
          <p:cNvSpPr txBox="1"/>
          <p:nvPr/>
        </p:nvSpPr>
        <p:spPr>
          <a:xfrm>
            <a:off x="2076450" y="238125"/>
            <a:ext cx="2190750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让传统制茶更可控</a:t>
            </a:r>
            <a:endParaRPr sz="18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文字：项目背景"/>
          <p:cNvSpPr txBox="1"/>
          <p:nvPr/>
        </p:nvSpPr>
        <p:spPr>
          <a:xfrm>
            <a:off x="8515350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项目背景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9486900" y="323850"/>
            <a:ext cx="0" cy="1619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字：项目概述"/>
          <p:cNvSpPr txBox="1"/>
          <p:nvPr/>
        </p:nvSpPr>
        <p:spPr>
          <a:xfrm>
            <a:off x="9648825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项目概述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10620375" y="323850"/>
            <a:ext cx="0" cy="1619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字：关键技术"/>
          <p:cNvSpPr txBox="1"/>
          <p:nvPr/>
        </p:nvSpPr>
        <p:spPr>
          <a:xfrm>
            <a:off x="10782300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关键技术</a:t>
            </a:r>
            <a:endParaRPr sz="150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11753850" y="323850"/>
            <a:ext cx="0" cy="1619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1020425" y="628650"/>
            <a:ext cx="381000" cy="0"/>
          </a:xfrm>
          <a:prstGeom prst="line">
            <a:avLst/>
          </a:prstGeom>
          <a:ln w="19050">
            <a:solidFill>
              <a:srgbClr val="073F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字：实施与验证"/>
          <p:cNvSpPr txBox="1"/>
          <p:nvPr/>
        </p:nvSpPr>
        <p:spPr>
          <a:xfrm>
            <a:off x="11915775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实施与验证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12887325" y="323850"/>
            <a:ext cx="0" cy="1619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字：商业模式"/>
          <p:cNvSpPr txBox="1"/>
          <p:nvPr/>
        </p:nvSpPr>
        <p:spPr>
          <a:xfrm>
            <a:off x="13049250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商业模式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14020800" y="323850"/>
            <a:ext cx="0" cy="1619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字：未来展望"/>
          <p:cNvSpPr txBox="1"/>
          <p:nvPr/>
        </p:nvSpPr>
        <p:spPr>
          <a:xfrm>
            <a:off x="14182725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未来展望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9" name="文字：07"/>
          <p:cNvSpPr txBox="1"/>
          <p:nvPr/>
        </p:nvSpPr>
        <p:spPr>
          <a:xfrm>
            <a:off x="15163800" y="257175"/>
            <a:ext cx="428625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950" b="0">
                <a:solidFill>
                  <a:srgbClr val="073F32"/>
                </a:solidFill>
                <a:latin typeface="Times New Roman" panose="02020603050405020304"/>
                <a:ea typeface="Times New Roman" panose="02020603050405020304"/>
              </a:rPr>
              <a:t>07</a:t>
            </a:r>
            <a:endParaRPr sz="1950" b="0">
              <a:solidFill>
                <a:srgbClr val="073F32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cxnSp>
        <p:nvCxnSpPr>
          <p:cNvPr id="20" name="Connector 19"/>
          <p:cNvCxnSpPr/>
          <p:nvPr/>
        </p:nvCxnSpPr>
        <p:spPr>
          <a:xfrm>
            <a:off x="0" y="723900"/>
            <a:ext cx="15725775" cy="0"/>
          </a:xfrm>
          <a:prstGeom prst="line">
            <a:avLst/>
          </a:prstGeom>
          <a:ln w="9525">
            <a:solidFill>
              <a:srgbClr val="C7D8D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571875" y="990600"/>
            <a:ext cx="0" cy="6896100"/>
          </a:xfrm>
          <a:prstGeom prst="line">
            <a:avLst/>
          </a:prstGeom>
          <a:ln w="9525">
            <a:solidFill>
              <a:srgbClr val="A4BCB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字：03"/>
          <p:cNvSpPr txBox="1"/>
          <p:nvPr/>
        </p:nvSpPr>
        <p:spPr>
          <a:xfrm>
            <a:off x="457200" y="1409700"/>
            <a:ext cx="2286000" cy="1666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500"/>
              </a:lnSpc>
              <a:spcBef>
                <a:spcPts val="0"/>
              </a:spcBef>
              <a:spcAft>
                <a:spcPts val="0"/>
              </a:spcAft>
            </a:pPr>
            <a:r>
              <a:rPr sz="13500" b="1" i="1">
                <a:solidFill>
                  <a:srgbClr val="073F32"/>
                </a:solidFill>
                <a:latin typeface="Times New Roman" panose="02020603050405020304"/>
                <a:ea typeface="Times New Roman" panose="02020603050405020304"/>
              </a:rPr>
              <a:t>03</a:t>
            </a:r>
            <a:endParaRPr sz="13500" b="1" i="1">
              <a:solidFill>
                <a:srgbClr val="073F32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cxnSp>
        <p:nvCxnSpPr>
          <p:cNvPr id="23" name="Connector 22"/>
          <p:cNvCxnSpPr/>
          <p:nvPr/>
        </p:nvCxnSpPr>
        <p:spPr>
          <a:xfrm flipV="1">
            <a:off x="2619375" y="1704975"/>
            <a:ext cx="514350" cy="1190625"/>
          </a:xfrm>
          <a:prstGeom prst="line">
            <a:avLst/>
          </a:prstGeom>
          <a:ln w="11429">
            <a:solidFill>
              <a:srgbClr val="073F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字：关键技术"/>
          <p:cNvSpPr txBox="1"/>
          <p:nvPr/>
        </p:nvSpPr>
        <p:spPr>
          <a:xfrm>
            <a:off x="485775" y="3114675"/>
            <a:ext cx="3000375" cy="838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5250"/>
              </a:lnSpc>
              <a:spcBef>
                <a:spcPts val="0"/>
              </a:spcBef>
              <a:spcAft>
                <a:spcPts val="0"/>
              </a:spcAft>
            </a:pPr>
            <a:r>
              <a:rPr sz="525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关键技术</a:t>
            </a:r>
            <a:endParaRPr sz="525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5" name="文字：多模态感知、&#10;状态估计与自适应控制"/>
          <p:cNvSpPr txBox="1"/>
          <p:nvPr/>
        </p:nvSpPr>
        <p:spPr>
          <a:xfrm>
            <a:off x="552450" y="4076700"/>
            <a:ext cx="2905125" cy="838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sz="217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多模态感知、</a:t>
            </a:r>
            <a:br>
              <a:rPr sz="217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sz="217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状态估计与自适应控制</a:t>
            </a:r>
            <a:endParaRPr sz="217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26" name="Connector 25"/>
          <p:cNvCxnSpPr/>
          <p:nvPr/>
        </p:nvCxnSpPr>
        <p:spPr>
          <a:xfrm>
            <a:off x="552450" y="5076825"/>
            <a:ext cx="400050" cy="0"/>
          </a:xfrm>
          <a:prstGeom prst="line">
            <a:avLst/>
          </a:prstGeom>
          <a:ln w="9525">
            <a:solidFill>
              <a:srgbClr val="073F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字：“看得见、闻得到、&#10; 测得准，才能控得住。”"/>
          <p:cNvSpPr txBox="1"/>
          <p:nvPr/>
        </p:nvSpPr>
        <p:spPr>
          <a:xfrm>
            <a:off x="457200" y="5314950"/>
            <a:ext cx="2990850" cy="1095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930"/>
              </a:lnSpc>
              <a:spcBef>
                <a:spcPts val="0"/>
              </a:spcBef>
              <a:spcAft>
                <a:spcPts val="0"/>
              </a:spcAft>
            </a:pPr>
            <a:r>
              <a:rPr sz="1930" b="0">
                <a:solidFill>
                  <a:srgbClr val="073F32"/>
                </a:solidFill>
                <a:latin typeface="楷体" panose="02010609060101010101" charset="-122"/>
                <a:ea typeface="楷体" panose="02010609060101010101" charset="-122"/>
              </a:rPr>
              <a:t>“看得见、闻得到、</a:t>
            </a:r>
            <a:br>
              <a:rPr sz="1930" b="0">
                <a:solidFill>
                  <a:srgbClr val="073F32"/>
                </a:solidFill>
                <a:latin typeface="楷体" panose="02010609060101010101" charset="-122"/>
                <a:ea typeface="楷体" panose="02010609060101010101" charset="-122"/>
              </a:rPr>
            </a:br>
            <a:r>
              <a:rPr sz="1930" b="0">
                <a:solidFill>
                  <a:srgbClr val="073F32"/>
                </a:solidFill>
                <a:latin typeface="楷体" panose="02010609060101010101" charset="-122"/>
                <a:ea typeface="楷体" panose="02010609060101010101" charset="-122"/>
              </a:rPr>
              <a:t> 测得准，才能控得住。”</a:t>
            </a:r>
            <a:endParaRPr sz="1930" b="0">
              <a:solidFill>
                <a:srgbClr val="073F32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28" name="文字：中 国 茶 · 产 业 智 造 · 中 国 未 来"/>
          <p:cNvSpPr txBox="1"/>
          <p:nvPr/>
        </p:nvSpPr>
        <p:spPr>
          <a:xfrm>
            <a:off x="11791950" y="8439150"/>
            <a:ext cx="3619500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 国 茶 · 产 业 智 造 · 中 国 未 来</a:t>
            </a:r>
            <a:endParaRPr sz="13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9" name="文字：3.1 多模态鲜叶状态感知"/>
          <p:cNvSpPr txBox="1"/>
          <p:nvPr/>
        </p:nvSpPr>
        <p:spPr>
          <a:xfrm>
            <a:off x="3867150" y="981075"/>
            <a:ext cx="4448175" cy="514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3150"/>
              </a:lnSpc>
              <a:spcBef>
                <a:spcPts val="0"/>
              </a:spcBef>
              <a:spcAft>
                <a:spcPts val="0"/>
              </a:spcAft>
            </a:pPr>
            <a:r>
              <a:rPr sz="315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3.1 多模态鲜叶状态感知</a:t>
            </a:r>
            <a:endParaRPr sz="315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30" name="Connector 29"/>
          <p:cNvCxnSpPr/>
          <p:nvPr/>
        </p:nvCxnSpPr>
        <p:spPr>
          <a:xfrm>
            <a:off x="8401050" y="1085850"/>
            <a:ext cx="0" cy="304800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字：融合多源信息，构建鲜叶多维特征表征"/>
          <p:cNvSpPr txBox="1"/>
          <p:nvPr/>
        </p:nvSpPr>
        <p:spPr>
          <a:xfrm>
            <a:off x="8572500" y="1038225"/>
            <a:ext cx="6934200" cy="4476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融合多源信息，构建鲜叶多维特征表征</a:t>
            </a:r>
            <a:endParaRPr sz="210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2" name="可编辑框架"/>
          <p:cNvSpPr/>
          <p:nvPr/>
        </p:nvSpPr>
        <p:spPr>
          <a:xfrm>
            <a:off x="3867150" y="2352675"/>
            <a:ext cx="1924050" cy="4381500"/>
          </a:xfrm>
          <a:prstGeom prst="roundRect">
            <a:avLst>
              <a:gd name="adj" fmla="val 2500"/>
            </a:avLst>
          </a:prstGeom>
          <a:solidFill>
            <a:srgbClr val="F2F9F6"/>
          </a:solidFill>
          <a:ln>
            <a:solidFill>
              <a:srgbClr val="C8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可编辑框架"/>
          <p:cNvSpPr/>
          <p:nvPr/>
        </p:nvSpPr>
        <p:spPr>
          <a:xfrm>
            <a:off x="5886450" y="2352675"/>
            <a:ext cx="1924050" cy="4381500"/>
          </a:xfrm>
          <a:prstGeom prst="roundRect">
            <a:avLst>
              <a:gd name="adj" fmla="val 2500"/>
            </a:avLst>
          </a:prstGeom>
          <a:solidFill>
            <a:srgbClr val="F2F9F6"/>
          </a:solidFill>
          <a:ln>
            <a:solidFill>
              <a:srgbClr val="C8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可编辑框架"/>
          <p:cNvSpPr/>
          <p:nvPr/>
        </p:nvSpPr>
        <p:spPr>
          <a:xfrm>
            <a:off x="7905750" y="2352675"/>
            <a:ext cx="1924050" cy="4381500"/>
          </a:xfrm>
          <a:prstGeom prst="roundRect">
            <a:avLst>
              <a:gd name="adj" fmla="val 2500"/>
            </a:avLst>
          </a:prstGeom>
          <a:solidFill>
            <a:srgbClr val="F2F9F6"/>
          </a:solidFill>
          <a:ln>
            <a:solidFill>
              <a:srgbClr val="C8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可编辑框架"/>
          <p:cNvSpPr/>
          <p:nvPr/>
        </p:nvSpPr>
        <p:spPr>
          <a:xfrm>
            <a:off x="9915525" y="2352675"/>
            <a:ext cx="1924050" cy="4381500"/>
          </a:xfrm>
          <a:prstGeom prst="roundRect">
            <a:avLst>
              <a:gd name="adj" fmla="val 2500"/>
            </a:avLst>
          </a:prstGeom>
          <a:solidFill>
            <a:srgbClr val="F2F9F6"/>
          </a:solidFill>
          <a:ln>
            <a:solidFill>
              <a:srgbClr val="C8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可编辑框架"/>
          <p:cNvSpPr/>
          <p:nvPr/>
        </p:nvSpPr>
        <p:spPr>
          <a:xfrm>
            <a:off x="12411075" y="2352675"/>
            <a:ext cx="3143250" cy="4381500"/>
          </a:xfrm>
          <a:prstGeom prst="roundRect">
            <a:avLst>
              <a:gd name="adj" fmla="val 2500"/>
            </a:avLst>
          </a:prstGeom>
          <a:solidFill>
            <a:srgbClr val="F2F9F6"/>
          </a:solidFill>
          <a:ln>
            <a:solidFill>
              <a:srgbClr val="C8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可编辑框架"/>
          <p:cNvSpPr/>
          <p:nvPr/>
        </p:nvSpPr>
        <p:spPr>
          <a:xfrm>
            <a:off x="12563475" y="5457825"/>
            <a:ext cx="2857500" cy="1104900"/>
          </a:xfrm>
          <a:prstGeom prst="roundRect">
            <a:avLst>
              <a:gd name="adj" fmla="val 2500"/>
            </a:avLst>
          </a:prstGeom>
          <a:solidFill>
            <a:srgbClr val="F2F9F6"/>
          </a:solidFill>
          <a:ln>
            <a:solidFill>
              <a:srgbClr val="C8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可编辑框架"/>
          <p:cNvSpPr/>
          <p:nvPr/>
        </p:nvSpPr>
        <p:spPr>
          <a:xfrm>
            <a:off x="4000500" y="6219825"/>
            <a:ext cx="1676400" cy="400050"/>
          </a:xfrm>
          <a:prstGeom prst="roundRect">
            <a:avLst>
              <a:gd name="adj" fmla="val 2500"/>
            </a:avLst>
          </a:prstGeom>
          <a:solidFill>
            <a:srgbClr val="155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可编辑框架"/>
          <p:cNvSpPr/>
          <p:nvPr/>
        </p:nvSpPr>
        <p:spPr>
          <a:xfrm>
            <a:off x="6029325" y="6219825"/>
            <a:ext cx="1676400" cy="400050"/>
          </a:xfrm>
          <a:prstGeom prst="roundRect">
            <a:avLst>
              <a:gd name="adj" fmla="val 2500"/>
            </a:avLst>
          </a:prstGeom>
          <a:solidFill>
            <a:srgbClr val="155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可编辑框架"/>
          <p:cNvSpPr/>
          <p:nvPr/>
        </p:nvSpPr>
        <p:spPr>
          <a:xfrm>
            <a:off x="8029575" y="6219825"/>
            <a:ext cx="1676400" cy="400050"/>
          </a:xfrm>
          <a:prstGeom prst="roundRect">
            <a:avLst>
              <a:gd name="adj" fmla="val 2500"/>
            </a:avLst>
          </a:prstGeom>
          <a:solidFill>
            <a:srgbClr val="155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可编辑框架"/>
          <p:cNvSpPr/>
          <p:nvPr/>
        </p:nvSpPr>
        <p:spPr>
          <a:xfrm>
            <a:off x="10039350" y="6219825"/>
            <a:ext cx="1676400" cy="400050"/>
          </a:xfrm>
          <a:prstGeom prst="roundRect">
            <a:avLst>
              <a:gd name="adj" fmla="val 2500"/>
            </a:avLst>
          </a:prstGeom>
          <a:solidFill>
            <a:srgbClr val="155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可编辑框架"/>
          <p:cNvSpPr/>
          <p:nvPr/>
        </p:nvSpPr>
        <p:spPr>
          <a:xfrm>
            <a:off x="3867150" y="7715250"/>
            <a:ext cx="11677650" cy="428625"/>
          </a:xfrm>
          <a:prstGeom prst="roundRect">
            <a:avLst>
              <a:gd name="adj" fmla="val 2500"/>
            </a:avLst>
          </a:prstGeom>
          <a:solidFill>
            <a:srgbClr val="095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独立照片或曲线图（内部为像素）" descr="p07_photo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1925" y="3714750"/>
            <a:ext cx="1714500" cy="1123950"/>
          </a:xfrm>
          <a:prstGeom prst="rect">
            <a:avLst/>
          </a:prstGeom>
        </p:spPr>
      </p:pic>
      <p:pic>
        <p:nvPicPr>
          <p:cNvPr id="44" name="独立照片或曲线图（内部为像素）" descr="p07_photo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1225" y="3714750"/>
            <a:ext cx="1724025" cy="1123950"/>
          </a:xfrm>
          <a:prstGeom prst="rect">
            <a:avLst/>
          </a:prstGeom>
        </p:spPr>
      </p:pic>
      <p:pic>
        <p:nvPicPr>
          <p:cNvPr id="45" name="独立照片或曲线图（内部为像素）" descr="p07_photo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3714750"/>
            <a:ext cx="1724025" cy="1123950"/>
          </a:xfrm>
          <a:prstGeom prst="rect">
            <a:avLst/>
          </a:prstGeom>
        </p:spPr>
      </p:pic>
      <p:pic>
        <p:nvPicPr>
          <p:cNvPr id="46" name="独立照片或曲线图（内部为像素）" descr="p07_photo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10775" y="3714750"/>
            <a:ext cx="1724025" cy="1123950"/>
          </a:xfrm>
          <a:prstGeom prst="rect">
            <a:avLst/>
          </a:prstGeom>
        </p:spPr>
      </p:pic>
      <p:pic>
        <p:nvPicPr>
          <p:cNvPr id="47" name="独立照片或曲线图（内部为像素）" descr="p07_photo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92050" y="3048000"/>
            <a:ext cx="1981199" cy="1924049"/>
          </a:xfrm>
          <a:prstGeom prst="rect">
            <a:avLst/>
          </a:prstGeom>
        </p:spPr>
      </p:pic>
      <p:pic>
        <p:nvPicPr>
          <p:cNvPr id="48" name="独立图标或流程线" descr="p07_icon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68000" y="2419350"/>
            <a:ext cx="333375" cy="581025"/>
          </a:xfrm>
          <a:prstGeom prst="rect">
            <a:avLst/>
          </a:prstGeom>
        </p:spPr>
      </p:pic>
      <p:pic>
        <p:nvPicPr>
          <p:cNvPr id="49" name="独立图标或流程线" descr="p07_icon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58225" y="2428875"/>
            <a:ext cx="361950" cy="561975"/>
          </a:xfrm>
          <a:prstGeom prst="rect">
            <a:avLst/>
          </a:prstGeom>
        </p:spPr>
      </p:pic>
      <p:pic>
        <p:nvPicPr>
          <p:cNvPr id="50" name="独立图标或流程线" descr="p07_icon2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77000" y="2457450"/>
            <a:ext cx="685800" cy="514350"/>
          </a:xfrm>
          <a:prstGeom prst="rect">
            <a:avLst/>
          </a:prstGeom>
        </p:spPr>
      </p:pic>
      <p:pic>
        <p:nvPicPr>
          <p:cNvPr id="51" name="独立图标或流程线" descr="p07_icon3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43425" y="2466975"/>
            <a:ext cx="514350" cy="466724"/>
          </a:xfrm>
          <a:prstGeom prst="rect">
            <a:avLst/>
          </a:prstGeom>
        </p:spPr>
      </p:pic>
      <p:pic>
        <p:nvPicPr>
          <p:cNvPr id="52" name="独立图标或流程线" descr="p07_icon4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030075" y="3857625"/>
            <a:ext cx="257175" cy="552450"/>
          </a:xfrm>
          <a:prstGeom prst="rect">
            <a:avLst/>
          </a:prstGeom>
        </p:spPr>
      </p:pic>
      <p:pic>
        <p:nvPicPr>
          <p:cNvPr id="53" name="独立图标或流程线" descr="p07_icon5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735174" y="4791075"/>
            <a:ext cx="190500" cy="95250"/>
          </a:xfrm>
          <a:prstGeom prst="rect">
            <a:avLst/>
          </a:prstGeom>
        </p:spPr>
      </p:pic>
      <p:pic>
        <p:nvPicPr>
          <p:cNvPr id="54" name="独立图标或流程线" descr="p07_icon6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3706475" y="5181600"/>
            <a:ext cx="428625" cy="209550"/>
          </a:xfrm>
          <a:prstGeom prst="rect">
            <a:avLst/>
          </a:prstGeom>
        </p:spPr>
      </p:pic>
      <p:pic>
        <p:nvPicPr>
          <p:cNvPr id="55" name="独立图标或流程线" descr="p07_icon7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830175" y="5705475"/>
            <a:ext cx="466724" cy="542925"/>
          </a:xfrm>
          <a:prstGeom prst="rect">
            <a:avLst/>
          </a:prstGeom>
        </p:spPr>
      </p:pic>
      <p:sp>
        <p:nvSpPr>
          <p:cNvPr id="56" name="文字：针对鲜叶在做青过程中的复杂变化，构建“视觉-光谱-气体-温湿度”等多模"/>
          <p:cNvSpPr txBox="1"/>
          <p:nvPr/>
        </p:nvSpPr>
        <p:spPr>
          <a:xfrm>
            <a:off x="3867150" y="1600200"/>
            <a:ext cx="803910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针对鲜叶在做青过程中的复杂变化，构建“视觉-光谱-气体-温湿度”等多模态感知体系，</a:t>
            </a:r>
            <a:endParaRPr sz="15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7" name="文字：实现对鲜叶外观、内含物质、香气成分与环境参数的同步采集，为后续状态估计"/>
          <p:cNvSpPr txBox="1"/>
          <p:nvPr/>
        </p:nvSpPr>
        <p:spPr>
          <a:xfrm>
            <a:off x="3867150" y="1905000"/>
            <a:ext cx="11134725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85"/>
              </a:lnSpc>
              <a:spcBef>
                <a:spcPts val="0"/>
              </a:spcBef>
              <a:spcAft>
                <a:spcPts val="0"/>
              </a:spcAft>
            </a:pPr>
            <a:r>
              <a:rPr sz="148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实现对鲜叶外观、内含物质、香气成分与环境参数的同步采集，为后续状态估计与工艺决策提供全面、可靠的数据基础。</a:t>
            </a:r>
            <a:endParaRPr sz="148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8" name="文字：多模态数据融合"/>
          <p:cNvSpPr txBox="1"/>
          <p:nvPr/>
        </p:nvSpPr>
        <p:spPr>
          <a:xfrm>
            <a:off x="13154025" y="2524125"/>
            <a:ext cx="1790700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75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多模态数据融合</a:t>
            </a:r>
            <a:endParaRPr sz="175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9" name="文字：视觉图像"/>
          <p:cNvSpPr txBox="1"/>
          <p:nvPr/>
        </p:nvSpPr>
        <p:spPr>
          <a:xfrm>
            <a:off x="4362450" y="3019425"/>
            <a:ext cx="10572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75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视觉图像</a:t>
            </a:r>
            <a:endParaRPr sz="175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0" name="文字：光谱信息"/>
          <p:cNvSpPr txBox="1"/>
          <p:nvPr/>
        </p:nvSpPr>
        <p:spPr>
          <a:xfrm>
            <a:off x="6372225" y="3000375"/>
            <a:ext cx="1066800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930"/>
              </a:lnSpc>
              <a:spcBef>
                <a:spcPts val="0"/>
              </a:spcBef>
              <a:spcAft>
                <a:spcPts val="0"/>
              </a:spcAft>
            </a:pPr>
            <a:r>
              <a:rPr sz="193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光谱信息</a:t>
            </a:r>
            <a:endParaRPr sz="193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1" name="文字：气体信息"/>
          <p:cNvSpPr txBox="1"/>
          <p:nvPr/>
        </p:nvSpPr>
        <p:spPr>
          <a:xfrm>
            <a:off x="8382000" y="2990850"/>
            <a:ext cx="1066800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930"/>
              </a:lnSpc>
              <a:spcBef>
                <a:spcPts val="0"/>
              </a:spcBef>
              <a:spcAft>
                <a:spcPts val="0"/>
              </a:spcAft>
            </a:pPr>
            <a:r>
              <a:rPr sz="193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气体信息</a:t>
            </a:r>
            <a:endParaRPr sz="193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2" name="文字：环境参数"/>
          <p:cNvSpPr txBox="1"/>
          <p:nvPr/>
        </p:nvSpPr>
        <p:spPr>
          <a:xfrm>
            <a:off x="10401300" y="3019425"/>
            <a:ext cx="1066800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75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环境参数</a:t>
            </a:r>
            <a:endParaRPr sz="175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3" name="文字：图像特征"/>
          <p:cNvSpPr txBox="1"/>
          <p:nvPr/>
        </p:nvSpPr>
        <p:spPr>
          <a:xfrm>
            <a:off x="14744700" y="3190875"/>
            <a:ext cx="771525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图像特征</a:t>
            </a:r>
            <a:endParaRPr sz="13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4" name="文字：获取叶片外观形态信息"/>
          <p:cNvSpPr txBox="1"/>
          <p:nvPr/>
        </p:nvSpPr>
        <p:spPr>
          <a:xfrm>
            <a:off x="4000500" y="3352800"/>
            <a:ext cx="1771650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</a:pPr>
            <a:r>
              <a:rPr sz="132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获取叶片外观形态信息</a:t>
            </a:r>
            <a:endParaRPr sz="132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5" name="文字：反映内含物质变化"/>
          <p:cNvSpPr txBox="1"/>
          <p:nvPr/>
        </p:nvSpPr>
        <p:spPr>
          <a:xfrm>
            <a:off x="6191250" y="3352800"/>
            <a:ext cx="1438275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33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反映内含物质变化</a:t>
            </a:r>
            <a:endParaRPr sz="133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6" name="文字：捕捉香气成分动态"/>
          <p:cNvSpPr txBox="1"/>
          <p:nvPr/>
        </p:nvSpPr>
        <p:spPr>
          <a:xfrm>
            <a:off x="8191500" y="3352800"/>
            <a:ext cx="1457325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捕捉香气成分动态</a:t>
            </a:r>
            <a:endParaRPr sz="13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7" name="文字：记录工艺环境条件"/>
          <p:cNvSpPr txBox="1"/>
          <p:nvPr/>
        </p:nvSpPr>
        <p:spPr>
          <a:xfrm>
            <a:off x="10201275" y="3352800"/>
            <a:ext cx="1457325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记录工艺环境条件</a:t>
            </a:r>
            <a:endParaRPr sz="13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8" name="文字：光谱特征"/>
          <p:cNvSpPr txBox="1"/>
          <p:nvPr/>
        </p:nvSpPr>
        <p:spPr>
          <a:xfrm>
            <a:off x="14744700" y="3562350"/>
            <a:ext cx="771525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光谱特征</a:t>
            </a:r>
            <a:endParaRPr sz="13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9" name="文字：气体特征"/>
          <p:cNvSpPr txBox="1"/>
          <p:nvPr/>
        </p:nvSpPr>
        <p:spPr>
          <a:xfrm>
            <a:off x="14754225" y="3962400"/>
            <a:ext cx="771525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气体特征</a:t>
            </a:r>
            <a:endParaRPr sz="13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0" name="文字：环境特征"/>
          <p:cNvSpPr txBox="1"/>
          <p:nvPr/>
        </p:nvSpPr>
        <p:spPr>
          <a:xfrm>
            <a:off x="14744700" y="4371975"/>
            <a:ext cx="771525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环境特征</a:t>
            </a:r>
            <a:endParaRPr sz="13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1" name="文字：·叶片颜色（RGB)"/>
          <p:cNvSpPr txBox="1"/>
          <p:nvPr/>
        </p:nvSpPr>
        <p:spPr>
          <a:xfrm>
            <a:off x="4010025" y="5019675"/>
            <a:ext cx="1552575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15"/>
              </a:lnSpc>
              <a:spcBef>
                <a:spcPts val="0"/>
              </a:spcBef>
              <a:spcAft>
                <a:spcPts val="0"/>
              </a:spcAft>
            </a:pPr>
            <a:r>
              <a:rPr sz="141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·叶片颜色（RGB)</a:t>
            </a:r>
            <a:endParaRPr sz="141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2" name="文字：·近红外光谱（NIR)"/>
          <p:cNvSpPr txBox="1"/>
          <p:nvPr/>
        </p:nvSpPr>
        <p:spPr>
          <a:xfrm>
            <a:off x="6029325" y="5019675"/>
            <a:ext cx="1685925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·近红外光谱（NIR)</a:t>
            </a:r>
            <a:endParaRPr sz="13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3" name="文字：·挥发性有机物（VOCs)"/>
          <p:cNvSpPr txBox="1"/>
          <p:nvPr/>
        </p:nvSpPr>
        <p:spPr>
          <a:xfrm>
            <a:off x="8020050" y="5029200"/>
            <a:ext cx="1819275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·挥发性有机物（VOCs)</a:t>
            </a:r>
            <a:endParaRPr sz="13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4" name="文字：·温度"/>
          <p:cNvSpPr txBox="1"/>
          <p:nvPr/>
        </p:nvSpPr>
        <p:spPr>
          <a:xfrm>
            <a:off x="10020300" y="5029200"/>
            <a:ext cx="666750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85"/>
              </a:lnSpc>
              <a:spcBef>
                <a:spcPts val="0"/>
              </a:spcBef>
              <a:spcAft>
                <a:spcPts val="0"/>
              </a:spcAft>
            </a:pPr>
            <a:r>
              <a:rPr sz="148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·温度</a:t>
            </a:r>
            <a:endParaRPr sz="148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5" name="文字：·叶面纹理"/>
          <p:cNvSpPr txBox="1"/>
          <p:nvPr/>
        </p:nvSpPr>
        <p:spPr>
          <a:xfrm>
            <a:off x="4010025" y="5295900"/>
            <a:ext cx="971550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95"/>
              </a:lnSpc>
              <a:spcBef>
                <a:spcPts val="0"/>
              </a:spcBef>
              <a:spcAft>
                <a:spcPts val="0"/>
              </a:spcAft>
            </a:pPr>
            <a:r>
              <a:rPr sz="139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·叶面纹理</a:t>
            </a:r>
            <a:endParaRPr sz="139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6" name="文字：·叶绿素含量"/>
          <p:cNvSpPr txBox="1"/>
          <p:nvPr/>
        </p:nvSpPr>
        <p:spPr>
          <a:xfrm>
            <a:off x="6038850" y="5295900"/>
            <a:ext cx="1123950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60"/>
              </a:lnSpc>
              <a:spcBef>
                <a:spcPts val="0"/>
              </a:spcBef>
              <a:spcAft>
                <a:spcPts val="0"/>
              </a:spcAft>
            </a:pPr>
            <a:r>
              <a:rPr sz="136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·叶绿素含量</a:t>
            </a:r>
            <a:endParaRPr sz="136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7" name="文字：·香气特征指纹"/>
          <p:cNvSpPr txBox="1"/>
          <p:nvPr/>
        </p:nvSpPr>
        <p:spPr>
          <a:xfrm>
            <a:off x="8039100" y="5305425"/>
            <a:ext cx="126682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280"/>
              </a:lnSpc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·香气特征指纹</a:t>
            </a:r>
            <a:endParaRPr sz="128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8" name="文字：·湿度"/>
          <p:cNvSpPr txBox="1"/>
          <p:nvPr/>
        </p:nvSpPr>
        <p:spPr>
          <a:xfrm>
            <a:off x="10010775" y="5286375"/>
            <a:ext cx="676275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·湿度</a:t>
            </a:r>
            <a:endParaRPr sz="15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9" name="文字：·叶片形态与完整度"/>
          <p:cNvSpPr txBox="1"/>
          <p:nvPr/>
        </p:nvSpPr>
        <p:spPr>
          <a:xfrm>
            <a:off x="4010025" y="5562600"/>
            <a:ext cx="1619250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40"/>
              </a:lnSpc>
              <a:spcBef>
                <a:spcPts val="0"/>
              </a:spcBef>
              <a:spcAft>
                <a:spcPts val="0"/>
              </a:spcAft>
            </a:pPr>
            <a:r>
              <a:rPr sz="134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·叶片形态与完整度</a:t>
            </a:r>
            <a:endParaRPr sz="134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0" name="文字：·多酚类物质特征"/>
          <p:cNvSpPr txBox="1"/>
          <p:nvPr/>
        </p:nvSpPr>
        <p:spPr>
          <a:xfrm>
            <a:off x="6038850" y="5572125"/>
            <a:ext cx="1447800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40"/>
              </a:lnSpc>
              <a:spcBef>
                <a:spcPts val="0"/>
              </a:spcBef>
              <a:spcAft>
                <a:spcPts val="0"/>
              </a:spcAft>
            </a:pPr>
            <a:r>
              <a:rPr sz="134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·多酚类物质特征</a:t>
            </a:r>
            <a:endParaRPr sz="134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1" name="文字：·芳香物质种类与浓度"/>
          <p:cNvSpPr txBox="1"/>
          <p:nvPr/>
        </p:nvSpPr>
        <p:spPr>
          <a:xfrm>
            <a:off x="8010525" y="5553075"/>
            <a:ext cx="1800225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·芳香物质种类与浓度</a:t>
            </a:r>
            <a:endParaRPr sz="13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2" name="文字：·通风风速"/>
          <p:cNvSpPr txBox="1"/>
          <p:nvPr/>
        </p:nvSpPr>
        <p:spPr>
          <a:xfrm>
            <a:off x="10029825" y="5562600"/>
            <a:ext cx="97155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95"/>
              </a:lnSpc>
              <a:spcBef>
                <a:spcPts val="0"/>
              </a:spcBef>
              <a:spcAft>
                <a:spcPts val="0"/>
              </a:spcAft>
            </a:pPr>
            <a:r>
              <a:rPr sz="139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·通风风速</a:t>
            </a:r>
            <a:endParaRPr sz="139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3" name="文字：多维特征向量"/>
          <p:cNvSpPr txBox="1"/>
          <p:nvPr/>
        </p:nvSpPr>
        <p:spPr>
          <a:xfrm>
            <a:off x="13554075" y="5619750"/>
            <a:ext cx="127635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多维特征向量</a:t>
            </a:r>
            <a:endParaRPr sz="15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4" name="文字：·叶缘变化特征"/>
          <p:cNvSpPr txBox="1"/>
          <p:nvPr/>
        </p:nvSpPr>
        <p:spPr>
          <a:xfrm>
            <a:off x="4010025" y="5829300"/>
            <a:ext cx="1285875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·叶缘变化特征</a:t>
            </a:r>
            <a:endParaRPr sz="13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5" name="文字：·水分与化学成分信息"/>
          <p:cNvSpPr txBox="1"/>
          <p:nvPr/>
        </p:nvSpPr>
        <p:spPr>
          <a:xfrm>
            <a:off x="6048375" y="5838825"/>
            <a:ext cx="1762125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·水分与化学成分信息</a:t>
            </a:r>
            <a:endParaRPr sz="132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6" name="文字：·气味变化趋势"/>
          <p:cNvSpPr txBox="1"/>
          <p:nvPr/>
        </p:nvSpPr>
        <p:spPr>
          <a:xfrm>
            <a:off x="8010525" y="5829300"/>
            <a:ext cx="1304925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70"/>
              </a:lnSpc>
              <a:spcBef>
                <a:spcPts val="0"/>
              </a:spcBef>
              <a:spcAft>
                <a:spcPts val="0"/>
              </a:spcAft>
            </a:pPr>
            <a:r>
              <a:rPr sz="137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·气味变化趋势</a:t>
            </a:r>
            <a:endParaRPr sz="137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7" name="文字：·环境变化趋势"/>
          <p:cNvSpPr txBox="1"/>
          <p:nvPr/>
        </p:nvSpPr>
        <p:spPr>
          <a:xfrm>
            <a:off x="10039350" y="5848350"/>
            <a:ext cx="1285875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·环境变化趋势</a:t>
            </a:r>
            <a:endParaRPr sz="13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8" name="文字：为状态估计与工艺决策"/>
          <p:cNvSpPr txBox="1"/>
          <p:nvPr/>
        </p:nvSpPr>
        <p:spPr>
          <a:xfrm>
            <a:off x="13563600" y="5924550"/>
            <a:ext cx="1790700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40"/>
              </a:lnSpc>
              <a:spcBef>
                <a:spcPts val="0"/>
              </a:spcBef>
              <a:spcAft>
                <a:spcPts val="0"/>
              </a:spcAft>
            </a:pPr>
            <a:r>
              <a:rPr sz="134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为状态估计与工艺决策</a:t>
            </a:r>
            <a:endParaRPr sz="134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9" name="文字：看得见"/>
          <p:cNvSpPr txBox="1"/>
          <p:nvPr/>
        </p:nvSpPr>
        <p:spPr>
          <a:xfrm>
            <a:off x="4495800" y="6257925"/>
            <a:ext cx="80962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82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看得见</a:t>
            </a:r>
            <a:endParaRPr sz="1820" b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0" name="文字：测得准"/>
          <p:cNvSpPr txBox="1"/>
          <p:nvPr/>
        </p:nvSpPr>
        <p:spPr>
          <a:xfrm>
            <a:off x="6505575" y="6257925"/>
            <a:ext cx="838200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955" b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测得准</a:t>
            </a:r>
            <a:endParaRPr sz="1955" b="1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1" name="文字：提供全面的数据基础"/>
          <p:cNvSpPr txBox="1"/>
          <p:nvPr/>
        </p:nvSpPr>
        <p:spPr>
          <a:xfrm>
            <a:off x="13554075" y="6172200"/>
            <a:ext cx="1638300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提供全面的数据基础</a:t>
            </a:r>
            <a:endParaRPr sz="13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2" name="文字：闻得到"/>
          <p:cNvSpPr txBox="1"/>
          <p:nvPr/>
        </p:nvSpPr>
        <p:spPr>
          <a:xfrm>
            <a:off x="8515350" y="6267450"/>
            <a:ext cx="8191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82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闻得到</a:t>
            </a:r>
            <a:endParaRPr sz="1820" b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3" name="文字：知环境"/>
          <p:cNvSpPr txBox="1"/>
          <p:nvPr/>
        </p:nvSpPr>
        <p:spPr>
          <a:xfrm>
            <a:off x="10525125" y="6267450"/>
            <a:ext cx="8191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82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知环境</a:t>
            </a:r>
            <a:endParaRPr sz="1820" b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4" name="文字：多维感知融合，让鲜叶状态从“经验判断”走向“数据认知”"/>
          <p:cNvSpPr txBox="1"/>
          <p:nvPr/>
        </p:nvSpPr>
        <p:spPr>
          <a:xfrm>
            <a:off x="6257925" y="7826651"/>
            <a:ext cx="656272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82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多维感知融合，让鲜叶状态从“经验判断”走向“数据认知”</a:t>
            </a:r>
            <a:endParaRPr sz="1820" b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共享背景：原图茶园风景（无内容组件）" descr="landscap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5925800" cy="8963025"/>
          </a:xfrm>
          <a:prstGeom prst="rect">
            <a:avLst/>
          </a:prstGeom>
        </p:spPr>
      </p:pic>
      <p:sp>
        <p:nvSpPr>
          <p:cNvPr id="3" name="可编辑框架"/>
          <p:cNvSpPr/>
          <p:nvPr/>
        </p:nvSpPr>
        <p:spPr>
          <a:xfrm>
            <a:off x="0" y="0"/>
            <a:ext cx="15925800" cy="723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：青韵智控"/>
          <p:cNvSpPr txBox="1"/>
          <p:nvPr/>
        </p:nvSpPr>
        <p:spPr>
          <a:xfrm>
            <a:off x="361950" y="190500"/>
            <a:ext cx="13335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73F32"/>
                </a:solidFill>
                <a:latin typeface="微软雅黑" panose="020B0503020204020204" charset="-122"/>
                <a:ea typeface="微软雅黑" panose="020B0503020204020204" charset="-122"/>
              </a:rPr>
              <a:t>青韵智控</a:t>
            </a:r>
            <a:endParaRPr sz="2400" b="1">
              <a:solidFill>
                <a:srgbClr val="073F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1819275" y="257175"/>
            <a:ext cx="0" cy="2762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字：让传统制茶更可控"/>
          <p:cNvSpPr txBox="1"/>
          <p:nvPr/>
        </p:nvSpPr>
        <p:spPr>
          <a:xfrm>
            <a:off x="2076450" y="238125"/>
            <a:ext cx="2190750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让传统制茶更可控</a:t>
            </a:r>
            <a:endParaRPr sz="18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文字：项目背景"/>
          <p:cNvSpPr txBox="1"/>
          <p:nvPr/>
        </p:nvSpPr>
        <p:spPr>
          <a:xfrm>
            <a:off x="8515350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项目背景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9486900" y="323850"/>
            <a:ext cx="0" cy="1619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字：项目概述"/>
          <p:cNvSpPr txBox="1"/>
          <p:nvPr/>
        </p:nvSpPr>
        <p:spPr>
          <a:xfrm>
            <a:off x="9648825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项目概述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10620375" y="323850"/>
            <a:ext cx="0" cy="1619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字：关键技术"/>
          <p:cNvSpPr txBox="1"/>
          <p:nvPr/>
        </p:nvSpPr>
        <p:spPr>
          <a:xfrm>
            <a:off x="10782300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关键技术</a:t>
            </a:r>
            <a:endParaRPr sz="150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11753850" y="323850"/>
            <a:ext cx="0" cy="1619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1020425" y="628650"/>
            <a:ext cx="381000" cy="0"/>
          </a:xfrm>
          <a:prstGeom prst="line">
            <a:avLst/>
          </a:prstGeom>
          <a:ln w="19050">
            <a:solidFill>
              <a:srgbClr val="073F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字：实施与验证"/>
          <p:cNvSpPr txBox="1"/>
          <p:nvPr/>
        </p:nvSpPr>
        <p:spPr>
          <a:xfrm>
            <a:off x="11915775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实施与验证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12887325" y="323850"/>
            <a:ext cx="0" cy="1619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字：商业模式"/>
          <p:cNvSpPr txBox="1"/>
          <p:nvPr/>
        </p:nvSpPr>
        <p:spPr>
          <a:xfrm>
            <a:off x="13049250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商业模式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14020800" y="323850"/>
            <a:ext cx="0" cy="1619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字：未来展望"/>
          <p:cNvSpPr txBox="1"/>
          <p:nvPr/>
        </p:nvSpPr>
        <p:spPr>
          <a:xfrm>
            <a:off x="14182725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未来展望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9" name="文字：08"/>
          <p:cNvSpPr txBox="1"/>
          <p:nvPr/>
        </p:nvSpPr>
        <p:spPr>
          <a:xfrm>
            <a:off x="15163800" y="257175"/>
            <a:ext cx="428625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950" b="0">
                <a:solidFill>
                  <a:srgbClr val="073F32"/>
                </a:solidFill>
                <a:latin typeface="Times New Roman" panose="02020603050405020304"/>
                <a:ea typeface="Times New Roman" panose="02020603050405020304"/>
              </a:rPr>
              <a:t>08</a:t>
            </a:r>
            <a:endParaRPr sz="1950" b="0">
              <a:solidFill>
                <a:srgbClr val="073F32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cxnSp>
        <p:nvCxnSpPr>
          <p:cNvPr id="20" name="Connector 19"/>
          <p:cNvCxnSpPr/>
          <p:nvPr/>
        </p:nvCxnSpPr>
        <p:spPr>
          <a:xfrm>
            <a:off x="0" y="723900"/>
            <a:ext cx="15725775" cy="0"/>
          </a:xfrm>
          <a:prstGeom prst="line">
            <a:avLst/>
          </a:prstGeom>
          <a:ln w="9525">
            <a:solidFill>
              <a:srgbClr val="C7D8D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571875" y="990600"/>
            <a:ext cx="0" cy="6896100"/>
          </a:xfrm>
          <a:prstGeom prst="line">
            <a:avLst/>
          </a:prstGeom>
          <a:ln w="9525">
            <a:solidFill>
              <a:srgbClr val="A4BCB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字：03"/>
          <p:cNvSpPr txBox="1"/>
          <p:nvPr/>
        </p:nvSpPr>
        <p:spPr>
          <a:xfrm>
            <a:off x="457200" y="1409700"/>
            <a:ext cx="2286000" cy="1666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500"/>
              </a:lnSpc>
              <a:spcBef>
                <a:spcPts val="0"/>
              </a:spcBef>
              <a:spcAft>
                <a:spcPts val="0"/>
              </a:spcAft>
            </a:pPr>
            <a:r>
              <a:rPr sz="13500" b="1" i="1">
                <a:solidFill>
                  <a:srgbClr val="073F32"/>
                </a:solidFill>
                <a:latin typeface="Times New Roman" panose="02020603050405020304"/>
                <a:ea typeface="Times New Roman" panose="02020603050405020304"/>
              </a:rPr>
              <a:t>03</a:t>
            </a:r>
            <a:endParaRPr sz="13500" b="1" i="1">
              <a:solidFill>
                <a:srgbClr val="073F32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cxnSp>
        <p:nvCxnSpPr>
          <p:cNvPr id="23" name="Connector 22"/>
          <p:cNvCxnSpPr/>
          <p:nvPr/>
        </p:nvCxnSpPr>
        <p:spPr>
          <a:xfrm flipV="1">
            <a:off x="2619375" y="1704975"/>
            <a:ext cx="514350" cy="1190625"/>
          </a:xfrm>
          <a:prstGeom prst="line">
            <a:avLst/>
          </a:prstGeom>
          <a:ln w="11429">
            <a:solidFill>
              <a:srgbClr val="073F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字：关键技术"/>
          <p:cNvSpPr txBox="1"/>
          <p:nvPr/>
        </p:nvSpPr>
        <p:spPr>
          <a:xfrm>
            <a:off x="485775" y="3114675"/>
            <a:ext cx="3000375" cy="838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5250"/>
              </a:lnSpc>
              <a:spcBef>
                <a:spcPts val="0"/>
              </a:spcBef>
              <a:spcAft>
                <a:spcPts val="0"/>
              </a:spcAft>
            </a:pPr>
            <a:r>
              <a:rPr sz="525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关键技术</a:t>
            </a:r>
            <a:endParaRPr sz="525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5" name="文字：多模态感知、&#10;状态估计与自适应控制"/>
          <p:cNvSpPr txBox="1"/>
          <p:nvPr/>
        </p:nvSpPr>
        <p:spPr>
          <a:xfrm>
            <a:off x="552450" y="4076700"/>
            <a:ext cx="2905125" cy="838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sz="217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多模态感知、</a:t>
            </a:r>
            <a:br>
              <a:rPr sz="217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sz="217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状态估计与自适应控制</a:t>
            </a:r>
            <a:endParaRPr sz="217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26" name="Connector 25"/>
          <p:cNvCxnSpPr/>
          <p:nvPr/>
        </p:nvCxnSpPr>
        <p:spPr>
          <a:xfrm>
            <a:off x="552450" y="5076825"/>
            <a:ext cx="400050" cy="0"/>
          </a:xfrm>
          <a:prstGeom prst="line">
            <a:avLst/>
          </a:prstGeom>
          <a:ln w="9525">
            <a:solidFill>
              <a:srgbClr val="073F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字：“看得见、闻得到、&#10; 测得准，才能控得住。”"/>
          <p:cNvSpPr txBox="1"/>
          <p:nvPr/>
        </p:nvSpPr>
        <p:spPr>
          <a:xfrm>
            <a:off x="457200" y="5314950"/>
            <a:ext cx="2990850" cy="1095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930"/>
              </a:lnSpc>
              <a:spcBef>
                <a:spcPts val="0"/>
              </a:spcBef>
              <a:spcAft>
                <a:spcPts val="0"/>
              </a:spcAft>
            </a:pPr>
            <a:r>
              <a:rPr sz="1930" b="0">
                <a:solidFill>
                  <a:srgbClr val="073F32"/>
                </a:solidFill>
                <a:latin typeface="楷体" panose="02010609060101010101" charset="-122"/>
                <a:ea typeface="楷体" panose="02010609060101010101" charset="-122"/>
              </a:rPr>
              <a:t>“看得见、闻得到、</a:t>
            </a:r>
            <a:br>
              <a:rPr sz="1930" b="0">
                <a:solidFill>
                  <a:srgbClr val="073F32"/>
                </a:solidFill>
                <a:latin typeface="楷体" panose="02010609060101010101" charset="-122"/>
                <a:ea typeface="楷体" panose="02010609060101010101" charset="-122"/>
              </a:rPr>
            </a:br>
            <a:r>
              <a:rPr sz="1930" b="0">
                <a:solidFill>
                  <a:srgbClr val="073F32"/>
                </a:solidFill>
                <a:latin typeface="楷体" panose="02010609060101010101" charset="-122"/>
                <a:ea typeface="楷体" panose="02010609060101010101" charset="-122"/>
              </a:rPr>
              <a:t> 测得准，才能控得住。”</a:t>
            </a:r>
            <a:endParaRPr sz="1930" b="0">
              <a:solidFill>
                <a:srgbClr val="073F32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28" name="文字：中 国 茶 · 产 业 智 造 · 中 国 未 来"/>
          <p:cNvSpPr txBox="1"/>
          <p:nvPr/>
        </p:nvSpPr>
        <p:spPr>
          <a:xfrm>
            <a:off x="11791950" y="8439150"/>
            <a:ext cx="3619500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 国 茶 · 产 业 智 造 · 中 国 未 来</a:t>
            </a:r>
            <a:endParaRPr sz="13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9" name="文字：3.2 电子鼻工程化"/>
          <p:cNvSpPr txBox="1"/>
          <p:nvPr/>
        </p:nvSpPr>
        <p:spPr>
          <a:xfrm>
            <a:off x="3867150" y="981075"/>
            <a:ext cx="3248025" cy="514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3150"/>
              </a:lnSpc>
              <a:spcBef>
                <a:spcPts val="0"/>
              </a:spcBef>
              <a:spcAft>
                <a:spcPts val="0"/>
              </a:spcAft>
            </a:pPr>
            <a:r>
              <a:rPr sz="315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3.2 电子鼻工程化</a:t>
            </a:r>
            <a:endParaRPr sz="315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30" name="Connector 29"/>
          <p:cNvCxnSpPr/>
          <p:nvPr/>
        </p:nvCxnSpPr>
        <p:spPr>
          <a:xfrm>
            <a:off x="7200900" y="1085850"/>
            <a:ext cx="0" cy="304800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字：稳定采样与跨批次校准是电子鼻走向真实生产的关键"/>
          <p:cNvSpPr txBox="1"/>
          <p:nvPr/>
        </p:nvSpPr>
        <p:spPr>
          <a:xfrm>
            <a:off x="7372350" y="1038225"/>
            <a:ext cx="8134350" cy="4476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稳定采样与跨批次校准是电子鼻走向真实生产的关键</a:t>
            </a:r>
            <a:endParaRPr sz="210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2" name="可编辑框架"/>
          <p:cNvSpPr/>
          <p:nvPr/>
        </p:nvSpPr>
        <p:spPr>
          <a:xfrm>
            <a:off x="3867150" y="2352675"/>
            <a:ext cx="3924300" cy="4552950"/>
          </a:xfrm>
          <a:prstGeom prst="roundRect">
            <a:avLst>
              <a:gd name="adj" fmla="val 2500"/>
            </a:avLst>
          </a:prstGeom>
          <a:solidFill>
            <a:srgbClr val="F2F9F6"/>
          </a:solidFill>
          <a:ln>
            <a:solidFill>
              <a:srgbClr val="C8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可编辑框架"/>
          <p:cNvSpPr/>
          <p:nvPr/>
        </p:nvSpPr>
        <p:spPr>
          <a:xfrm>
            <a:off x="7981950" y="2352675"/>
            <a:ext cx="4495800" cy="4552950"/>
          </a:xfrm>
          <a:prstGeom prst="roundRect">
            <a:avLst>
              <a:gd name="adj" fmla="val 2500"/>
            </a:avLst>
          </a:prstGeom>
          <a:solidFill>
            <a:srgbClr val="F2F9F6"/>
          </a:solidFill>
          <a:ln>
            <a:solidFill>
              <a:srgbClr val="C8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可编辑框架"/>
          <p:cNvSpPr/>
          <p:nvPr/>
        </p:nvSpPr>
        <p:spPr>
          <a:xfrm>
            <a:off x="12725400" y="2352675"/>
            <a:ext cx="2828925" cy="4552950"/>
          </a:xfrm>
          <a:prstGeom prst="roundRect">
            <a:avLst>
              <a:gd name="adj" fmla="val 2500"/>
            </a:avLst>
          </a:prstGeom>
          <a:solidFill>
            <a:srgbClr val="F2F9F6"/>
          </a:solidFill>
          <a:ln>
            <a:solidFill>
              <a:srgbClr val="C8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可编辑框架"/>
          <p:cNvSpPr/>
          <p:nvPr/>
        </p:nvSpPr>
        <p:spPr>
          <a:xfrm>
            <a:off x="12839700" y="5572125"/>
            <a:ext cx="2619375" cy="1219200"/>
          </a:xfrm>
          <a:prstGeom prst="roundRect">
            <a:avLst>
              <a:gd name="adj" fmla="val 2500"/>
            </a:avLst>
          </a:prstGeom>
          <a:solidFill>
            <a:srgbClr val="F2F9F6"/>
          </a:solidFill>
          <a:ln>
            <a:solidFill>
              <a:srgbClr val="C8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可编辑框架"/>
          <p:cNvSpPr/>
          <p:nvPr/>
        </p:nvSpPr>
        <p:spPr>
          <a:xfrm>
            <a:off x="3867150" y="2352675"/>
            <a:ext cx="3924300" cy="419100"/>
          </a:xfrm>
          <a:prstGeom prst="rect">
            <a:avLst/>
          </a:prstGeom>
          <a:solidFill>
            <a:srgbClr val="E2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可编辑框架"/>
          <p:cNvSpPr/>
          <p:nvPr/>
        </p:nvSpPr>
        <p:spPr>
          <a:xfrm>
            <a:off x="7981950" y="2352675"/>
            <a:ext cx="4495800" cy="419100"/>
          </a:xfrm>
          <a:prstGeom prst="rect">
            <a:avLst/>
          </a:prstGeom>
          <a:solidFill>
            <a:srgbClr val="E2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可编辑框架"/>
          <p:cNvSpPr/>
          <p:nvPr/>
        </p:nvSpPr>
        <p:spPr>
          <a:xfrm>
            <a:off x="12725400" y="2352675"/>
            <a:ext cx="2828925" cy="419100"/>
          </a:xfrm>
          <a:prstGeom prst="rect">
            <a:avLst/>
          </a:prstGeom>
          <a:solidFill>
            <a:srgbClr val="E2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可编辑框架"/>
          <p:cNvSpPr/>
          <p:nvPr/>
        </p:nvSpPr>
        <p:spPr>
          <a:xfrm>
            <a:off x="3867150" y="7715250"/>
            <a:ext cx="11677650" cy="428625"/>
          </a:xfrm>
          <a:prstGeom prst="roundRect">
            <a:avLst>
              <a:gd name="adj" fmla="val 2500"/>
            </a:avLst>
          </a:prstGeom>
          <a:solidFill>
            <a:srgbClr val="095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可编辑框架"/>
          <p:cNvSpPr/>
          <p:nvPr/>
        </p:nvSpPr>
        <p:spPr>
          <a:xfrm>
            <a:off x="3867150" y="8153400"/>
            <a:ext cx="11677650" cy="266700"/>
          </a:xfrm>
          <a:prstGeom prst="rect">
            <a:avLst/>
          </a:prstGeom>
          <a:solidFill>
            <a:srgbClr val="F1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独立照片或曲线图（内部为像素）" descr="p08_photo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3725" y="2857500"/>
            <a:ext cx="1514475" cy="542925"/>
          </a:xfrm>
          <a:prstGeom prst="rect">
            <a:avLst/>
          </a:prstGeom>
        </p:spPr>
      </p:pic>
      <p:pic>
        <p:nvPicPr>
          <p:cNvPr id="42" name="独立照片或曲线图（内部为像素）" descr="p08_photo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3250" y="3552825"/>
            <a:ext cx="1504950" cy="523874"/>
          </a:xfrm>
          <a:prstGeom prst="rect">
            <a:avLst/>
          </a:prstGeom>
        </p:spPr>
      </p:pic>
      <p:pic>
        <p:nvPicPr>
          <p:cNvPr id="43" name="独立照片或曲线图（内部为像素）" descr="p08_photo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63250" y="4200525"/>
            <a:ext cx="1504950" cy="581025"/>
          </a:xfrm>
          <a:prstGeom prst="rect">
            <a:avLst/>
          </a:prstGeom>
        </p:spPr>
      </p:pic>
      <p:pic>
        <p:nvPicPr>
          <p:cNvPr id="44" name="独立照片或曲线图（内部为像素）" descr="p08_photo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96600" y="4933950"/>
            <a:ext cx="1419225" cy="438150"/>
          </a:xfrm>
          <a:prstGeom prst="rect">
            <a:avLst/>
          </a:prstGeom>
        </p:spPr>
      </p:pic>
      <p:pic>
        <p:nvPicPr>
          <p:cNvPr id="45" name="独立照片或曲线图（内部为像素）" descr="p08_photo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06125" y="5591175"/>
            <a:ext cx="1238250" cy="533400"/>
          </a:xfrm>
          <a:prstGeom prst="rect">
            <a:avLst/>
          </a:prstGeom>
        </p:spPr>
      </p:pic>
      <p:pic>
        <p:nvPicPr>
          <p:cNvPr id="46" name="独立照片或曲线图（内部为像素）" descr="p08_photo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63250" y="6238875"/>
            <a:ext cx="1495425" cy="495299"/>
          </a:xfrm>
          <a:prstGeom prst="rect">
            <a:avLst/>
          </a:prstGeom>
        </p:spPr>
      </p:pic>
      <p:pic>
        <p:nvPicPr>
          <p:cNvPr id="47" name="独立图标或流程线" descr="p08_icon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10549" y="2914650"/>
            <a:ext cx="400050" cy="419100"/>
          </a:xfrm>
          <a:prstGeom prst="rect">
            <a:avLst/>
          </a:prstGeom>
        </p:spPr>
      </p:pic>
      <p:pic>
        <p:nvPicPr>
          <p:cNvPr id="48" name="独立图标或流程线" descr="p08_icon1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154025" y="2943225"/>
            <a:ext cx="371475" cy="371475"/>
          </a:xfrm>
          <a:prstGeom prst="rect">
            <a:avLst/>
          </a:prstGeom>
        </p:spPr>
      </p:pic>
      <p:pic>
        <p:nvPicPr>
          <p:cNvPr id="49" name="独立图标或流程线" descr="p08_icon2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19575" y="2971800"/>
            <a:ext cx="342900" cy="428625"/>
          </a:xfrm>
          <a:prstGeom prst="rect">
            <a:avLst/>
          </a:prstGeom>
        </p:spPr>
      </p:pic>
      <p:pic>
        <p:nvPicPr>
          <p:cNvPr id="50" name="独立图标或流程线" descr="p08_icon3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115925" y="3505200"/>
            <a:ext cx="447675" cy="409575"/>
          </a:xfrm>
          <a:prstGeom prst="rect">
            <a:avLst/>
          </a:prstGeom>
        </p:spPr>
      </p:pic>
      <p:pic>
        <p:nvPicPr>
          <p:cNvPr id="51" name="独立图标或流程线" descr="p08_icon4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58175" y="3590925"/>
            <a:ext cx="295275" cy="419100"/>
          </a:xfrm>
          <a:prstGeom prst="rect">
            <a:avLst/>
          </a:prstGeom>
        </p:spPr>
      </p:pic>
      <p:pic>
        <p:nvPicPr>
          <p:cNvPr id="52" name="独立图标或流程线" descr="p08_icon5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181475" y="3790949"/>
            <a:ext cx="428625" cy="381000"/>
          </a:xfrm>
          <a:prstGeom prst="rect">
            <a:avLst/>
          </a:prstGeom>
        </p:spPr>
      </p:pic>
      <p:pic>
        <p:nvPicPr>
          <p:cNvPr id="53" name="独立图标或流程线" descr="p08_icon6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3144500" y="4076699"/>
            <a:ext cx="400050" cy="447675"/>
          </a:xfrm>
          <a:prstGeom prst="rect">
            <a:avLst/>
          </a:prstGeom>
        </p:spPr>
      </p:pic>
      <p:pic>
        <p:nvPicPr>
          <p:cNvPr id="54" name="独立图标或流程线" descr="p08_icon7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220075" y="4305300"/>
            <a:ext cx="381000" cy="371475"/>
          </a:xfrm>
          <a:prstGeom prst="rect">
            <a:avLst/>
          </a:prstGeom>
        </p:spPr>
      </p:pic>
      <p:pic>
        <p:nvPicPr>
          <p:cNvPr id="55" name="独立图标或流程线" descr="p08_icon8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181475" y="4619625"/>
            <a:ext cx="428625" cy="428625"/>
          </a:xfrm>
          <a:prstGeom prst="rect">
            <a:avLst/>
          </a:prstGeom>
        </p:spPr>
      </p:pic>
      <p:pic>
        <p:nvPicPr>
          <p:cNvPr id="56" name="独立图标或流程线" descr="p08_icon9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3125450" y="4676775"/>
            <a:ext cx="428625" cy="428625"/>
          </a:xfrm>
          <a:prstGeom prst="rect">
            <a:avLst/>
          </a:prstGeom>
        </p:spPr>
      </p:pic>
      <p:pic>
        <p:nvPicPr>
          <p:cNvPr id="57" name="独立图标或流程线" descr="p08_icon10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267699" y="4943475"/>
            <a:ext cx="266700" cy="438150"/>
          </a:xfrm>
          <a:prstGeom prst="rect">
            <a:avLst/>
          </a:prstGeom>
        </p:spPr>
      </p:pic>
      <p:pic>
        <p:nvPicPr>
          <p:cNvPr id="58" name="独立图标或流程线" descr="p08_icon11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3992225" y="5314950"/>
            <a:ext cx="371475" cy="190500"/>
          </a:xfrm>
          <a:prstGeom prst="rect">
            <a:avLst/>
          </a:prstGeom>
        </p:spPr>
      </p:pic>
      <p:pic>
        <p:nvPicPr>
          <p:cNvPr id="59" name="独立图标或流程线" descr="p08_icon12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181475" y="5457825"/>
            <a:ext cx="428625" cy="428625"/>
          </a:xfrm>
          <a:prstGeom prst="rect">
            <a:avLst/>
          </a:prstGeom>
        </p:spPr>
      </p:pic>
      <p:pic>
        <p:nvPicPr>
          <p:cNvPr id="60" name="独立图标或流程线" descr="p08_icon13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191500" y="5629275"/>
            <a:ext cx="428625" cy="428625"/>
          </a:xfrm>
          <a:prstGeom prst="rect">
            <a:avLst/>
          </a:prstGeom>
        </p:spPr>
      </p:pic>
      <p:pic>
        <p:nvPicPr>
          <p:cNvPr id="61" name="独立图标或流程线" descr="p08_icon14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2954000" y="5753100"/>
            <a:ext cx="371475" cy="428625"/>
          </a:xfrm>
          <a:prstGeom prst="rect">
            <a:avLst/>
          </a:prstGeom>
        </p:spPr>
      </p:pic>
      <p:pic>
        <p:nvPicPr>
          <p:cNvPr id="62" name="独立图标或流程线" descr="p08_icon15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171950" y="6286500"/>
            <a:ext cx="438150" cy="409575"/>
          </a:xfrm>
          <a:prstGeom prst="rect">
            <a:avLst/>
          </a:prstGeom>
        </p:spPr>
      </p:pic>
      <p:pic>
        <p:nvPicPr>
          <p:cNvPr id="63" name="独立图标或流程线" descr="p08_icon16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191500" y="6296025"/>
            <a:ext cx="419100" cy="400050"/>
          </a:xfrm>
          <a:prstGeom prst="rect">
            <a:avLst/>
          </a:prstGeom>
        </p:spPr>
      </p:pic>
      <p:sp>
        <p:nvSpPr>
          <p:cNvPr id="64" name="文字：电子鼻面临的挑战，不在于MOS传感器能否对香气产生响应，而在于能否在湿"/>
          <p:cNvSpPr txBox="1"/>
          <p:nvPr/>
        </p:nvSpPr>
        <p:spPr>
          <a:xfrm>
            <a:off x="3867150" y="1590675"/>
            <a:ext cx="10906125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电子鼻面临的挑战，不在于MOS传感器能否对香气产生响应，而在于能否在湿热的加工环境、不同批次的茶叶原料</a:t>
            </a:r>
            <a:endParaRPr sz="162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5" name="文字：以及长期重复使用的条件下稳定工作，持续提供可靠、可比的气味指纹，为后续"/>
          <p:cNvSpPr txBox="1"/>
          <p:nvPr/>
        </p:nvSpPr>
        <p:spPr>
          <a:xfrm>
            <a:off x="3876675" y="1914525"/>
            <a:ext cx="10391775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85"/>
              </a:lnSpc>
              <a:spcBef>
                <a:spcPts val="0"/>
              </a:spcBef>
              <a:spcAft>
                <a:spcPts val="0"/>
              </a:spcAft>
            </a:pPr>
            <a:r>
              <a:rPr sz="148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以及长期重复使用的条件下稳定工作，持续提供可靠、可比的气味指纹，为后续状态估计与工艺决策提供支撑。</a:t>
            </a:r>
            <a:endParaRPr sz="148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6" name="文字：主要问题"/>
          <p:cNvSpPr txBox="1"/>
          <p:nvPr/>
        </p:nvSpPr>
        <p:spPr>
          <a:xfrm>
            <a:off x="4067175" y="2409825"/>
            <a:ext cx="1171575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955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主要问题</a:t>
            </a:r>
            <a:endParaRPr sz="1955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7" name="文字：工程措施"/>
          <p:cNvSpPr txBox="1"/>
          <p:nvPr/>
        </p:nvSpPr>
        <p:spPr>
          <a:xfrm>
            <a:off x="8201025" y="2400300"/>
            <a:ext cx="1190625" cy="3524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216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工程措施</a:t>
            </a:r>
            <a:endParaRPr sz="216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8" name="文字：工程目标"/>
          <p:cNvSpPr txBox="1"/>
          <p:nvPr/>
        </p:nvSpPr>
        <p:spPr>
          <a:xfrm>
            <a:off x="12992100" y="2409825"/>
            <a:ext cx="1190625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9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工程目标</a:t>
            </a:r>
            <a:endParaRPr sz="209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9" name="文字：湿度干扰"/>
          <p:cNvSpPr txBox="1"/>
          <p:nvPr/>
        </p:nvSpPr>
        <p:spPr>
          <a:xfrm>
            <a:off x="4895850" y="2933700"/>
            <a:ext cx="971550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745"/>
              </a:lnSpc>
              <a:spcBef>
                <a:spcPts val="0"/>
              </a:spcBef>
              <a:spcAft>
                <a:spcPts val="0"/>
              </a:spcAft>
            </a:pPr>
            <a:r>
              <a:rPr sz="174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湿度干扰</a:t>
            </a:r>
            <a:endParaRPr sz="174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0" name="文字：固定采样流量"/>
          <p:cNvSpPr txBox="1"/>
          <p:nvPr/>
        </p:nvSpPr>
        <p:spPr>
          <a:xfrm>
            <a:off x="8867775" y="2895600"/>
            <a:ext cx="1200150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60"/>
              </a:lnSpc>
              <a:spcBef>
                <a:spcPts val="0"/>
              </a:spcBef>
              <a:spcAft>
                <a:spcPts val="0"/>
              </a:spcAft>
            </a:pPr>
            <a:r>
              <a:rPr sz="146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固定采样流量</a:t>
            </a:r>
            <a:endParaRPr sz="146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1" name="文字：响应稳定"/>
          <p:cNvSpPr txBox="1"/>
          <p:nvPr/>
        </p:nvSpPr>
        <p:spPr>
          <a:xfrm>
            <a:off x="13830300" y="2971800"/>
            <a:ext cx="100012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75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响应稳定</a:t>
            </a:r>
            <a:endParaRPr sz="175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2" name="文字：做青环境湿热变化会显著影响传感响应"/>
          <p:cNvSpPr txBox="1"/>
          <p:nvPr/>
        </p:nvSpPr>
        <p:spPr>
          <a:xfrm>
            <a:off x="4905375" y="3248025"/>
            <a:ext cx="2771775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245"/>
              </a:lnSpc>
              <a:spcBef>
                <a:spcPts val="0"/>
              </a:spcBef>
              <a:spcAft>
                <a:spcPts val="0"/>
              </a:spcAft>
            </a:pPr>
            <a:r>
              <a:rPr sz="124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做青环境湿热变化会显著影响传感响应</a:t>
            </a:r>
            <a:endParaRPr sz="124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3" name="文字：保持采样过程一致"/>
          <p:cNvSpPr txBox="1"/>
          <p:nvPr/>
        </p:nvSpPr>
        <p:spPr>
          <a:xfrm>
            <a:off x="8867775" y="3162300"/>
            <a:ext cx="1362075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255"/>
              </a:lnSpc>
              <a:spcBef>
                <a:spcPts val="0"/>
              </a:spcBef>
              <a:spcAft>
                <a:spcPts val="0"/>
              </a:spcAft>
            </a:pPr>
            <a:r>
              <a:rPr sz="125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保持采样过程一致</a:t>
            </a:r>
            <a:endParaRPr sz="125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4" name="文字：独立清洗气路"/>
          <p:cNvSpPr txBox="1"/>
          <p:nvPr/>
        </p:nvSpPr>
        <p:spPr>
          <a:xfrm>
            <a:off x="8877300" y="3581400"/>
            <a:ext cx="1228725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15"/>
              </a:lnSpc>
              <a:spcBef>
                <a:spcPts val="0"/>
              </a:spcBef>
              <a:spcAft>
                <a:spcPts val="0"/>
              </a:spcAft>
            </a:pPr>
            <a:r>
              <a:rPr sz="141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独立清洗气路</a:t>
            </a:r>
            <a:endParaRPr sz="141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5" name="文字：恢复可控"/>
          <p:cNvSpPr txBox="1"/>
          <p:nvPr/>
        </p:nvSpPr>
        <p:spPr>
          <a:xfrm>
            <a:off x="13830300" y="3562350"/>
            <a:ext cx="1009650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75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恢复可控</a:t>
            </a:r>
            <a:endParaRPr sz="175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6" name="文字：基线漂移"/>
          <p:cNvSpPr txBox="1"/>
          <p:nvPr/>
        </p:nvSpPr>
        <p:spPr>
          <a:xfrm>
            <a:off x="4905375" y="3733800"/>
            <a:ext cx="9810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75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基线漂移</a:t>
            </a:r>
            <a:endParaRPr sz="175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7" name="文字：缩短恢复时间、减少残留"/>
          <p:cNvSpPr txBox="1"/>
          <p:nvPr/>
        </p:nvSpPr>
        <p:spPr>
          <a:xfrm>
            <a:off x="8867775" y="3838575"/>
            <a:ext cx="1828800" cy="2190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121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缩短恢复时间、减少残留</a:t>
            </a:r>
            <a:endParaRPr sz="121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8" name="文字：长时间运行后零点与灵敏度会发生偏移"/>
          <p:cNvSpPr txBox="1"/>
          <p:nvPr/>
        </p:nvSpPr>
        <p:spPr>
          <a:xfrm>
            <a:off x="4905375" y="4048125"/>
            <a:ext cx="2790825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长时间运行后零点与灵敏度会发生偏移</a:t>
            </a:r>
            <a:endParaRPr sz="12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9" name="文字：批次可比"/>
          <p:cNvSpPr txBox="1"/>
          <p:nvPr/>
        </p:nvSpPr>
        <p:spPr>
          <a:xfrm>
            <a:off x="13811250" y="4133850"/>
            <a:ext cx="1019175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835"/>
              </a:lnSpc>
              <a:spcBef>
                <a:spcPts val="0"/>
              </a:spcBef>
              <a:spcAft>
                <a:spcPts val="0"/>
              </a:spcAft>
            </a:pPr>
            <a:r>
              <a:rPr sz="1835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批次可比</a:t>
            </a:r>
            <a:endParaRPr sz="1835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0" name="文字：动态基线"/>
          <p:cNvSpPr txBox="1"/>
          <p:nvPr/>
        </p:nvSpPr>
        <p:spPr>
          <a:xfrm>
            <a:off x="8867775" y="4257675"/>
            <a:ext cx="876300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15"/>
              </a:lnSpc>
              <a:spcBef>
                <a:spcPts val="0"/>
              </a:spcBef>
              <a:spcAft>
                <a:spcPts val="0"/>
              </a:spcAft>
            </a:pPr>
            <a:r>
              <a:rPr sz="141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动态基线</a:t>
            </a:r>
            <a:endParaRPr sz="141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1" name="文字：器件老化"/>
          <p:cNvSpPr txBox="1"/>
          <p:nvPr/>
        </p:nvSpPr>
        <p:spPr>
          <a:xfrm>
            <a:off x="4905375" y="4572000"/>
            <a:ext cx="96202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器件老化</a:t>
            </a:r>
            <a:endParaRPr sz="172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2" name="文字：跟踪零点变化并做归一化"/>
          <p:cNvSpPr txBox="1"/>
          <p:nvPr/>
        </p:nvSpPr>
        <p:spPr>
          <a:xfrm>
            <a:off x="8877300" y="4524375"/>
            <a:ext cx="1819275" cy="2190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121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跟踪零点变化并做归一化</a:t>
            </a:r>
            <a:endParaRPr sz="121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3" name="文字：现场可用"/>
          <p:cNvSpPr txBox="1"/>
          <p:nvPr/>
        </p:nvSpPr>
        <p:spPr>
          <a:xfrm>
            <a:off x="13830300" y="4743450"/>
            <a:ext cx="100012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75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现场可用</a:t>
            </a:r>
            <a:endParaRPr sz="175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4" name="文字：长期使用导致响应衰减与一致性下降"/>
          <p:cNvSpPr txBox="1"/>
          <p:nvPr/>
        </p:nvSpPr>
        <p:spPr>
          <a:xfrm>
            <a:off x="4914900" y="4895850"/>
            <a:ext cx="2714625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295"/>
              </a:lnSpc>
              <a:spcBef>
                <a:spcPts val="0"/>
              </a:spcBef>
              <a:spcAft>
                <a:spcPts val="0"/>
              </a:spcAft>
            </a:pPr>
            <a:r>
              <a:rPr sz="129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长期使用导致响应衰减与一致性下降</a:t>
            </a:r>
            <a:endParaRPr sz="129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5" name="文字：温湿度补偿"/>
          <p:cNvSpPr txBox="1"/>
          <p:nvPr/>
        </p:nvSpPr>
        <p:spPr>
          <a:xfrm>
            <a:off x="8867775" y="4924425"/>
            <a:ext cx="1076325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56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温湿度补偿</a:t>
            </a:r>
            <a:endParaRPr sz="156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6" name="文字：同步采集环境量并进行修正"/>
          <p:cNvSpPr txBox="1"/>
          <p:nvPr/>
        </p:nvSpPr>
        <p:spPr>
          <a:xfrm>
            <a:off x="8867775" y="5200650"/>
            <a:ext cx="1990725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同步采集环境量并进行修正</a:t>
            </a:r>
            <a:endParaRPr sz="12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7" name="文字：器件差异"/>
          <p:cNvSpPr txBox="1"/>
          <p:nvPr/>
        </p:nvSpPr>
        <p:spPr>
          <a:xfrm>
            <a:off x="4905375" y="5400675"/>
            <a:ext cx="96202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器件差异</a:t>
            </a:r>
            <a:endParaRPr sz="172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8" name="文字：不同批次传感器初始特性存在偏差"/>
          <p:cNvSpPr txBox="1"/>
          <p:nvPr/>
        </p:nvSpPr>
        <p:spPr>
          <a:xfrm>
            <a:off x="4905375" y="5724525"/>
            <a:ext cx="2533650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285"/>
              </a:lnSpc>
              <a:spcBef>
                <a:spcPts val="0"/>
              </a:spcBef>
              <a:spcAft>
                <a:spcPts val="0"/>
              </a:spcAft>
            </a:pPr>
            <a:r>
              <a:rPr sz="128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不同批次传感器初始特性存在偏差</a:t>
            </a:r>
            <a:endParaRPr sz="128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9" name="文字：周期参考校准"/>
          <p:cNvSpPr txBox="1"/>
          <p:nvPr/>
        </p:nvSpPr>
        <p:spPr>
          <a:xfrm>
            <a:off x="8867775" y="5638800"/>
            <a:ext cx="1247775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25"/>
              </a:lnSpc>
              <a:spcBef>
                <a:spcPts val="0"/>
              </a:spcBef>
              <a:spcAft>
                <a:spcPts val="0"/>
              </a:spcAft>
            </a:pPr>
            <a:r>
              <a:rPr sz="152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周期参考校准</a:t>
            </a:r>
            <a:endParaRPr sz="152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0" name="文字：技术边界"/>
          <p:cNvSpPr txBox="1"/>
          <p:nvPr/>
        </p:nvSpPr>
        <p:spPr>
          <a:xfrm>
            <a:off x="13458825" y="5667375"/>
            <a:ext cx="1095375" cy="3524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985"/>
              </a:lnSpc>
              <a:spcBef>
                <a:spcPts val="0"/>
              </a:spcBef>
              <a:spcAft>
                <a:spcPts val="0"/>
              </a:spcAft>
            </a:pPr>
            <a:r>
              <a:rPr sz="1985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技术边界</a:t>
            </a:r>
            <a:endParaRPr sz="1985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1" name="文字：用标准参考点检查稳定性"/>
          <p:cNvSpPr txBox="1"/>
          <p:nvPr/>
        </p:nvSpPr>
        <p:spPr>
          <a:xfrm>
            <a:off x="8867775" y="5905500"/>
            <a:ext cx="1847850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用标准参考点检查稳定性</a:t>
            </a:r>
            <a:endParaRPr sz="126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2" name="文字：低成本MOS电子鼻用于获取"/>
          <p:cNvSpPr txBox="1"/>
          <p:nvPr/>
        </p:nvSpPr>
        <p:spPr>
          <a:xfrm>
            <a:off x="13477875" y="6038850"/>
            <a:ext cx="1990725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130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低成本MOS电子鼻用于获取</a:t>
            </a:r>
            <a:endParaRPr sz="130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3" name="文字：吸附残留"/>
          <p:cNvSpPr txBox="1"/>
          <p:nvPr/>
        </p:nvSpPr>
        <p:spPr>
          <a:xfrm>
            <a:off x="4905375" y="6248400"/>
            <a:ext cx="952500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吸附残留</a:t>
            </a:r>
            <a:endParaRPr sz="162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4" name="文字：跨批次归一化"/>
          <p:cNvSpPr txBox="1"/>
          <p:nvPr/>
        </p:nvSpPr>
        <p:spPr>
          <a:xfrm>
            <a:off x="8858250" y="6286500"/>
            <a:ext cx="1257300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35"/>
              </a:lnSpc>
              <a:spcBef>
                <a:spcPts val="0"/>
              </a:spcBef>
              <a:spcAft>
                <a:spcPts val="0"/>
              </a:spcAft>
            </a:pPr>
            <a:r>
              <a:rPr sz="153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跨批次归一化</a:t>
            </a:r>
            <a:endParaRPr sz="153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5" name="文字：综合体响应指纹，不直接声称"/>
          <p:cNvSpPr txBox="1"/>
          <p:nvPr/>
        </p:nvSpPr>
        <p:spPr>
          <a:xfrm>
            <a:off x="13477875" y="6267450"/>
            <a:ext cx="2009775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165"/>
              </a:lnSpc>
              <a:spcBef>
                <a:spcPts val="0"/>
              </a:spcBef>
              <a:spcAft>
                <a:spcPts val="0"/>
              </a:spcAft>
            </a:pPr>
            <a:r>
              <a:rPr sz="116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综合体响应指纹，不直接声称</a:t>
            </a:r>
            <a:endParaRPr sz="116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6" name="文字：残留气体影响恢复速度与下一次采样"/>
          <p:cNvSpPr txBox="1"/>
          <p:nvPr/>
        </p:nvSpPr>
        <p:spPr>
          <a:xfrm>
            <a:off x="4905375" y="6553200"/>
            <a:ext cx="2714625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295"/>
              </a:lnSpc>
              <a:spcBef>
                <a:spcPts val="0"/>
              </a:spcBef>
              <a:spcAft>
                <a:spcPts val="0"/>
              </a:spcAft>
            </a:pPr>
            <a:r>
              <a:rPr sz="129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残留气体影响恢复速度与下一次采样</a:t>
            </a:r>
            <a:endParaRPr sz="129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7" name="文字：提高不同批次数据可比性"/>
          <p:cNvSpPr txBox="1"/>
          <p:nvPr/>
        </p:nvSpPr>
        <p:spPr>
          <a:xfrm>
            <a:off x="8877300" y="6572250"/>
            <a:ext cx="1838325" cy="2190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121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提高不同批次数据可比性</a:t>
            </a:r>
            <a:endParaRPr sz="121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8" name="文字：单一VOC的定量浓度。"/>
          <p:cNvSpPr txBox="1"/>
          <p:nvPr/>
        </p:nvSpPr>
        <p:spPr>
          <a:xfrm>
            <a:off x="13477875" y="6486525"/>
            <a:ext cx="1638300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285"/>
              </a:lnSpc>
              <a:spcBef>
                <a:spcPts val="0"/>
              </a:spcBef>
              <a:spcAft>
                <a:spcPts val="0"/>
              </a:spcAft>
            </a:pPr>
            <a:r>
              <a:rPr sz="128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单一VOC的定量浓度。</a:t>
            </a:r>
            <a:endParaRPr sz="128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9" name="文字：电子鼻工程化的关键，不在“能不能响应”，而在“能不能稳定工作”"/>
          <p:cNvSpPr txBox="1"/>
          <p:nvPr/>
        </p:nvSpPr>
        <p:spPr>
          <a:xfrm>
            <a:off x="6057900" y="7811599"/>
            <a:ext cx="702945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电子鼻工程化的关键，不在“能不能响应”，而在“能不能稳定工作”</a:t>
            </a:r>
            <a:endParaRPr sz="1550" b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0" name="文字：只有解决湿热环境、漂移与跨批次问题，电子鼻才可能真正进入做青现场。"/>
          <p:cNvSpPr txBox="1"/>
          <p:nvPr/>
        </p:nvSpPr>
        <p:spPr>
          <a:xfrm>
            <a:off x="6657975" y="8162925"/>
            <a:ext cx="5867400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只有解决湿热环境、漂移与跨批次问题，电子鼻才可能真正进入做青现场。</a:t>
            </a:r>
            <a:endParaRPr sz="13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共享背景：原图茶园风景（无内容组件）" descr="landscap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5925800" cy="8963025"/>
          </a:xfrm>
          <a:prstGeom prst="rect">
            <a:avLst/>
          </a:prstGeom>
        </p:spPr>
      </p:pic>
      <p:sp>
        <p:nvSpPr>
          <p:cNvPr id="3" name="可编辑框架"/>
          <p:cNvSpPr/>
          <p:nvPr/>
        </p:nvSpPr>
        <p:spPr>
          <a:xfrm>
            <a:off x="0" y="0"/>
            <a:ext cx="15925800" cy="723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：青韵智控"/>
          <p:cNvSpPr txBox="1"/>
          <p:nvPr/>
        </p:nvSpPr>
        <p:spPr>
          <a:xfrm>
            <a:off x="361950" y="190500"/>
            <a:ext cx="13335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73F32"/>
                </a:solidFill>
                <a:latin typeface="微软雅黑" panose="020B0503020204020204" charset="-122"/>
                <a:ea typeface="微软雅黑" panose="020B0503020204020204" charset="-122"/>
              </a:rPr>
              <a:t>青韵智控</a:t>
            </a:r>
            <a:endParaRPr sz="2400" b="1">
              <a:solidFill>
                <a:srgbClr val="073F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1819275" y="257175"/>
            <a:ext cx="0" cy="2762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字：让传统制茶更可控"/>
          <p:cNvSpPr txBox="1"/>
          <p:nvPr/>
        </p:nvSpPr>
        <p:spPr>
          <a:xfrm>
            <a:off x="2076450" y="238125"/>
            <a:ext cx="2190750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让传统制茶更可控</a:t>
            </a:r>
            <a:endParaRPr sz="18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文字：项目背景"/>
          <p:cNvSpPr txBox="1"/>
          <p:nvPr/>
        </p:nvSpPr>
        <p:spPr>
          <a:xfrm>
            <a:off x="8515350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项目背景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9486900" y="323850"/>
            <a:ext cx="0" cy="1619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字：项目概述"/>
          <p:cNvSpPr txBox="1"/>
          <p:nvPr/>
        </p:nvSpPr>
        <p:spPr>
          <a:xfrm>
            <a:off x="9648825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项目概述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10620375" y="323850"/>
            <a:ext cx="0" cy="1619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字：关键技术"/>
          <p:cNvSpPr txBox="1"/>
          <p:nvPr/>
        </p:nvSpPr>
        <p:spPr>
          <a:xfrm>
            <a:off x="10782300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关键技术</a:t>
            </a:r>
            <a:endParaRPr sz="150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11753850" y="323850"/>
            <a:ext cx="0" cy="1619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1020425" y="628650"/>
            <a:ext cx="381000" cy="0"/>
          </a:xfrm>
          <a:prstGeom prst="line">
            <a:avLst/>
          </a:prstGeom>
          <a:ln w="19050">
            <a:solidFill>
              <a:srgbClr val="073F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字：实施与验证"/>
          <p:cNvSpPr txBox="1"/>
          <p:nvPr/>
        </p:nvSpPr>
        <p:spPr>
          <a:xfrm>
            <a:off x="11915775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实施与验证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12887325" y="323850"/>
            <a:ext cx="0" cy="1619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字：商业模式"/>
          <p:cNvSpPr txBox="1"/>
          <p:nvPr/>
        </p:nvSpPr>
        <p:spPr>
          <a:xfrm>
            <a:off x="13049250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商业模式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14020800" y="323850"/>
            <a:ext cx="0" cy="1619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字：未来展望"/>
          <p:cNvSpPr txBox="1"/>
          <p:nvPr/>
        </p:nvSpPr>
        <p:spPr>
          <a:xfrm>
            <a:off x="14182725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未来展望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9" name="文字：09"/>
          <p:cNvSpPr txBox="1"/>
          <p:nvPr/>
        </p:nvSpPr>
        <p:spPr>
          <a:xfrm>
            <a:off x="15163800" y="257175"/>
            <a:ext cx="428625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950" b="0">
                <a:solidFill>
                  <a:srgbClr val="073F32"/>
                </a:solidFill>
                <a:latin typeface="Times New Roman" panose="02020603050405020304"/>
                <a:ea typeface="Times New Roman" panose="02020603050405020304"/>
              </a:rPr>
              <a:t>09</a:t>
            </a:r>
            <a:endParaRPr sz="1950" b="0">
              <a:solidFill>
                <a:srgbClr val="073F32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cxnSp>
        <p:nvCxnSpPr>
          <p:cNvPr id="20" name="Connector 19"/>
          <p:cNvCxnSpPr/>
          <p:nvPr/>
        </p:nvCxnSpPr>
        <p:spPr>
          <a:xfrm>
            <a:off x="0" y="723900"/>
            <a:ext cx="15725775" cy="0"/>
          </a:xfrm>
          <a:prstGeom prst="line">
            <a:avLst/>
          </a:prstGeom>
          <a:ln w="9525">
            <a:solidFill>
              <a:srgbClr val="C7D8D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571875" y="990600"/>
            <a:ext cx="0" cy="6896100"/>
          </a:xfrm>
          <a:prstGeom prst="line">
            <a:avLst/>
          </a:prstGeom>
          <a:ln w="9525">
            <a:solidFill>
              <a:srgbClr val="A4BCB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字：03"/>
          <p:cNvSpPr txBox="1"/>
          <p:nvPr/>
        </p:nvSpPr>
        <p:spPr>
          <a:xfrm>
            <a:off x="457200" y="1409700"/>
            <a:ext cx="2286000" cy="1666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500"/>
              </a:lnSpc>
              <a:spcBef>
                <a:spcPts val="0"/>
              </a:spcBef>
              <a:spcAft>
                <a:spcPts val="0"/>
              </a:spcAft>
            </a:pPr>
            <a:r>
              <a:rPr sz="13500" b="1" i="1">
                <a:solidFill>
                  <a:srgbClr val="073F32"/>
                </a:solidFill>
                <a:latin typeface="Times New Roman" panose="02020603050405020304"/>
                <a:ea typeface="Times New Roman" panose="02020603050405020304"/>
              </a:rPr>
              <a:t>03</a:t>
            </a:r>
            <a:endParaRPr sz="13500" b="1" i="1">
              <a:solidFill>
                <a:srgbClr val="073F32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cxnSp>
        <p:nvCxnSpPr>
          <p:cNvPr id="23" name="Connector 22"/>
          <p:cNvCxnSpPr/>
          <p:nvPr/>
        </p:nvCxnSpPr>
        <p:spPr>
          <a:xfrm flipV="1">
            <a:off x="2619375" y="1704975"/>
            <a:ext cx="514350" cy="1190625"/>
          </a:xfrm>
          <a:prstGeom prst="line">
            <a:avLst/>
          </a:prstGeom>
          <a:ln w="11429">
            <a:solidFill>
              <a:srgbClr val="073F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字：关键技术"/>
          <p:cNvSpPr txBox="1"/>
          <p:nvPr/>
        </p:nvSpPr>
        <p:spPr>
          <a:xfrm>
            <a:off x="485775" y="3114675"/>
            <a:ext cx="3000375" cy="838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5250"/>
              </a:lnSpc>
              <a:spcBef>
                <a:spcPts val="0"/>
              </a:spcBef>
              <a:spcAft>
                <a:spcPts val="0"/>
              </a:spcAft>
            </a:pPr>
            <a:r>
              <a:rPr sz="525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关键技术</a:t>
            </a:r>
            <a:endParaRPr sz="525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5" name="文字：多模态感知、&#10;状态估计与自适应控制"/>
          <p:cNvSpPr txBox="1"/>
          <p:nvPr/>
        </p:nvSpPr>
        <p:spPr>
          <a:xfrm>
            <a:off x="552450" y="4076700"/>
            <a:ext cx="2905125" cy="838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sz="217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多模态感知、</a:t>
            </a:r>
            <a:br>
              <a:rPr sz="217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sz="217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状态估计与自适应控制</a:t>
            </a:r>
            <a:endParaRPr sz="217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26" name="Connector 25"/>
          <p:cNvCxnSpPr/>
          <p:nvPr/>
        </p:nvCxnSpPr>
        <p:spPr>
          <a:xfrm>
            <a:off x="552450" y="5076825"/>
            <a:ext cx="400050" cy="0"/>
          </a:xfrm>
          <a:prstGeom prst="line">
            <a:avLst/>
          </a:prstGeom>
          <a:ln w="9525">
            <a:solidFill>
              <a:srgbClr val="073F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字：“看得见、闻得到、&#10; 测得准，才能控得住。”"/>
          <p:cNvSpPr txBox="1"/>
          <p:nvPr/>
        </p:nvSpPr>
        <p:spPr>
          <a:xfrm>
            <a:off x="457200" y="5314950"/>
            <a:ext cx="2990850" cy="1095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930"/>
              </a:lnSpc>
              <a:spcBef>
                <a:spcPts val="0"/>
              </a:spcBef>
              <a:spcAft>
                <a:spcPts val="0"/>
              </a:spcAft>
            </a:pPr>
            <a:r>
              <a:rPr sz="1930" b="0">
                <a:solidFill>
                  <a:srgbClr val="073F32"/>
                </a:solidFill>
                <a:latin typeface="楷体" panose="02010609060101010101" charset="-122"/>
                <a:ea typeface="楷体" panose="02010609060101010101" charset="-122"/>
              </a:rPr>
              <a:t>“看得见、闻得到、</a:t>
            </a:r>
            <a:br>
              <a:rPr sz="1930" b="0">
                <a:solidFill>
                  <a:srgbClr val="073F32"/>
                </a:solidFill>
                <a:latin typeface="楷体" panose="02010609060101010101" charset="-122"/>
                <a:ea typeface="楷体" panose="02010609060101010101" charset="-122"/>
              </a:rPr>
            </a:br>
            <a:r>
              <a:rPr sz="1930" b="0">
                <a:solidFill>
                  <a:srgbClr val="073F32"/>
                </a:solidFill>
                <a:latin typeface="楷体" panose="02010609060101010101" charset="-122"/>
                <a:ea typeface="楷体" panose="02010609060101010101" charset="-122"/>
              </a:rPr>
              <a:t> 测得准，才能控得住。”</a:t>
            </a:r>
            <a:endParaRPr sz="1930" b="0">
              <a:solidFill>
                <a:srgbClr val="073F32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28" name="文字：中 国 茶 · 产 业 智 造 · 中 国 未 来"/>
          <p:cNvSpPr txBox="1"/>
          <p:nvPr/>
        </p:nvSpPr>
        <p:spPr>
          <a:xfrm>
            <a:off x="11791950" y="8439150"/>
            <a:ext cx="3619500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 国 茶 · 产 业 智 造 · 中 国 未 来</a:t>
            </a:r>
            <a:endParaRPr sz="13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9" name="文字：3.3 做青状态估计"/>
          <p:cNvSpPr txBox="1"/>
          <p:nvPr/>
        </p:nvSpPr>
        <p:spPr>
          <a:xfrm>
            <a:off x="3867150" y="981075"/>
            <a:ext cx="3248025" cy="514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3150"/>
              </a:lnSpc>
              <a:spcBef>
                <a:spcPts val="0"/>
              </a:spcBef>
              <a:spcAft>
                <a:spcPts val="0"/>
              </a:spcAft>
            </a:pPr>
            <a:r>
              <a:rPr sz="315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3.3 做青状态估计</a:t>
            </a:r>
            <a:endParaRPr sz="315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30" name="Connector 29"/>
          <p:cNvCxnSpPr/>
          <p:nvPr/>
        </p:nvCxnSpPr>
        <p:spPr>
          <a:xfrm>
            <a:off x="7200900" y="1085850"/>
            <a:ext cx="0" cy="304800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字：将多源感知信号转化为可解释的工艺状态"/>
          <p:cNvSpPr txBox="1"/>
          <p:nvPr/>
        </p:nvSpPr>
        <p:spPr>
          <a:xfrm>
            <a:off x="7372350" y="1038225"/>
            <a:ext cx="8134350" cy="4476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将多源感知信号转化为可解释的工艺状态</a:t>
            </a:r>
            <a:endParaRPr sz="210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2" name="可编辑框架"/>
          <p:cNvSpPr/>
          <p:nvPr/>
        </p:nvSpPr>
        <p:spPr>
          <a:xfrm>
            <a:off x="3867150" y="2305050"/>
            <a:ext cx="3914775" cy="4781550"/>
          </a:xfrm>
          <a:prstGeom prst="roundRect">
            <a:avLst>
              <a:gd name="adj" fmla="val 2500"/>
            </a:avLst>
          </a:prstGeom>
          <a:solidFill>
            <a:srgbClr val="F2F9F6"/>
          </a:solidFill>
          <a:ln>
            <a:solidFill>
              <a:srgbClr val="C8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可编辑框架"/>
          <p:cNvSpPr/>
          <p:nvPr/>
        </p:nvSpPr>
        <p:spPr>
          <a:xfrm>
            <a:off x="7981950" y="2305050"/>
            <a:ext cx="4114800" cy="4781550"/>
          </a:xfrm>
          <a:prstGeom prst="roundRect">
            <a:avLst>
              <a:gd name="adj" fmla="val 2500"/>
            </a:avLst>
          </a:prstGeom>
          <a:solidFill>
            <a:srgbClr val="F2F9F6"/>
          </a:solidFill>
          <a:ln>
            <a:solidFill>
              <a:srgbClr val="C8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可编辑框架"/>
          <p:cNvSpPr/>
          <p:nvPr/>
        </p:nvSpPr>
        <p:spPr>
          <a:xfrm>
            <a:off x="12306300" y="2305050"/>
            <a:ext cx="3267075" cy="4781550"/>
          </a:xfrm>
          <a:prstGeom prst="roundRect">
            <a:avLst>
              <a:gd name="adj" fmla="val 2500"/>
            </a:avLst>
          </a:prstGeom>
          <a:solidFill>
            <a:srgbClr val="F2F9F6"/>
          </a:solidFill>
          <a:ln>
            <a:solidFill>
              <a:srgbClr val="C8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可编辑框架"/>
          <p:cNvSpPr/>
          <p:nvPr/>
        </p:nvSpPr>
        <p:spPr>
          <a:xfrm>
            <a:off x="8134350" y="5638800"/>
            <a:ext cx="3810000" cy="342900"/>
          </a:xfrm>
          <a:prstGeom prst="roundRect">
            <a:avLst>
              <a:gd name="adj" fmla="val 2500"/>
            </a:avLst>
          </a:prstGeom>
          <a:solidFill>
            <a:srgbClr val="F2F9F6"/>
          </a:solidFill>
          <a:ln>
            <a:solidFill>
              <a:srgbClr val="C8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可编辑框架"/>
          <p:cNvSpPr/>
          <p:nvPr/>
        </p:nvSpPr>
        <p:spPr>
          <a:xfrm>
            <a:off x="8134350" y="6076950"/>
            <a:ext cx="1190625" cy="876300"/>
          </a:xfrm>
          <a:prstGeom prst="roundRect">
            <a:avLst>
              <a:gd name="adj" fmla="val 2500"/>
            </a:avLst>
          </a:prstGeom>
          <a:solidFill>
            <a:srgbClr val="F2F9F6"/>
          </a:solidFill>
          <a:ln>
            <a:solidFill>
              <a:srgbClr val="C8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可编辑框架"/>
          <p:cNvSpPr/>
          <p:nvPr/>
        </p:nvSpPr>
        <p:spPr>
          <a:xfrm>
            <a:off x="9429750" y="6076950"/>
            <a:ext cx="1209675" cy="876300"/>
          </a:xfrm>
          <a:prstGeom prst="roundRect">
            <a:avLst>
              <a:gd name="adj" fmla="val 2500"/>
            </a:avLst>
          </a:prstGeom>
          <a:solidFill>
            <a:srgbClr val="F2F9F6"/>
          </a:solidFill>
          <a:ln>
            <a:solidFill>
              <a:srgbClr val="C8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可编辑框架"/>
          <p:cNvSpPr/>
          <p:nvPr/>
        </p:nvSpPr>
        <p:spPr>
          <a:xfrm>
            <a:off x="10744200" y="6076950"/>
            <a:ext cx="1200150" cy="876300"/>
          </a:xfrm>
          <a:prstGeom prst="roundRect">
            <a:avLst>
              <a:gd name="adj" fmla="val 2500"/>
            </a:avLst>
          </a:prstGeom>
          <a:solidFill>
            <a:srgbClr val="F2F9F6"/>
          </a:solidFill>
          <a:ln>
            <a:solidFill>
              <a:srgbClr val="C8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可编辑框架"/>
          <p:cNvSpPr/>
          <p:nvPr/>
        </p:nvSpPr>
        <p:spPr>
          <a:xfrm>
            <a:off x="12411075" y="6229350"/>
            <a:ext cx="3067050" cy="771525"/>
          </a:xfrm>
          <a:prstGeom prst="roundRect">
            <a:avLst>
              <a:gd name="adj" fmla="val 2500"/>
            </a:avLst>
          </a:prstGeom>
          <a:solidFill>
            <a:srgbClr val="F2F9F6"/>
          </a:solidFill>
          <a:ln>
            <a:solidFill>
              <a:srgbClr val="C8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可编辑框架"/>
          <p:cNvSpPr/>
          <p:nvPr/>
        </p:nvSpPr>
        <p:spPr>
          <a:xfrm>
            <a:off x="3867150" y="2305050"/>
            <a:ext cx="3914775" cy="419100"/>
          </a:xfrm>
          <a:prstGeom prst="rect">
            <a:avLst/>
          </a:prstGeom>
          <a:solidFill>
            <a:srgbClr val="E2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可编辑框架"/>
          <p:cNvSpPr/>
          <p:nvPr/>
        </p:nvSpPr>
        <p:spPr>
          <a:xfrm>
            <a:off x="7981950" y="2305050"/>
            <a:ext cx="4114800" cy="419100"/>
          </a:xfrm>
          <a:prstGeom prst="rect">
            <a:avLst/>
          </a:prstGeom>
          <a:solidFill>
            <a:srgbClr val="E2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可编辑框架"/>
          <p:cNvSpPr/>
          <p:nvPr/>
        </p:nvSpPr>
        <p:spPr>
          <a:xfrm>
            <a:off x="12306300" y="2305050"/>
            <a:ext cx="3267075" cy="419100"/>
          </a:xfrm>
          <a:prstGeom prst="rect">
            <a:avLst/>
          </a:prstGeom>
          <a:solidFill>
            <a:srgbClr val="E2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可编辑框架"/>
          <p:cNvSpPr/>
          <p:nvPr/>
        </p:nvSpPr>
        <p:spPr>
          <a:xfrm>
            <a:off x="4029075" y="6648450"/>
            <a:ext cx="3638550" cy="352425"/>
          </a:xfrm>
          <a:prstGeom prst="rect">
            <a:avLst/>
          </a:prstGeom>
          <a:solidFill>
            <a:srgbClr val="E2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可编辑框架"/>
          <p:cNvSpPr/>
          <p:nvPr/>
        </p:nvSpPr>
        <p:spPr>
          <a:xfrm>
            <a:off x="12677775" y="2828925"/>
            <a:ext cx="2543175" cy="447675"/>
          </a:xfrm>
          <a:prstGeom prst="rect">
            <a:avLst/>
          </a:prstGeom>
          <a:solidFill>
            <a:srgbClr val="E2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可编辑框架"/>
          <p:cNvSpPr/>
          <p:nvPr/>
        </p:nvSpPr>
        <p:spPr>
          <a:xfrm>
            <a:off x="12677775" y="3476625"/>
            <a:ext cx="2543175" cy="447675"/>
          </a:xfrm>
          <a:prstGeom prst="rect">
            <a:avLst/>
          </a:prstGeom>
          <a:solidFill>
            <a:srgbClr val="E2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可编辑框架"/>
          <p:cNvSpPr/>
          <p:nvPr/>
        </p:nvSpPr>
        <p:spPr>
          <a:xfrm>
            <a:off x="12677775" y="4124325"/>
            <a:ext cx="2543175" cy="447675"/>
          </a:xfrm>
          <a:prstGeom prst="rect">
            <a:avLst/>
          </a:prstGeom>
          <a:solidFill>
            <a:srgbClr val="E2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可编辑框架"/>
          <p:cNvSpPr/>
          <p:nvPr/>
        </p:nvSpPr>
        <p:spPr>
          <a:xfrm>
            <a:off x="3867150" y="7715250"/>
            <a:ext cx="11677650" cy="428625"/>
          </a:xfrm>
          <a:prstGeom prst="roundRect">
            <a:avLst>
              <a:gd name="adj" fmla="val 2500"/>
            </a:avLst>
          </a:prstGeom>
          <a:solidFill>
            <a:srgbClr val="095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可编辑框架"/>
          <p:cNvSpPr/>
          <p:nvPr/>
        </p:nvSpPr>
        <p:spPr>
          <a:xfrm>
            <a:off x="3867150" y="8153400"/>
            <a:ext cx="11677650" cy="266700"/>
          </a:xfrm>
          <a:prstGeom prst="rect">
            <a:avLst/>
          </a:prstGeom>
          <a:solidFill>
            <a:srgbClr val="F1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独立照片或曲线图（内部为像素）" descr="p09_photo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9700" y="3476625"/>
            <a:ext cx="2000250" cy="1838324"/>
          </a:xfrm>
          <a:prstGeom prst="rect">
            <a:avLst/>
          </a:prstGeom>
        </p:spPr>
      </p:pic>
      <p:pic>
        <p:nvPicPr>
          <p:cNvPr id="50" name="独立图标或流程线" descr="p09_icon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96875" y="2857500"/>
            <a:ext cx="400050" cy="409575"/>
          </a:xfrm>
          <a:prstGeom prst="rect">
            <a:avLst/>
          </a:prstGeom>
        </p:spPr>
      </p:pic>
      <p:pic>
        <p:nvPicPr>
          <p:cNvPr id="51" name="独立图标或流程线" descr="p09_icon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2424" y="2981325"/>
            <a:ext cx="457200" cy="314325"/>
          </a:xfrm>
          <a:prstGeom prst="rect">
            <a:avLst/>
          </a:prstGeom>
        </p:spPr>
      </p:pic>
      <p:pic>
        <p:nvPicPr>
          <p:cNvPr id="52" name="独立图标或流程线" descr="p09_icon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849350" y="3314700"/>
            <a:ext cx="304800" cy="161925"/>
          </a:xfrm>
          <a:prstGeom prst="rect">
            <a:avLst/>
          </a:prstGeom>
        </p:spPr>
      </p:pic>
      <p:pic>
        <p:nvPicPr>
          <p:cNvPr id="53" name="独立图标或流程线" descr="p09_icon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096875" y="3505200"/>
            <a:ext cx="400050" cy="400050"/>
          </a:xfrm>
          <a:prstGeom prst="rect">
            <a:avLst/>
          </a:prstGeom>
        </p:spPr>
      </p:pic>
      <p:pic>
        <p:nvPicPr>
          <p:cNvPr id="54" name="独立图标或流程线" descr="p09_icon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29100" y="3676649"/>
            <a:ext cx="333375" cy="419100"/>
          </a:xfrm>
          <a:prstGeom prst="rect">
            <a:avLst/>
          </a:prstGeom>
        </p:spPr>
      </p:pic>
      <p:pic>
        <p:nvPicPr>
          <p:cNvPr id="55" name="独立图标或流程线" descr="p09_icon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839825" y="3952875"/>
            <a:ext cx="314325" cy="171450"/>
          </a:xfrm>
          <a:prstGeom prst="rect">
            <a:avLst/>
          </a:prstGeom>
        </p:spPr>
      </p:pic>
      <p:pic>
        <p:nvPicPr>
          <p:cNvPr id="56" name="独立图标或流程线" descr="p09_icon6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106400" y="4171950"/>
            <a:ext cx="381000" cy="352425"/>
          </a:xfrm>
          <a:prstGeom prst="rect">
            <a:avLst/>
          </a:prstGeom>
        </p:spPr>
      </p:pic>
      <p:pic>
        <p:nvPicPr>
          <p:cNvPr id="57" name="独立图标或流程线" descr="p09_icon7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57675" y="4391025"/>
            <a:ext cx="266700" cy="447675"/>
          </a:xfrm>
          <a:prstGeom prst="rect">
            <a:avLst/>
          </a:prstGeom>
        </p:spPr>
      </p:pic>
      <p:pic>
        <p:nvPicPr>
          <p:cNvPr id="58" name="独立图标或流程线" descr="p09_icon8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887325" y="4676775"/>
            <a:ext cx="333375" cy="333375"/>
          </a:xfrm>
          <a:prstGeom prst="rect">
            <a:avLst/>
          </a:prstGeom>
        </p:spPr>
      </p:pic>
      <p:pic>
        <p:nvPicPr>
          <p:cNvPr id="59" name="独立图标或流程线" descr="p09_icon9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887325" y="5019675"/>
            <a:ext cx="333375" cy="352425"/>
          </a:xfrm>
          <a:prstGeom prst="rect">
            <a:avLst/>
          </a:prstGeom>
        </p:spPr>
      </p:pic>
      <p:pic>
        <p:nvPicPr>
          <p:cNvPr id="60" name="独立图标或流程线" descr="p09_icon10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219575" y="5181600"/>
            <a:ext cx="352425" cy="438150"/>
          </a:xfrm>
          <a:prstGeom prst="rect">
            <a:avLst/>
          </a:prstGeom>
        </p:spPr>
      </p:pic>
      <p:pic>
        <p:nvPicPr>
          <p:cNvPr id="61" name="独立图标或流程线" descr="p09_icon11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887325" y="5391150"/>
            <a:ext cx="323850" cy="352425"/>
          </a:xfrm>
          <a:prstGeom prst="rect">
            <a:avLst/>
          </a:prstGeom>
        </p:spPr>
      </p:pic>
      <p:pic>
        <p:nvPicPr>
          <p:cNvPr id="62" name="独立图标或流程线" descr="p09_icon12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219575" y="5962650"/>
            <a:ext cx="361950" cy="476250"/>
          </a:xfrm>
          <a:prstGeom prst="rect">
            <a:avLst/>
          </a:prstGeom>
        </p:spPr>
      </p:pic>
      <p:pic>
        <p:nvPicPr>
          <p:cNvPr id="63" name="独立图标或流程线" descr="p09_icon13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573000" y="6362700"/>
            <a:ext cx="390525" cy="447675"/>
          </a:xfrm>
          <a:prstGeom prst="rect">
            <a:avLst/>
          </a:prstGeom>
        </p:spPr>
      </p:pic>
      <p:sp>
        <p:nvSpPr>
          <p:cNvPr id="64" name="文字：系统并不直接输出某一个电机参数，而是先基于视觉、电子鼻、环境与历史过程"/>
          <p:cNvSpPr txBox="1"/>
          <p:nvPr/>
        </p:nvSpPr>
        <p:spPr>
          <a:xfrm>
            <a:off x="3876675" y="1600200"/>
            <a:ext cx="1102995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62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系统并不直接输出某一个电机参数，而是先基于视觉、电子鼻、环境与历史过程信息，判断鲜叶当前处于何种做青状态，</a:t>
            </a:r>
            <a:endParaRPr sz="162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5" name="文字：并估计其发展趋势，为后续工艺决策提供可信依据。"/>
          <p:cNvSpPr txBox="1"/>
          <p:nvPr/>
        </p:nvSpPr>
        <p:spPr>
          <a:xfrm>
            <a:off x="3867150" y="1885950"/>
            <a:ext cx="4800600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615"/>
              </a:lnSpc>
              <a:spcBef>
                <a:spcPts val="0"/>
              </a:spcBef>
              <a:spcAft>
                <a:spcPts val="0"/>
              </a:spcAft>
            </a:pPr>
            <a:r>
              <a:rPr sz="161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并估计其发展趋势，为后续工艺决策提供可信依据。</a:t>
            </a:r>
            <a:endParaRPr sz="161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6" name="文字：输入特征"/>
          <p:cNvSpPr txBox="1"/>
          <p:nvPr/>
        </p:nvSpPr>
        <p:spPr>
          <a:xfrm>
            <a:off x="4067175" y="2352675"/>
            <a:ext cx="1181100" cy="3524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155"/>
              </a:lnSpc>
              <a:spcBef>
                <a:spcPts val="0"/>
              </a:spcBef>
              <a:spcAft>
                <a:spcPts val="0"/>
              </a:spcAft>
            </a:pPr>
            <a:r>
              <a:rPr sz="2155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输入特征</a:t>
            </a:r>
            <a:endParaRPr sz="2155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7" name="文字：状态建模"/>
          <p:cNvSpPr txBox="1"/>
          <p:nvPr/>
        </p:nvSpPr>
        <p:spPr>
          <a:xfrm>
            <a:off x="8181975" y="2352675"/>
            <a:ext cx="1171575" cy="3524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2135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状态建模</a:t>
            </a:r>
            <a:endParaRPr sz="2135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8" name="文字：决策输出"/>
          <p:cNvSpPr txBox="1"/>
          <p:nvPr/>
        </p:nvSpPr>
        <p:spPr>
          <a:xfrm>
            <a:off x="12496800" y="2352675"/>
            <a:ext cx="1171575" cy="3524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2135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决策输出</a:t>
            </a:r>
            <a:endParaRPr sz="2135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9" name="文字：视觉特征"/>
          <p:cNvSpPr txBox="1"/>
          <p:nvPr/>
        </p:nvSpPr>
        <p:spPr>
          <a:xfrm>
            <a:off x="4886325" y="2857500"/>
            <a:ext cx="9810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75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视觉特征</a:t>
            </a:r>
            <a:endParaRPr sz="175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0" name="文字：做青状态S(t)"/>
          <p:cNvSpPr txBox="1"/>
          <p:nvPr/>
        </p:nvSpPr>
        <p:spPr>
          <a:xfrm>
            <a:off x="9372600" y="2800350"/>
            <a:ext cx="1466850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810"/>
              </a:lnSpc>
              <a:spcBef>
                <a:spcPts val="0"/>
              </a:spcBef>
              <a:spcAft>
                <a:spcPts val="0"/>
              </a:spcAft>
            </a:pPr>
            <a:r>
              <a:rPr sz="181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做青状态S(t)</a:t>
            </a:r>
            <a:endParaRPr sz="181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1" name="文字：状态识别"/>
          <p:cNvSpPr txBox="1"/>
          <p:nvPr/>
        </p:nvSpPr>
        <p:spPr>
          <a:xfrm>
            <a:off x="13754100" y="2905125"/>
            <a:ext cx="92392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状态识别</a:t>
            </a:r>
            <a:endParaRPr sz="16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2" name="文字：叶色、叶缘红变、卷曲度、表面纹理"/>
          <p:cNvSpPr txBox="1"/>
          <p:nvPr/>
        </p:nvSpPr>
        <p:spPr>
          <a:xfrm>
            <a:off x="4876800" y="3162300"/>
            <a:ext cx="2676525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275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叶色、叶缘红变、卷曲度、表面纹理</a:t>
            </a:r>
            <a:endParaRPr sz="127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3" name="文字：含水状态"/>
          <p:cNvSpPr txBox="1"/>
          <p:nvPr/>
        </p:nvSpPr>
        <p:spPr>
          <a:xfrm>
            <a:off x="9686925" y="3219450"/>
            <a:ext cx="819150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45"/>
              </a:lnSpc>
              <a:spcBef>
                <a:spcPts val="0"/>
              </a:spcBef>
              <a:spcAft>
                <a:spcPts val="0"/>
              </a:spcAft>
            </a:pPr>
            <a:r>
              <a:rPr sz="144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含水状态</a:t>
            </a:r>
            <a:endParaRPr sz="144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4" name="文字：气味特征"/>
          <p:cNvSpPr txBox="1"/>
          <p:nvPr/>
        </p:nvSpPr>
        <p:spPr>
          <a:xfrm>
            <a:off x="4895850" y="3619500"/>
            <a:ext cx="971550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745"/>
              </a:lnSpc>
              <a:spcBef>
                <a:spcPts val="0"/>
              </a:spcBef>
              <a:spcAft>
                <a:spcPts val="0"/>
              </a:spcAft>
            </a:pPr>
            <a:r>
              <a:rPr sz="174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气味特征</a:t>
            </a:r>
            <a:endParaRPr sz="174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5" name="文字：工艺策略生成"/>
          <p:cNvSpPr txBox="1"/>
          <p:nvPr/>
        </p:nvSpPr>
        <p:spPr>
          <a:xfrm>
            <a:off x="13763625" y="3571875"/>
            <a:ext cx="1247775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25"/>
              </a:lnSpc>
              <a:spcBef>
                <a:spcPts val="0"/>
              </a:spcBef>
              <a:spcAft>
                <a:spcPts val="0"/>
              </a:spcAft>
            </a:pPr>
            <a:r>
              <a:rPr sz="152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工艺策略生成</a:t>
            </a:r>
            <a:endParaRPr sz="152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6" name="文字：青气消退、花香显露、挥发性响应轨迹"/>
          <p:cNvSpPr txBox="1"/>
          <p:nvPr/>
        </p:nvSpPr>
        <p:spPr>
          <a:xfrm>
            <a:off x="4886325" y="3905250"/>
            <a:ext cx="2828925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270"/>
              </a:lnSpc>
              <a:spcBef>
                <a:spcPts val="0"/>
              </a:spcBef>
              <a:spcAft>
                <a:spcPts val="0"/>
              </a:spcAft>
            </a:pPr>
            <a:r>
              <a:rPr sz="127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青气消退、花香显露、挥发性响应轨迹</a:t>
            </a:r>
            <a:endParaRPr sz="127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7" name="文字：温热状态"/>
          <p:cNvSpPr txBox="1"/>
          <p:nvPr/>
        </p:nvSpPr>
        <p:spPr>
          <a:xfrm>
            <a:off x="8286750" y="4038600"/>
            <a:ext cx="819150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45"/>
              </a:lnSpc>
              <a:spcBef>
                <a:spcPts val="0"/>
              </a:spcBef>
              <a:spcAft>
                <a:spcPts val="0"/>
              </a:spcAft>
            </a:pPr>
            <a:r>
              <a:rPr sz="144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温热状态</a:t>
            </a:r>
            <a:endParaRPr sz="144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8" name="文字：香气发展"/>
          <p:cNvSpPr txBox="1"/>
          <p:nvPr/>
        </p:nvSpPr>
        <p:spPr>
          <a:xfrm>
            <a:off x="11087100" y="4038600"/>
            <a:ext cx="819150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15"/>
              </a:lnSpc>
              <a:spcBef>
                <a:spcPts val="0"/>
              </a:spcBef>
              <a:spcAft>
                <a:spcPts val="0"/>
              </a:spcAft>
            </a:pPr>
            <a:r>
              <a:rPr sz="141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香气发展</a:t>
            </a:r>
            <a:endParaRPr sz="141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9" name="文字：执行参数推荐"/>
          <p:cNvSpPr txBox="1"/>
          <p:nvPr/>
        </p:nvSpPr>
        <p:spPr>
          <a:xfrm>
            <a:off x="13754100" y="4219575"/>
            <a:ext cx="125730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35"/>
              </a:lnSpc>
              <a:spcBef>
                <a:spcPts val="0"/>
              </a:spcBef>
              <a:spcAft>
                <a:spcPts val="0"/>
              </a:spcAft>
            </a:pPr>
            <a:r>
              <a:rPr sz="153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执行参数推荐</a:t>
            </a:r>
            <a:endParaRPr sz="153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0" name="文字：环境参数"/>
          <p:cNvSpPr txBox="1"/>
          <p:nvPr/>
        </p:nvSpPr>
        <p:spPr>
          <a:xfrm>
            <a:off x="4886325" y="4362450"/>
            <a:ext cx="981075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环境参数</a:t>
            </a:r>
            <a:endParaRPr sz="162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1" name="文字：温度、湿度、通风与静置时间"/>
          <p:cNvSpPr txBox="1"/>
          <p:nvPr/>
        </p:nvSpPr>
        <p:spPr>
          <a:xfrm>
            <a:off x="4876800" y="4657725"/>
            <a:ext cx="2219325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290"/>
              </a:lnSpc>
              <a:spcBef>
                <a:spcPts val="0"/>
              </a:spcBef>
              <a:spcAft>
                <a:spcPts val="0"/>
              </a:spcAft>
            </a:pPr>
            <a:r>
              <a:rPr sz="129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温度、湿度、通风与静置时间</a:t>
            </a:r>
            <a:endParaRPr sz="129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2" name="文字：下一次翻动时机"/>
          <p:cNvSpPr txBox="1"/>
          <p:nvPr/>
        </p:nvSpPr>
        <p:spPr>
          <a:xfrm>
            <a:off x="13611225" y="4724400"/>
            <a:ext cx="12192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275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下一次翻动时机</a:t>
            </a:r>
            <a:endParaRPr sz="127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3" name="文字：过程信息"/>
          <p:cNvSpPr txBox="1"/>
          <p:nvPr/>
        </p:nvSpPr>
        <p:spPr>
          <a:xfrm>
            <a:off x="4876800" y="5143500"/>
            <a:ext cx="98107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76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过程信息</a:t>
            </a:r>
            <a:endParaRPr sz="176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4" name="文字：翻动强度"/>
          <p:cNvSpPr txBox="1"/>
          <p:nvPr/>
        </p:nvSpPr>
        <p:spPr>
          <a:xfrm>
            <a:off x="13582650" y="5086350"/>
            <a:ext cx="781050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翻动强度</a:t>
            </a:r>
            <a:endParaRPr sz="13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5" name="文字：柔软程度"/>
          <p:cNvSpPr txBox="1"/>
          <p:nvPr/>
        </p:nvSpPr>
        <p:spPr>
          <a:xfrm>
            <a:off x="8686800" y="5210175"/>
            <a:ext cx="790575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85"/>
              </a:lnSpc>
              <a:spcBef>
                <a:spcPts val="0"/>
              </a:spcBef>
              <a:spcAft>
                <a:spcPts val="0"/>
              </a:spcAft>
            </a:pPr>
            <a:r>
              <a:rPr sz="138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柔软程度</a:t>
            </a:r>
            <a:endParaRPr sz="138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6" name="文字：叶缘红变"/>
          <p:cNvSpPr txBox="1"/>
          <p:nvPr/>
        </p:nvSpPr>
        <p:spPr>
          <a:xfrm>
            <a:off x="10715625" y="5210175"/>
            <a:ext cx="819150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15"/>
              </a:lnSpc>
              <a:spcBef>
                <a:spcPts val="0"/>
              </a:spcBef>
              <a:spcAft>
                <a:spcPts val="0"/>
              </a:spcAft>
            </a:pPr>
            <a:r>
              <a:rPr sz="141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叶缘红变</a:t>
            </a:r>
            <a:endParaRPr sz="141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7" name="文字：翻动次数、间隔时长、前序状态变化"/>
          <p:cNvSpPr txBox="1"/>
          <p:nvPr/>
        </p:nvSpPr>
        <p:spPr>
          <a:xfrm>
            <a:off x="4886325" y="5467350"/>
            <a:ext cx="2667000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270"/>
              </a:lnSpc>
              <a:spcBef>
                <a:spcPts val="0"/>
              </a:spcBef>
              <a:spcAft>
                <a:spcPts val="0"/>
              </a:spcAft>
            </a:pPr>
            <a:r>
              <a:rPr sz="127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翻动次数、间隔时长、前序状态变化</a:t>
            </a:r>
            <a:endParaRPr sz="127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8" name="文字：持续时间"/>
          <p:cNvSpPr txBox="1"/>
          <p:nvPr/>
        </p:nvSpPr>
        <p:spPr>
          <a:xfrm>
            <a:off x="13573125" y="5438775"/>
            <a:ext cx="790575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85"/>
              </a:lnSpc>
              <a:spcBef>
                <a:spcPts val="0"/>
              </a:spcBef>
              <a:spcAft>
                <a:spcPts val="0"/>
              </a:spcAft>
            </a:pPr>
            <a:r>
              <a:rPr sz="138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持续时间</a:t>
            </a:r>
            <a:endParaRPr sz="138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9" name="文字：融合特征提取+状态空间映射+趋势判断"/>
          <p:cNvSpPr txBox="1"/>
          <p:nvPr/>
        </p:nvSpPr>
        <p:spPr>
          <a:xfrm>
            <a:off x="8543925" y="5686425"/>
            <a:ext cx="3105150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融合特征提取+状态空间映射+趋势判断</a:t>
            </a:r>
            <a:endParaRPr sz="13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0" name="文字：静置时长"/>
          <p:cNvSpPr txBox="1"/>
          <p:nvPr/>
        </p:nvSpPr>
        <p:spPr>
          <a:xfrm>
            <a:off x="13573125" y="5800725"/>
            <a:ext cx="790575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85"/>
              </a:lnSpc>
              <a:spcBef>
                <a:spcPts val="0"/>
              </a:spcBef>
              <a:spcAft>
                <a:spcPts val="0"/>
              </a:spcAft>
            </a:pPr>
            <a:r>
              <a:rPr sz="138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静置时长</a:t>
            </a:r>
            <a:endParaRPr sz="138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1" name="文字：失水信息"/>
          <p:cNvSpPr txBox="1"/>
          <p:nvPr/>
        </p:nvSpPr>
        <p:spPr>
          <a:xfrm>
            <a:off x="4876800" y="5953125"/>
            <a:ext cx="990600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75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失水信息</a:t>
            </a:r>
            <a:endParaRPr sz="175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2" name="文字：阶段判断"/>
          <p:cNvSpPr txBox="1"/>
          <p:nvPr/>
        </p:nvSpPr>
        <p:spPr>
          <a:xfrm>
            <a:off x="8401050" y="6124575"/>
            <a:ext cx="790575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85"/>
              </a:lnSpc>
              <a:spcBef>
                <a:spcPts val="0"/>
              </a:spcBef>
              <a:spcAft>
                <a:spcPts val="0"/>
              </a:spcAft>
            </a:pPr>
            <a:r>
              <a:rPr sz="138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阶段判断</a:t>
            </a:r>
            <a:endParaRPr sz="138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3" name="文字：成熟度指数"/>
          <p:cNvSpPr txBox="1"/>
          <p:nvPr/>
        </p:nvSpPr>
        <p:spPr>
          <a:xfrm>
            <a:off x="9629775" y="6124575"/>
            <a:ext cx="952500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136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成熟度指数</a:t>
            </a:r>
            <a:endParaRPr sz="136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4" name="文字：模型置信度"/>
          <p:cNvSpPr txBox="1"/>
          <p:nvPr/>
        </p:nvSpPr>
        <p:spPr>
          <a:xfrm>
            <a:off x="10934700" y="6124575"/>
            <a:ext cx="942975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模型置信度</a:t>
            </a:r>
            <a:endParaRPr sz="13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5" name="文字：含水率变化与鲜叶柔软度"/>
          <p:cNvSpPr txBox="1"/>
          <p:nvPr/>
        </p:nvSpPr>
        <p:spPr>
          <a:xfrm>
            <a:off x="4886325" y="6257925"/>
            <a:ext cx="1895475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295"/>
              </a:lnSpc>
              <a:spcBef>
                <a:spcPts val="0"/>
              </a:spcBef>
              <a:spcAft>
                <a:spcPts val="0"/>
              </a:spcAft>
            </a:pPr>
            <a:r>
              <a:rPr sz="129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含水率变化与鲜叶柔软度</a:t>
            </a:r>
            <a:endParaRPr sz="129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6" name="文字：安全约束"/>
          <p:cNvSpPr txBox="1"/>
          <p:nvPr/>
        </p:nvSpPr>
        <p:spPr>
          <a:xfrm>
            <a:off x="13087350" y="6276975"/>
            <a:ext cx="857250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20"/>
              </a:lnSpc>
              <a:spcBef>
                <a:spcPts val="0"/>
              </a:spcBef>
              <a:spcAft>
                <a:spcPts val="0"/>
              </a:spcAft>
            </a:pPr>
            <a:r>
              <a:rPr sz="152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安全约束</a:t>
            </a:r>
            <a:endParaRPr sz="152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7" name="文字：初期/中期/"/>
          <p:cNvSpPr txBox="1"/>
          <p:nvPr/>
        </p:nvSpPr>
        <p:spPr>
          <a:xfrm>
            <a:off x="8277225" y="6448425"/>
            <a:ext cx="1038225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85"/>
              </a:lnSpc>
              <a:spcBef>
                <a:spcPts val="0"/>
              </a:spcBef>
              <a:spcAft>
                <a:spcPts val="0"/>
              </a:spcAft>
            </a:pPr>
            <a:r>
              <a:rPr sz="148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初期/中期/</a:t>
            </a:r>
            <a:endParaRPr sz="148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8" name="文字：0-100"/>
          <p:cNvSpPr txBox="1"/>
          <p:nvPr/>
        </p:nvSpPr>
        <p:spPr>
          <a:xfrm>
            <a:off x="9753600" y="6534150"/>
            <a:ext cx="6858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280"/>
              </a:lnSpc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0-100</a:t>
            </a:r>
            <a:endParaRPr sz="128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9" name="文字：高/中/低"/>
          <p:cNvSpPr txBox="1"/>
          <p:nvPr/>
        </p:nvSpPr>
        <p:spPr>
          <a:xfrm>
            <a:off x="10944225" y="6515100"/>
            <a:ext cx="933450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高/中/低</a:t>
            </a:r>
            <a:endParaRPr sz="162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0" name="文字：当置信度不足时，回退至保守工艺，"/>
          <p:cNvSpPr txBox="1"/>
          <p:nvPr/>
        </p:nvSpPr>
        <p:spPr>
          <a:xfrm>
            <a:off x="13096875" y="6515100"/>
            <a:ext cx="2324100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当置信度不足时，回退至保守工艺，</a:t>
            </a:r>
            <a:endParaRPr sz="11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1" name="文字：多源同步输入"/>
          <p:cNvSpPr txBox="1"/>
          <p:nvPr/>
        </p:nvSpPr>
        <p:spPr>
          <a:xfrm>
            <a:off x="5238750" y="6696075"/>
            <a:ext cx="13620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675"/>
              </a:lnSpc>
              <a:spcBef>
                <a:spcPts val="0"/>
              </a:spcBef>
              <a:spcAft>
                <a:spcPts val="0"/>
              </a:spcAft>
            </a:pPr>
            <a:r>
              <a:rPr sz="167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多源同步输入</a:t>
            </a:r>
            <a:endParaRPr sz="167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2" name="文字：临界成熟"/>
          <p:cNvSpPr txBox="1"/>
          <p:nvPr/>
        </p:nvSpPr>
        <p:spPr>
          <a:xfrm>
            <a:off x="8410575" y="6657975"/>
            <a:ext cx="781050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70"/>
              </a:lnSpc>
              <a:spcBef>
                <a:spcPts val="0"/>
              </a:spcBef>
              <a:spcAft>
                <a:spcPts val="0"/>
              </a:spcAft>
            </a:pPr>
            <a:r>
              <a:rPr sz="137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临界成熟</a:t>
            </a:r>
            <a:endParaRPr sz="137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3" name="文字：不盲目自动控制。"/>
          <p:cNvSpPr txBox="1"/>
          <p:nvPr/>
        </p:nvSpPr>
        <p:spPr>
          <a:xfrm>
            <a:off x="13106400" y="6743700"/>
            <a:ext cx="119062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085"/>
              </a:lnSpc>
              <a:spcBef>
                <a:spcPts val="0"/>
              </a:spcBef>
              <a:spcAft>
                <a:spcPts val="0"/>
              </a:spcAft>
            </a:pPr>
            <a:r>
              <a:rPr sz="108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不盲目自动控制。</a:t>
            </a:r>
            <a:endParaRPr sz="108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4" name="文字：先回答“茶叶现在怎么样”，再决定“下一步怎么做”"/>
          <p:cNvSpPr txBox="1"/>
          <p:nvPr/>
        </p:nvSpPr>
        <p:spPr>
          <a:xfrm>
            <a:off x="6819900" y="7803356"/>
            <a:ext cx="5324475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</a:pPr>
            <a:r>
              <a:rPr sz="1685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先回答“茶叶现在怎么样”，再决定“下一步怎么做”</a:t>
            </a:r>
            <a:endParaRPr sz="1685" b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5" name="文字：状态估计是连接多模态感知与自适应控制的关键桥梁。"/>
          <p:cNvSpPr txBox="1"/>
          <p:nvPr/>
        </p:nvSpPr>
        <p:spPr>
          <a:xfrm>
            <a:off x="7239000" y="8162925"/>
            <a:ext cx="440055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状态估计是连接多模态感知与自适应控制的关键桥梁。</a:t>
            </a:r>
            <a:endParaRPr sz="13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6" name="文字：⌛"/>
          <p:cNvSpPr txBox="1"/>
          <p:nvPr/>
        </p:nvSpPr>
        <p:spPr>
          <a:xfrm>
            <a:off x="12906375" y="5715000"/>
            <a:ext cx="285750" cy="3905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550"/>
              </a:lnSpc>
              <a:spcBef>
                <a:spcPts val="0"/>
              </a:spcBef>
              <a:spcAft>
                <a:spcPts val="0"/>
              </a:spcAft>
            </a:pPr>
            <a:r>
              <a:rPr sz="2550" b="0">
                <a:solidFill>
                  <a:srgbClr val="073F32"/>
                </a:solidFill>
                <a:latin typeface="Segoe UI Symbol" panose="020B0502040204020203"/>
                <a:ea typeface="Segoe UI Symbol" panose="020B0502040204020203"/>
              </a:rPr>
              <a:t>⌛</a:t>
            </a:r>
            <a:endParaRPr sz="2550" b="0">
              <a:solidFill>
                <a:srgbClr val="073F32"/>
              </a:solidFill>
              <a:latin typeface="Segoe UI Symbol" panose="020B0502040204020203"/>
              <a:ea typeface="Segoe UI Symbol" panose="020B0502040204020203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共享背景：原图茶园风景（无内容组件）" descr="landscap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5925800" cy="8963025"/>
          </a:xfrm>
          <a:prstGeom prst="rect">
            <a:avLst/>
          </a:prstGeom>
        </p:spPr>
      </p:pic>
      <p:sp>
        <p:nvSpPr>
          <p:cNvPr id="3" name="可编辑框架"/>
          <p:cNvSpPr/>
          <p:nvPr/>
        </p:nvSpPr>
        <p:spPr>
          <a:xfrm>
            <a:off x="0" y="0"/>
            <a:ext cx="15925800" cy="723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：青韵智控"/>
          <p:cNvSpPr txBox="1"/>
          <p:nvPr/>
        </p:nvSpPr>
        <p:spPr>
          <a:xfrm>
            <a:off x="361950" y="190500"/>
            <a:ext cx="13335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73F32"/>
                </a:solidFill>
                <a:latin typeface="微软雅黑" panose="020B0503020204020204" charset="-122"/>
                <a:ea typeface="微软雅黑" panose="020B0503020204020204" charset="-122"/>
              </a:rPr>
              <a:t>青韵智控</a:t>
            </a:r>
            <a:endParaRPr sz="2400" b="1">
              <a:solidFill>
                <a:srgbClr val="073F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1819275" y="257175"/>
            <a:ext cx="0" cy="2762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字：让传统制茶更可控"/>
          <p:cNvSpPr txBox="1"/>
          <p:nvPr/>
        </p:nvSpPr>
        <p:spPr>
          <a:xfrm>
            <a:off x="2076450" y="238125"/>
            <a:ext cx="2190750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让传统制茶更可控</a:t>
            </a:r>
            <a:endParaRPr sz="18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文字：项目背景"/>
          <p:cNvSpPr txBox="1"/>
          <p:nvPr/>
        </p:nvSpPr>
        <p:spPr>
          <a:xfrm>
            <a:off x="8515350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项目背景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9486900" y="323850"/>
            <a:ext cx="0" cy="1619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字：项目概述"/>
          <p:cNvSpPr txBox="1"/>
          <p:nvPr/>
        </p:nvSpPr>
        <p:spPr>
          <a:xfrm>
            <a:off x="9648825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项目概述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10620375" y="323850"/>
            <a:ext cx="0" cy="1619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字：关键技术"/>
          <p:cNvSpPr txBox="1"/>
          <p:nvPr/>
        </p:nvSpPr>
        <p:spPr>
          <a:xfrm>
            <a:off x="10782300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关键技术</a:t>
            </a:r>
            <a:endParaRPr sz="150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11753850" y="323850"/>
            <a:ext cx="0" cy="1619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1020425" y="628650"/>
            <a:ext cx="381000" cy="0"/>
          </a:xfrm>
          <a:prstGeom prst="line">
            <a:avLst/>
          </a:prstGeom>
          <a:ln w="19050">
            <a:solidFill>
              <a:srgbClr val="073F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字：实施与验证"/>
          <p:cNvSpPr txBox="1"/>
          <p:nvPr/>
        </p:nvSpPr>
        <p:spPr>
          <a:xfrm>
            <a:off x="11915775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实施与验证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12887325" y="323850"/>
            <a:ext cx="0" cy="1619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字：商业模式"/>
          <p:cNvSpPr txBox="1"/>
          <p:nvPr/>
        </p:nvSpPr>
        <p:spPr>
          <a:xfrm>
            <a:off x="13049250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商业模式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14020800" y="323850"/>
            <a:ext cx="0" cy="1619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字：未来展望"/>
          <p:cNvSpPr txBox="1"/>
          <p:nvPr/>
        </p:nvSpPr>
        <p:spPr>
          <a:xfrm>
            <a:off x="14182725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未来展望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9" name="文字：10"/>
          <p:cNvSpPr txBox="1"/>
          <p:nvPr/>
        </p:nvSpPr>
        <p:spPr>
          <a:xfrm>
            <a:off x="15163800" y="257175"/>
            <a:ext cx="428625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950" b="0">
                <a:solidFill>
                  <a:srgbClr val="073F32"/>
                </a:solidFill>
                <a:latin typeface="Times New Roman" panose="02020603050405020304"/>
                <a:ea typeface="Times New Roman" panose="02020603050405020304"/>
              </a:rPr>
              <a:t>10</a:t>
            </a:r>
            <a:endParaRPr sz="1950" b="0">
              <a:solidFill>
                <a:srgbClr val="073F32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cxnSp>
        <p:nvCxnSpPr>
          <p:cNvPr id="20" name="Connector 19"/>
          <p:cNvCxnSpPr/>
          <p:nvPr/>
        </p:nvCxnSpPr>
        <p:spPr>
          <a:xfrm>
            <a:off x="0" y="723900"/>
            <a:ext cx="15725775" cy="0"/>
          </a:xfrm>
          <a:prstGeom prst="line">
            <a:avLst/>
          </a:prstGeom>
          <a:ln w="9525">
            <a:solidFill>
              <a:srgbClr val="C7D8D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571875" y="990600"/>
            <a:ext cx="0" cy="6896100"/>
          </a:xfrm>
          <a:prstGeom prst="line">
            <a:avLst/>
          </a:prstGeom>
          <a:ln w="9525">
            <a:solidFill>
              <a:srgbClr val="A4BCB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字：03"/>
          <p:cNvSpPr txBox="1"/>
          <p:nvPr/>
        </p:nvSpPr>
        <p:spPr>
          <a:xfrm>
            <a:off x="457200" y="1409700"/>
            <a:ext cx="2286000" cy="1666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500"/>
              </a:lnSpc>
              <a:spcBef>
                <a:spcPts val="0"/>
              </a:spcBef>
              <a:spcAft>
                <a:spcPts val="0"/>
              </a:spcAft>
            </a:pPr>
            <a:r>
              <a:rPr sz="13500" b="1" i="1">
                <a:solidFill>
                  <a:srgbClr val="073F32"/>
                </a:solidFill>
                <a:latin typeface="Times New Roman" panose="02020603050405020304"/>
                <a:ea typeface="Times New Roman" panose="02020603050405020304"/>
              </a:rPr>
              <a:t>03</a:t>
            </a:r>
            <a:endParaRPr sz="13500" b="1" i="1">
              <a:solidFill>
                <a:srgbClr val="073F32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cxnSp>
        <p:nvCxnSpPr>
          <p:cNvPr id="23" name="Connector 22"/>
          <p:cNvCxnSpPr/>
          <p:nvPr/>
        </p:nvCxnSpPr>
        <p:spPr>
          <a:xfrm flipV="1">
            <a:off x="2619375" y="1704975"/>
            <a:ext cx="514350" cy="1190625"/>
          </a:xfrm>
          <a:prstGeom prst="line">
            <a:avLst/>
          </a:prstGeom>
          <a:ln w="11429">
            <a:solidFill>
              <a:srgbClr val="073F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字：关键技术"/>
          <p:cNvSpPr txBox="1"/>
          <p:nvPr/>
        </p:nvSpPr>
        <p:spPr>
          <a:xfrm>
            <a:off x="485775" y="3114675"/>
            <a:ext cx="3000375" cy="838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5250"/>
              </a:lnSpc>
              <a:spcBef>
                <a:spcPts val="0"/>
              </a:spcBef>
              <a:spcAft>
                <a:spcPts val="0"/>
              </a:spcAft>
            </a:pPr>
            <a:r>
              <a:rPr sz="525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关键技术</a:t>
            </a:r>
            <a:endParaRPr sz="525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5" name="文字：多模态感知、&#10;状态估计与自适应控制"/>
          <p:cNvSpPr txBox="1"/>
          <p:nvPr/>
        </p:nvSpPr>
        <p:spPr>
          <a:xfrm>
            <a:off x="552450" y="4076700"/>
            <a:ext cx="2905125" cy="838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sz="217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多模态感知、</a:t>
            </a:r>
            <a:br>
              <a:rPr sz="217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sz="217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状态估计与自适应控制</a:t>
            </a:r>
            <a:endParaRPr sz="217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26" name="Connector 25"/>
          <p:cNvCxnSpPr/>
          <p:nvPr/>
        </p:nvCxnSpPr>
        <p:spPr>
          <a:xfrm>
            <a:off x="552450" y="5076825"/>
            <a:ext cx="400050" cy="0"/>
          </a:xfrm>
          <a:prstGeom prst="line">
            <a:avLst/>
          </a:prstGeom>
          <a:ln w="9525">
            <a:solidFill>
              <a:srgbClr val="073F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字：“控得稳，关键在于&#10; 先判得准，再调得对。”"/>
          <p:cNvSpPr txBox="1"/>
          <p:nvPr/>
        </p:nvSpPr>
        <p:spPr>
          <a:xfrm>
            <a:off x="457200" y="5314950"/>
            <a:ext cx="2990850" cy="1095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930"/>
              </a:lnSpc>
              <a:spcBef>
                <a:spcPts val="0"/>
              </a:spcBef>
              <a:spcAft>
                <a:spcPts val="0"/>
              </a:spcAft>
            </a:pPr>
            <a:r>
              <a:rPr sz="1930" b="0">
                <a:solidFill>
                  <a:srgbClr val="073F32"/>
                </a:solidFill>
                <a:latin typeface="楷体" panose="02010609060101010101" charset="-122"/>
                <a:ea typeface="楷体" panose="02010609060101010101" charset="-122"/>
              </a:rPr>
              <a:t>“控得稳，关键在于</a:t>
            </a:r>
            <a:br>
              <a:rPr sz="1930" b="0">
                <a:solidFill>
                  <a:srgbClr val="073F32"/>
                </a:solidFill>
                <a:latin typeface="楷体" panose="02010609060101010101" charset="-122"/>
                <a:ea typeface="楷体" panose="02010609060101010101" charset="-122"/>
              </a:rPr>
            </a:br>
            <a:r>
              <a:rPr sz="1930" b="0">
                <a:solidFill>
                  <a:srgbClr val="073F32"/>
                </a:solidFill>
                <a:latin typeface="楷体" panose="02010609060101010101" charset="-122"/>
                <a:ea typeface="楷体" panose="02010609060101010101" charset="-122"/>
              </a:rPr>
              <a:t> 先判得准，再调得对。”</a:t>
            </a:r>
            <a:endParaRPr sz="1930" b="0">
              <a:solidFill>
                <a:srgbClr val="073F32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28" name="文字：中 国 茶 · 产 业 智 造 · 中 国 未 来"/>
          <p:cNvSpPr txBox="1"/>
          <p:nvPr/>
        </p:nvSpPr>
        <p:spPr>
          <a:xfrm>
            <a:off x="11791950" y="8439150"/>
            <a:ext cx="3619500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 国 茶 · 产 业 智 造 · 中 国 未 来</a:t>
            </a:r>
            <a:endParaRPr sz="13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9" name="文字：3.4 自适应闭环控制"/>
          <p:cNvSpPr txBox="1"/>
          <p:nvPr/>
        </p:nvSpPr>
        <p:spPr>
          <a:xfrm>
            <a:off x="3867150" y="981075"/>
            <a:ext cx="3648075" cy="514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3150"/>
              </a:lnSpc>
              <a:spcBef>
                <a:spcPts val="0"/>
              </a:spcBef>
              <a:spcAft>
                <a:spcPts val="0"/>
              </a:spcAft>
            </a:pPr>
            <a:r>
              <a:rPr sz="315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3.4 自适应闭环控制</a:t>
            </a:r>
            <a:endParaRPr sz="315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30" name="Connector 29"/>
          <p:cNvCxnSpPr/>
          <p:nvPr/>
        </p:nvCxnSpPr>
        <p:spPr>
          <a:xfrm>
            <a:off x="7600950" y="1085850"/>
            <a:ext cx="0" cy="304800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字：让做青决策从固定程序走向状态驱动"/>
          <p:cNvSpPr txBox="1"/>
          <p:nvPr/>
        </p:nvSpPr>
        <p:spPr>
          <a:xfrm>
            <a:off x="7772400" y="1038225"/>
            <a:ext cx="7734300" cy="4476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让做青决策从固定程序走向状态驱动</a:t>
            </a:r>
            <a:endParaRPr sz="210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2" name="可编辑框架"/>
          <p:cNvSpPr/>
          <p:nvPr/>
        </p:nvSpPr>
        <p:spPr>
          <a:xfrm>
            <a:off x="3867150" y="2314575"/>
            <a:ext cx="4562475" cy="4772025"/>
          </a:xfrm>
          <a:prstGeom prst="roundRect">
            <a:avLst>
              <a:gd name="adj" fmla="val 2500"/>
            </a:avLst>
          </a:prstGeom>
          <a:solidFill>
            <a:srgbClr val="F2F9F6"/>
          </a:solidFill>
          <a:ln>
            <a:solidFill>
              <a:srgbClr val="C8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可编辑框架"/>
          <p:cNvSpPr/>
          <p:nvPr/>
        </p:nvSpPr>
        <p:spPr>
          <a:xfrm>
            <a:off x="8582025" y="2314575"/>
            <a:ext cx="3752850" cy="4772025"/>
          </a:xfrm>
          <a:prstGeom prst="roundRect">
            <a:avLst>
              <a:gd name="adj" fmla="val 2500"/>
            </a:avLst>
          </a:prstGeom>
          <a:solidFill>
            <a:srgbClr val="F2F9F6"/>
          </a:solidFill>
          <a:ln>
            <a:solidFill>
              <a:srgbClr val="C8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可编辑框架"/>
          <p:cNvSpPr/>
          <p:nvPr/>
        </p:nvSpPr>
        <p:spPr>
          <a:xfrm>
            <a:off x="12487275" y="2314575"/>
            <a:ext cx="3086100" cy="4772025"/>
          </a:xfrm>
          <a:prstGeom prst="roundRect">
            <a:avLst>
              <a:gd name="adj" fmla="val 2500"/>
            </a:avLst>
          </a:prstGeom>
          <a:solidFill>
            <a:srgbClr val="F2F9F6"/>
          </a:solidFill>
          <a:ln>
            <a:solidFill>
              <a:srgbClr val="C8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可编辑框架"/>
          <p:cNvSpPr/>
          <p:nvPr/>
        </p:nvSpPr>
        <p:spPr>
          <a:xfrm>
            <a:off x="4000500" y="2838450"/>
            <a:ext cx="2047875" cy="600075"/>
          </a:xfrm>
          <a:prstGeom prst="roundRect">
            <a:avLst>
              <a:gd name="adj" fmla="val 2500"/>
            </a:avLst>
          </a:prstGeom>
          <a:solidFill>
            <a:srgbClr val="F2F9F6"/>
          </a:solidFill>
          <a:ln>
            <a:solidFill>
              <a:srgbClr val="C8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可编辑框架"/>
          <p:cNvSpPr/>
          <p:nvPr/>
        </p:nvSpPr>
        <p:spPr>
          <a:xfrm>
            <a:off x="6343650" y="2838450"/>
            <a:ext cx="1990725" cy="600075"/>
          </a:xfrm>
          <a:prstGeom prst="roundRect">
            <a:avLst>
              <a:gd name="adj" fmla="val 2500"/>
            </a:avLst>
          </a:prstGeom>
          <a:solidFill>
            <a:srgbClr val="F2F9F6"/>
          </a:solidFill>
          <a:ln>
            <a:solidFill>
              <a:srgbClr val="C8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可编辑框架"/>
          <p:cNvSpPr/>
          <p:nvPr/>
        </p:nvSpPr>
        <p:spPr>
          <a:xfrm>
            <a:off x="3867150" y="2314575"/>
            <a:ext cx="4562475" cy="428625"/>
          </a:xfrm>
          <a:prstGeom prst="rect">
            <a:avLst/>
          </a:prstGeom>
          <a:solidFill>
            <a:srgbClr val="E2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可编辑框架"/>
          <p:cNvSpPr/>
          <p:nvPr/>
        </p:nvSpPr>
        <p:spPr>
          <a:xfrm>
            <a:off x="8582025" y="2314575"/>
            <a:ext cx="3752850" cy="428625"/>
          </a:xfrm>
          <a:prstGeom prst="rect">
            <a:avLst/>
          </a:prstGeom>
          <a:solidFill>
            <a:srgbClr val="E2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可编辑框架"/>
          <p:cNvSpPr/>
          <p:nvPr/>
        </p:nvSpPr>
        <p:spPr>
          <a:xfrm>
            <a:off x="12487275" y="2314575"/>
            <a:ext cx="3086100" cy="428625"/>
          </a:xfrm>
          <a:prstGeom prst="rect">
            <a:avLst/>
          </a:prstGeom>
          <a:solidFill>
            <a:srgbClr val="E2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可编辑框架"/>
          <p:cNvSpPr/>
          <p:nvPr/>
        </p:nvSpPr>
        <p:spPr>
          <a:xfrm>
            <a:off x="12706350" y="3200400"/>
            <a:ext cx="2657475" cy="438150"/>
          </a:xfrm>
          <a:prstGeom prst="rect">
            <a:avLst/>
          </a:prstGeom>
          <a:solidFill>
            <a:srgbClr val="E2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可编辑框架"/>
          <p:cNvSpPr/>
          <p:nvPr/>
        </p:nvSpPr>
        <p:spPr>
          <a:xfrm>
            <a:off x="12706350" y="3724275"/>
            <a:ext cx="2657475" cy="438150"/>
          </a:xfrm>
          <a:prstGeom prst="rect">
            <a:avLst/>
          </a:prstGeom>
          <a:solidFill>
            <a:srgbClr val="E2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可编辑框架"/>
          <p:cNvSpPr/>
          <p:nvPr/>
        </p:nvSpPr>
        <p:spPr>
          <a:xfrm>
            <a:off x="12706350" y="4257675"/>
            <a:ext cx="2657475" cy="438150"/>
          </a:xfrm>
          <a:prstGeom prst="rect">
            <a:avLst/>
          </a:prstGeom>
          <a:solidFill>
            <a:srgbClr val="E2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可编辑框架"/>
          <p:cNvSpPr/>
          <p:nvPr/>
        </p:nvSpPr>
        <p:spPr>
          <a:xfrm>
            <a:off x="12706350" y="4791075"/>
            <a:ext cx="2657475" cy="438150"/>
          </a:xfrm>
          <a:prstGeom prst="rect">
            <a:avLst/>
          </a:prstGeom>
          <a:solidFill>
            <a:srgbClr val="E2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可编辑框架"/>
          <p:cNvSpPr/>
          <p:nvPr/>
        </p:nvSpPr>
        <p:spPr>
          <a:xfrm>
            <a:off x="3867150" y="7715250"/>
            <a:ext cx="11677650" cy="428625"/>
          </a:xfrm>
          <a:prstGeom prst="roundRect">
            <a:avLst>
              <a:gd name="adj" fmla="val 2500"/>
            </a:avLst>
          </a:prstGeom>
          <a:solidFill>
            <a:srgbClr val="095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可编辑框架"/>
          <p:cNvSpPr/>
          <p:nvPr/>
        </p:nvSpPr>
        <p:spPr>
          <a:xfrm>
            <a:off x="3867150" y="8153400"/>
            <a:ext cx="11677650" cy="266700"/>
          </a:xfrm>
          <a:prstGeom prst="rect">
            <a:avLst/>
          </a:prstGeom>
          <a:solidFill>
            <a:srgbClr val="F1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独立图标或流程线" descr="p10_icon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73050" y="3228975"/>
            <a:ext cx="390525" cy="390525"/>
          </a:xfrm>
          <a:prstGeom prst="rect">
            <a:avLst/>
          </a:prstGeom>
        </p:spPr>
      </p:pic>
      <p:pic>
        <p:nvPicPr>
          <p:cNvPr id="47" name="独立图标或流程线" descr="p10_icon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8900" y="3581400"/>
            <a:ext cx="419100" cy="285750"/>
          </a:xfrm>
          <a:prstGeom prst="rect">
            <a:avLst/>
          </a:prstGeom>
        </p:spPr>
      </p:pic>
      <p:pic>
        <p:nvPicPr>
          <p:cNvPr id="48" name="独立图标或流程线" descr="p10_icon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5750" y="3667125"/>
            <a:ext cx="400050" cy="400050"/>
          </a:xfrm>
          <a:prstGeom prst="rect">
            <a:avLst/>
          </a:prstGeom>
        </p:spPr>
      </p:pic>
      <p:pic>
        <p:nvPicPr>
          <p:cNvPr id="49" name="独立图标或流程线" descr="p10_icon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0" y="3676649"/>
            <a:ext cx="533400" cy="400050"/>
          </a:xfrm>
          <a:prstGeom prst="rect">
            <a:avLst/>
          </a:prstGeom>
        </p:spPr>
      </p:pic>
      <p:pic>
        <p:nvPicPr>
          <p:cNvPr id="50" name="独立图标或流程线" descr="p10_icon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2250" y="3705224"/>
            <a:ext cx="438150" cy="314325"/>
          </a:xfrm>
          <a:prstGeom prst="rect">
            <a:avLst/>
          </a:prstGeom>
        </p:spPr>
      </p:pic>
      <p:pic>
        <p:nvPicPr>
          <p:cNvPr id="51" name="独立图标或流程线" descr="p10_icon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963525" y="3733799"/>
            <a:ext cx="400050" cy="419100"/>
          </a:xfrm>
          <a:prstGeom prst="rect">
            <a:avLst/>
          </a:prstGeom>
        </p:spPr>
      </p:pic>
      <p:pic>
        <p:nvPicPr>
          <p:cNvPr id="52" name="独立图标或流程线" descr="p10_icon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9825" y="3771900"/>
            <a:ext cx="200025" cy="257175"/>
          </a:xfrm>
          <a:prstGeom prst="rect">
            <a:avLst/>
          </a:prstGeom>
        </p:spPr>
      </p:pic>
      <p:pic>
        <p:nvPicPr>
          <p:cNvPr id="53" name="独立图标或流程线" descr="p10_icon7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15650" y="3762374"/>
            <a:ext cx="447675" cy="419100"/>
          </a:xfrm>
          <a:prstGeom prst="rect">
            <a:avLst/>
          </a:prstGeom>
        </p:spPr>
      </p:pic>
      <p:pic>
        <p:nvPicPr>
          <p:cNvPr id="54" name="独立图标或流程线" descr="p10_icon8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982575" y="4267200"/>
            <a:ext cx="371475" cy="409575"/>
          </a:xfrm>
          <a:prstGeom prst="rect">
            <a:avLst/>
          </a:prstGeom>
        </p:spPr>
      </p:pic>
      <p:pic>
        <p:nvPicPr>
          <p:cNvPr id="55" name="独立图标或流程线" descr="p10_icon9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77350" y="4276725"/>
            <a:ext cx="400050" cy="390525"/>
          </a:xfrm>
          <a:prstGeom prst="rect">
            <a:avLst/>
          </a:prstGeom>
        </p:spPr>
      </p:pic>
      <p:pic>
        <p:nvPicPr>
          <p:cNvPr id="56" name="独立图标或流程线" descr="p10_icon10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268075" y="4295775"/>
            <a:ext cx="342900" cy="352425"/>
          </a:xfrm>
          <a:prstGeom prst="rect">
            <a:avLst/>
          </a:prstGeom>
        </p:spPr>
      </p:pic>
      <p:pic>
        <p:nvPicPr>
          <p:cNvPr id="57" name="独立图标或流程线" descr="p10_icon11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296525" y="4419600"/>
            <a:ext cx="381000" cy="400050"/>
          </a:xfrm>
          <a:prstGeom prst="rect">
            <a:avLst/>
          </a:prstGeom>
        </p:spPr>
      </p:pic>
      <p:pic>
        <p:nvPicPr>
          <p:cNvPr id="58" name="独立图标或流程线" descr="p10_icon12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124325" y="4467225"/>
            <a:ext cx="333375" cy="381000"/>
          </a:xfrm>
          <a:prstGeom prst="rect">
            <a:avLst/>
          </a:prstGeom>
        </p:spPr>
      </p:pic>
      <p:pic>
        <p:nvPicPr>
          <p:cNvPr id="59" name="独立图标或流程线" descr="p10_icon13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00825" y="4476750"/>
            <a:ext cx="371475" cy="361950"/>
          </a:xfrm>
          <a:prstGeom prst="rect">
            <a:avLst/>
          </a:prstGeom>
        </p:spPr>
      </p:pic>
      <p:pic>
        <p:nvPicPr>
          <p:cNvPr id="60" name="独立图标或流程线" descr="p10_icon14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257925" y="4600575"/>
            <a:ext cx="152400" cy="190500"/>
          </a:xfrm>
          <a:prstGeom prst="rect">
            <a:avLst/>
          </a:prstGeom>
        </p:spPr>
      </p:pic>
      <p:pic>
        <p:nvPicPr>
          <p:cNvPr id="61" name="独立图标或流程线" descr="p10_icon15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382125" y="4791075"/>
            <a:ext cx="276225" cy="552450"/>
          </a:xfrm>
          <a:prstGeom prst="rect">
            <a:avLst/>
          </a:prstGeom>
        </p:spPr>
      </p:pic>
      <p:pic>
        <p:nvPicPr>
          <p:cNvPr id="62" name="独立图标或流程线" descr="p10_icon16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3011150" y="4800600"/>
            <a:ext cx="314325" cy="409575"/>
          </a:xfrm>
          <a:prstGeom prst="rect">
            <a:avLst/>
          </a:prstGeom>
        </p:spPr>
      </p:pic>
      <p:pic>
        <p:nvPicPr>
          <p:cNvPr id="63" name="独立图标或流程线" descr="p10_icon17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1220450" y="4895850"/>
            <a:ext cx="247649" cy="504825"/>
          </a:xfrm>
          <a:prstGeom prst="rect">
            <a:avLst/>
          </a:prstGeom>
        </p:spPr>
      </p:pic>
      <p:pic>
        <p:nvPicPr>
          <p:cNvPr id="64" name="独立图标或流程线" descr="p10_icon18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133849" y="5267325"/>
            <a:ext cx="333375" cy="438150"/>
          </a:xfrm>
          <a:prstGeom prst="rect">
            <a:avLst/>
          </a:prstGeom>
        </p:spPr>
      </p:pic>
      <p:pic>
        <p:nvPicPr>
          <p:cNvPr id="65" name="独立图标或流程线" descr="p10_icon19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619875" y="5267325"/>
            <a:ext cx="352425" cy="447675"/>
          </a:xfrm>
          <a:prstGeom prst="rect">
            <a:avLst/>
          </a:prstGeom>
        </p:spPr>
      </p:pic>
      <p:pic>
        <p:nvPicPr>
          <p:cNvPr id="66" name="独立图标或流程线" descr="p10_icon20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2677775" y="5372100"/>
            <a:ext cx="342900" cy="400050"/>
          </a:xfrm>
          <a:prstGeom prst="rect">
            <a:avLst/>
          </a:prstGeom>
        </p:spPr>
      </p:pic>
      <p:pic>
        <p:nvPicPr>
          <p:cNvPr id="67" name="独立图标或流程线" descr="p10_icon21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257925" y="5400675"/>
            <a:ext cx="152400" cy="228600"/>
          </a:xfrm>
          <a:prstGeom prst="rect">
            <a:avLst/>
          </a:prstGeom>
        </p:spPr>
      </p:pic>
      <p:pic>
        <p:nvPicPr>
          <p:cNvPr id="68" name="独立图标或流程线" descr="p10_icon22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572625" y="5467350"/>
            <a:ext cx="371475" cy="400050"/>
          </a:xfrm>
          <a:prstGeom prst="rect">
            <a:avLst/>
          </a:prstGeom>
        </p:spPr>
      </p:pic>
      <p:pic>
        <p:nvPicPr>
          <p:cNvPr id="69" name="独立图标或流程线" descr="p10_icon23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915650" y="5476875"/>
            <a:ext cx="390525" cy="381000"/>
          </a:xfrm>
          <a:prstGeom prst="rect">
            <a:avLst/>
          </a:prstGeom>
        </p:spPr>
      </p:pic>
      <p:pic>
        <p:nvPicPr>
          <p:cNvPr id="70" name="独立图标或流程线" descr="p10_icon24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0077450" y="5676900"/>
            <a:ext cx="666750" cy="238125"/>
          </a:xfrm>
          <a:prstGeom prst="rect">
            <a:avLst/>
          </a:prstGeom>
        </p:spPr>
      </p:pic>
      <p:pic>
        <p:nvPicPr>
          <p:cNvPr id="71" name="独立图标或流程线" descr="p10_icon25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2887325" y="5772150"/>
            <a:ext cx="352425" cy="352425"/>
          </a:xfrm>
          <a:prstGeom prst="rect">
            <a:avLst/>
          </a:prstGeom>
        </p:spPr>
      </p:pic>
      <p:pic>
        <p:nvPicPr>
          <p:cNvPr id="72" name="独立图标或流程线" descr="p10_icon26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2915900" y="6191250"/>
            <a:ext cx="295275" cy="323850"/>
          </a:xfrm>
          <a:prstGeom prst="rect">
            <a:avLst/>
          </a:prstGeom>
        </p:spPr>
      </p:pic>
      <p:pic>
        <p:nvPicPr>
          <p:cNvPr id="73" name="独立图标或流程线" descr="p10_icon27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4086225" y="6229350"/>
            <a:ext cx="419100" cy="371475"/>
          </a:xfrm>
          <a:prstGeom prst="rect">
            <a:avLst/>
          </a:prstGeom>
        </p:spPr>
      </p:pic>
      <p:pic>
        <p:nvPicPr>
          <p:cNvPr id="74" name="独立图标或流程线" descr="p10_icon28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600825" y="6219825"/>
            <a:ext cx="361950" cy="381000"/>
          </a:xfrm>
          <a:prstGeom prst="rect">
            <a:avLst/>
          </a:prstGeom>
        </p:spPr>
      </p:pic>
      <p:pic>
        <p:nvPicPr>
          <p:cNvPr id="75" name="独立图标或流程线" descr="p10_icon29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6324600" y="6381750"/>
            <a:ext cx="85725" cy="85725"/>
          </a:xfrm>
          <a:prstGeom prst="rect">
            <a:avLst/>
          </a:prstGeom>
        </p:spPr>
      </p:pic>
      <p:pic>
        <p:nvPicPr>
          <p:cNvPr id="76" name="独立图标或流程线" descr="p10_icon30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2868275" y="6581775"/>
            <a:ext cx="381000" cy="342900"/>
          </a:xfrm>
          <a:prstGeom prst="rect">
            <a:avLst/>
          </a:prstGeom>
        </p:spPr>
      </p:pic>
      <p:sp>
        <p:nvSpPr>
          <p:cNvPr id="77" name="文字：系统依据状态估计结果，不再按固定时间表执行翻动，而是根据鲜叶当前状态动"/>
          <p:cNvSpPr txBox="1"/>
          <p:nvPr/>
        </p:nvSpPr>
        <p:spPr>
          <a:xfrm>
            <a:off x="3886200" y="1619250"/>
            <a:ext cx="11125200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85"/>
              </a:lnSpc>
              <a:spcBef>
                <a:spcPts val="0"/>
              </a:spcBef>
              <a:spcAft>
                <a:spcPts val="0"/>
              </a:spcAft>
            </a:pPr>
            <a:r>
              <a:rPr sz="148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系统依据状态估计结果，不再按固定时间表执行翻动，而是根据鲜叶当前状态动态决定翻动时机、强度、持续时间</a:t>
            </a:r>
            <a:endParaRPr sz="148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8" name="文字：与静置时长，从而实现更稳定的做青过程控制。"/>
          <p:cNvSpPr txBox="1"/>
          <p:nvPr/>
        </p:nvSpPr>
        <p:spPr>
          <a:xfrm>
            <a:off x="3895725" y="1905000"/>
            <a:ext cx="4467225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与静置时长，从而实现更稳定的做青过程控制。</a:t>
            </a:r>
            <a:endParaRPr sz="15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9" name="文字：传统方式VS状态驱动方式"/>
          <p:cNvSpPr txBox="1"/>
          <p:nvPr/>
        </p:nvSpPr>
        <p:spPr>
          <a:xfrm>
            <a:off x="4095750" y="2400300"/>
            <a:ext cx="3190875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</a:pPr>
            <a:r>
              <a:rPr sz="168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传统方式VS状态驱动方式</a:t>
            </a:r>
            <a:endParaRPr sz="168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0" name="文字：闭环控制流程"/>
          <p:cNvSpPr txBox="1"/>
          <p:nvPr/>
        </p:nvSpPr>
        <p:spPr>
          <a:xfrm>
            <a:off x="8791575" y="2381250"/>
            <a:ext cx="1590675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955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闭环控制流程</a:t>
            </a:r>
            <a:endParaRPr sz="1955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1" name="文字：控制输出与安全约束"/>
          <p:cNvSpPr txBox="1"/>
          <p:nvPr/>
        </p:nvSpPr>
        <p:spPr>
          <a:xfrm>
            <a:off x="12677775" y="2381250"/>
            <a:ext cx="2286000" cy="3143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89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控制输出与安全约束</a:t>
            </a:r>
            <a:endParaRPr sz="189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2" name="文字：传统方式"/>
          <p:cNvSpPr txBox="1"/>
          <p:nvPr/>
        </p:nvSpPr>
        <p:spPr>
          <a:xfrm>
            <a:off x="4600575" y="2867025"/>
            <a:ext cx="990600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75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传统方式</a:t>
            </a:r>
            <a:endParaRPr sz="175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3" name="文字：状态驱动方式"/>
          <p:cNvSpPr txBox="1"/>
          <p:nvPr/>
        </p:nvSpPr>
        <p:spPr>
          <a:xfrm>
            <a:off x="6705600" y="2867025"/>
            <a:ext cx="1390650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710"/>
              </a:lnSpc>
              <a:spcBef>
                <a:spcPts val="0"/>
              </a:spcBef>
              <a:spcAft>
                <a:spcPts val="0"/>
              </a:spcAft>
            </a:pPr>
            <a:r>
              <a:rPr sz="171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状态驱动方式</a:t>
            </a:r>
            <a:endParaRPr sz="171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4" name="文字：多模态感知"/>
          <p:cNvSpPr txBox="1"/>
          <p:nvPr/>
        </p:nvSpPr>
        <p:spPr>
          <a:xfrm>
            <a:off x="9953625" y="2847975"/>
            <a:ext cx="1133475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多模态感知</a:t>
            </a:r>
            <a:endParaRPr sz="162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5" name="文字：控制输出（决策参数）"/>
          <p:cNvSpPr txBox="1"/>
          <p:nvPr/>
        </p:nvSpPr>
        <p:spPr>
          <a:xfrm>
            <a:off x="12782550" y="2857500"/>
            <a:ext cx="196215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75"/>
              </a:lnSpc>
              <a:spcBef>
                <a:spcPts val="0"/>
              </a:spcBef>
              <a:spcAft>
                <a:spcPts val="0"/>
              </a:spcAft>
            </a:pPr>
            <a:r>
              <a:rPr sz="147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控制输出（决策参数）</a:t>
            </a:r>
            <a:endParaRPr sz="147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6" name="文字：（固定程序）"/>
          <p:cNvSpPr txBox="1"/>
          <p:nvPr/>
        </p:nvSpPr>
        <p:spPr>
          <a:xfrm>
            <a:off x="4591050" y="3133725"/>
            <a:ext cx="1019175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225"/>
              </a:lnSpc>
              <a:spcBef>
                <a:spcPts val="0"/>
              </a:spcBef>
              <a:spcAft>
                <a:spcPts val="0"/>
              </a:spcAft>
            </a:pPr>
            <a:r>
              <a:rPr sz="122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（固定程序）</a:t>
            </a:r>
            <a:endParaRPr sz="122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7" name="文字：（自适应控制）"/>
          <p:cNvSpPr txBox="1"/>
          <p:nvPr/>
        </p:nvSpPr>
        <p:spPr>
          <a:xfrm>
            <a:off x="6800850" y="3133725"/>
            <a:ext cx="120015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255"/>
              </a:lnSpc>
              <a:spcBef>
                <a:spcPts val="0"/>
              </a:spcBef>
              <a:spcAft>
                <a:spcPts val="0"/>
              </a:spcAft>
            </a:pPr>
            <a:r>
              <a:rPr sz="125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（自适应控制）</a:t>
            </a:r>
            <a:endParaRPr sz="125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8" name="文字：气味、视觉、温湿度、失水"/>
          <p:cNvSpPr txBox="1"/>
          <p:nvPr/>
        </p:nvSpPr>
        <p:spPr>
          <a:xfrm>
            <a:off x="9591675" y="3114675"/>
            <a:ext cx="1914525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气味、视觉、温湿度、失水</a:t>
            </a:r>
            <a:endParaRPr sz="12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9" name="文字：下一次翻动时机"/>
          <p:cNvSpPr txBox="1"/>
          <p:nvPr/>
        </p:nvSpPr>
        <p:spPr>
          <a:xfrm>
            <a:off x="13706475" y="3305175"/>
            <a:ext cx="1343025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15"/>
              </a:lnSpc>
              <a:spcBef>
                <a:spcPts val="0"/>
              </a:spcBef>
              <a:spcAft>
                <a:spcPts val="0"/>
              </a:spcAft>
            </a:pPr>
            <a:r>
              <a:rPr sz="141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下一次翻动时机</a:t>
            </a:r>
            <a:endParaRPr sz="141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0" name="文字：固定时间表"/>
          <p:cNvSpPr txBox="1"/>
          <p:nvPr/>
        </p:nvSpPr>
        <p:spPr>
          <a:xfrm>
            <a:off x="4657725" y="3638550"/>
            <a:ext cx="1009650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15"/>
              </a:lnSpc>
              <a:spcBef>
                <a:spcPts val="0"/>
              </a:spcBef>
              <a:spcAft>
                <a:spcPts val="0"/>
              </a:spcAft>
            </a:pPr>
            <a:r>
              <a:rPr sz="141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固定时间表</a:t>
            </a:r>
            <a:endParaRPr sz="141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1" name="文字：实时感知状态"/>
          <p:cNvSpPr txBox="1"/>
          <p:nvPr/>
        </p:nvSpPr>
        <p:spPr>
          <a:xfrm>
            <a:off x="7162800" y="3638550"/>
            <a:ext cx="1143000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85"/>
              </a:lnSpc>
              <a:spcBef>
                <a:spcPts val="0"/>
              </a:spcBef>
              <a:spcAft>
                <a:spcPts val="0"/>
              </a:spcAft>
            </a:pPr>
            <a:r>
              <a:rPr sz="138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实时感知状态</a:t>
            </a:r>
            <a:endParaRPr sz="138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2" name="文字：按经验设定时间点"/>
          <p:cNvSpPr txBox="1"/>
          <p:nvPr/>
        </p:nvSpPr>
        <p:spPr>
          <a:xfrm>
            <a:off x="4657725" y="3886200"/>
            <a:ext cx="11811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按经验设定时间点</a:t>
            </a:r>
            <a:endParaRPr sz="108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3" name="文字：多源信息融合判断"/>
          <p:cNvSpPr txBox="1"/>
          <p:nvPr/>
        </p:nvSpPr>
        <p:spPr>
          <a:xfrm>
            <a:off x="7172325" y="3886200"/>
            <a:ext cx="119062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085"/>
              </a:lnSpc>
              <a:spcBef>
                <a:spcPts val="0"/>
              </a:spcBef>
              <a:spcAft>
                <a:spcPts val="0"/>
              </a:spcAft>
            </a:pPr>
            <a:r>
              <a:rPr sz="108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多源信息融合判断</a:t>
            </a:r>
            <a:endParaRPr sz="108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4" name="文字：翻动强度"/>
          <p:cNvSpPr txBox="1"/>
          <p:nvPr/>
        </p:nvSpPr>
        <p:spPr>
          <a:xfrm>
            <a:off x="13649325" y="3810000"/>
            <a:ext cx="876300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55"/>
              </a:lnSpc>
              <a:spcBef>
                <a:spcPts val="0"/>
              </a:spcBef>
              <a:spcAft>
                <a:spcPts val="0"/>
              </a:spcAft>
            </a:pPr>
            <a:r>
              <a:rPr sz="155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翻动强度</a:t>
            </a:r>
            <a:endParaRPr sz="155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5" name="文字：同批同程序"/>
          <p:cNvSpPr txBox="1"/>
          <p:nvPr/>
        </p:nvSpPr>
        <p:spPr>
          <a:xfrm>
            <a:off x="4648200" y="4419600"/>
            <a:ext cx="100965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55"/>
              </a:lnSpc>
              <a:spcBef>
                <a:spcPts val="0"/>
              </a:spcBef>
              <a:spcAft>
                <a:spcPts val="0"/>
              </a:spcAft>
            </a:pPr>
            <a:r>
              <a:rPr sz="145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同批同程序</a:t>
            </a:r>
            <a:endParaRPr sz="145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6" name="文字：动态调整参数"/>
          <p:cNvSpPr txBox="1"/>
          <p:nvPr/>
        </p:nvSpPr>
        <p:spPr>
          <a:xfrm>
            <a:off x="7172325" y="4438650"/>
            <a:ext cx="1123950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60"/>
              </a:lnSpc>
              <a:spcBef>
                <a:spcPts val="0"/>
              </a:spcBef>
              <a:spcAft>
                <a:spcPts val="0"/>
              </a:spcAft>
            </a:pPr>
            <a:r>
              <a:rPr sz="136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动态调整参数</a:t>
            </a:r>
            <a:endParaRPr sz="136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7" name="文字：持续时间"/>
          <p:cNvSpPr txBox="1"/>
          <p:nvPr/>
        </p:nvSpPr>
        <p:spPr>
          <a:xfrm>
            <a:off x="13658850" y="4352925"/>
            <a:ext cx="857250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85"/>
              </a:lnSpc>
              <a:spcBef>
                <a:spcPts val="0"/>
              </a:spcBef>
              <a:spcAft>
                <a:spcPts val="0"/>
              </a:spcAft>
            </a:pPr>
            <a:r>
              <a:rPr sz="148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持续时间</a:t>
            </a:r>
            <a:endParaRPr sz="148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8" name="文字：不同原料采用相同工艺"/>
          <p:cNvSpPr txBox="1"/>
          <p:nvPr/>
        </p:nvSpPr>
        <p:spPr>
          <a:xfrm>
            <a:off x="4667250" y="4657725"/>
            <a:ext cx="1438275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065"/>
              </a:lnSpc>
              <a:spcBef>
                <a:spcPts val="0"/>
              </a:spcBef>
              <a:spcAft>
                <a:spcPts val="0"/>
              </a:spcAft>
            </a:pPr>
            <a:r>
              <a:rPr sz="106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不同原料采用相同工艺</a:t>
            </a:r>
            <a:endParaRPr sz="106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9" name="文字：按状态生成控制策略"/>
          <p:cNvSpPr txBox="1"/>
          <p:nvPr/>
        </p:nvSpPr>
        <p:spPr>
          <a:xfrm>
            <a:off x="7153275" y="4695825"/>
            <a:ext cx="1314450" cy="2190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075"/>
              </a:lnSpc>
              <a:spcBef>
                <a:spcPts val="0"/>
              </a:spcBef>
              <a:spcAft>
                <a:spcPts val="0"/>
              </a:spcAft>
            </a:pPr>
            <a:r>
              <a:rPr sz="107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按状态生成控制策略</a:t>
            </a:r>
            <a:endParaRPr sz="107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0" name="文字：反馈修正"/>
          <p:cNvSpPr txBox="1"/>
          <p:nvPr/>
        </p:nvSpPr>
        <p:spPr>
          <a:xfrm>
            <a:off x="8686800" y="4667250"/>
            <a:ext cx="790575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85"/>
              </a:lnSpc>
              <a:spcBef>
                <a:spcPts val="0"/>
              </a:spcBef>
              <a:spcAft>
                <a:spcPts val="0"/>
              </a:spcAft>
            </a:pPr>
            <a:r>
              <a:rPr sz="138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反馈修正</a:t>
            </a:r>
            <a:endParaRPr sz="138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1" name="文字：状态判断"/>
          <p:cNvSpPr txBox="1"/>
          <p:nvPr/>
        </p:nvSpPr>
        <p:spPr>
          <a:xfrm>
            <a:off x="11544300" y="4657725"/>
            <a:ext cx="800100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05"/>
              </a:lnSpc>
              <a:spcBef>
                <a:spcPts val="0"/>
              </a:spcBef>
              <a:spcAft>
                <a:spcPts val="0"/>
              </a:spcAft>
            </a:pPr>
            <a:r>
              <a:rPr sz="140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状态判断</a:t>
            </a:r>
            <a:endParaRPr sz="140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2" name="文字：状态驱动"/>
          <p:cNvSpPr txBox="1"/>
          <p:nvPr/>
        </p:nvSpPr>
        <p:spPr>
          <a:xfrm>
            <a:off x="10106025" y="4800600"/>
            <a:ext cx="819150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45"/>
              </a:lnSpc>
              <a:spcBef>
                <a:spcPts val="0"/>
              </a:spcBef>
              <a:spcAft>
                <a:spcPts val="0"/>
              </a:spcAft>
            </a:pPr>
            <a:r>
              <a:rPr sz="144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状态驱动</a:t>
            </a:r>
            <a:endParaRPr sz="144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3" name="文字：结果回采与"/>
          <p:cNvSpPr txBox="1"/>
          <p:nvPr/>
        </p:nvSpPr>
        <p:spPr>
          <a:xfrm>
            <a:off x="8658225" y="4914900"/>
            <a:ext cx="828675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结果回采与</a:t>
            </a:r>
            <a:endParaRPr sz="117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4" name="文字：阶段、成熟度、"/>
          <p:cNvSpPr txBox="1"/>
          <p:nvPr/>
        </p:nvSpPr>
        <p:spPr>
          <a:xfrm>
            <a:off x="11525250" y="4895850"/>
            <a:ext cx="942975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</a:pPr>
            <a:r>
              <a:rPr sz="96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阶段、成熟度、</a:t>
            </a:r>
            <a:endParaRPr sz="96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5" name="文字：静置时长"/>
          <p:cNvSpPr txBox="1"/>
          <p:nvPr/>
        </p:nvSpPr>
        <p:spPr>
          <a:xfrm>
            <a:off x="13658850" y="4876800"/>
            <a:ext cx="866775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85"/>
              </a:lnSpc>
              <a:spcBef>
                <a:spcPts val="0"/>
              </a:spcBef>
              <a:spcAft>
                <a:spcPts val="0"/>
              </a:spcAft>
            </a:pPr>
            <a:r>
              <a:rPr sz="148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静置时长</a:t>
            </a:r>
            <a:endParaRPr sz="148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6" name="文字：模型更新"/>
          <p:cNvSpPr txBox="1"/>
          <p:nvPr/>
        </p:nvSpPr>
        <p:spPr>
          <a:xfrm>
            <a:off x="8724900" y="5095875"/>
            <a:ext cx="7048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220"/>
              </a:lnSpc>
              <a:spcBef>
                <a:spcPts val="0"/>
              </a:spcBef>
              <a:spcAft>
                <a:spcPts val="0"/>
              </a:spcAft>
            </a:pPr>
            <a:r>
              <a:rPr sz="122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模型更新</a:t>
            </a:r>
            <a:endParaRPr sz="122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7" name="文字：闭环控制"/>
          <p:cNvSpPr txBox="1"/>
          <p:nvPr/>
        </p:nvSpPr>
        <p:spPr>
          <a:xfrm>
            <a:off x="10106025" y="5019675"/>
            <a:ext cx="819150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15"/>
              </a:lnSpc>
              <a:spcBef>
                <a:spcPts val="0"/>
              </a:spcBef>
              <a:spcAft>
                <a:spcPts val="0"/>
              </a:spcAft>
            </a:pPr>
            <a:r>
              <a:rPr sz="141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闭环控制</a:t>
            </a:r>
            <a:endParaRPr sz="141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8" name="文字：趋势"/>
          <p:cNvSpPr txBox="1"/>
          <p:nvPr/>
        </p:nvSpPr>
        <p:spPr>
          <a:xfrm>
            <a:off x="11534775" y="5067300"/>
            <a:ext cx="419100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10"/>
              </a:lnSpc>
              <a:spcBef>
                <a:spcPts val="0"/>
              </a:spcBef>
              <a:spcAft>
                <a:spcPts val="0"/>
              </a:spcAft>
            </a:pPr>
            <a:r>
              <a:rPr sz="131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趋势</a:t>
            </a:r>
            <a:endParaRPr sz="131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9" name="文字：难适应原料差异"/>
          <p:cNvSpPr txBox="1"/>
          <p:nvPr/>
        </p:nvSpPr>
        <p:spPr>
          <a:xfrm>
            <a:off x="4676775" y="5248275"/>
            <a:ext cx="1343025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难适应原料差异</a:t>
            </a:r>
            <a:endParaRPr sz="13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0" name="文字：适应批次差异"/>
          <p:cNvSpPr txBox="1"/>
          <p:nvPr/>
        </p:nvSpPr>
        <p:spPr>
          <a:xfrm>
            <a:off x="7162800" y="5276850"/>
            <a:ext cx="1133475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37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适应批次差异</a:t>
            </a:r>
            <a:endParaRPr sz="137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1" name="文字：受品种、季节、鲜叶"/>
          <p:cNvSpPr txBox="1"/>
          <p:nvPr/>
        </p:nvSpPr>
        <p:spPr>
          <a:xfrm>
            <a:off x="4676775" y="5486400"/>
            <a:ext cx="132397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085"/>
              </a:lnSpc>
              <a:spcBef>
                <a:spcPts val="0"/>
              </a:spcBef>
              <a:spcAft>
                <a:spcPts val="0"/>
              </a:spcAft>
            </a:pPr>
            <a:r>
              <a:rPr sz="108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受品种、季节、鲜叶</a:t>
            </a:r>
            <a:endParaRPr sz="108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2" name="文字：安全约束"/>
          <p:cNvSpPr txBox="1"/>
          <p:nvPr/>
        </p:nvSpPr>
        <p:spPr>
          <a:xfrm>
            <a:off x="13077825" y="5410200"/>
            <a:ext cx="8953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95"/>
              </a:lnSpc>
              <a:spcBef>
                <a:spcPts val="0"/>
              </a:spcBef>
              <a:spcAft>
                <a:spcPts val="0"/>
              </a:spcAft>
            </a:pPr>
            <a:r>
              <a:rPr sz="159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安全约束</a:t>
            </a:r>
            <a:endParaRPr sz="159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3" name="文字：个性化、柔性化控制"/>
          <p:cNvSpPr txBox="1"/>
          <p:nvPr/>
        </p:nvSpPr>
        <p:spPr>
          <a:xfrm>
            <a:off x="7172325" y="5524500"/>
            <a:ext cx="1295400" cy="2190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060"/>
              </a:lnSpc>
              <a:spcBef>
                <a:spcPts val="0"/>
              </a:spcBef>
              <a:spcAft>
                <a:spcPts val="0"/>
              </a:spcAft>
            </a:pPr>
            <a:r>
              <a:rPr sz="106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个性化、柔性化控制</a:t>
            </a:r>
            <a:endParaRPr sz="106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4" name="文字：状态影响大"/>
          <p:cNvSpPr txBox="1"/>
          <p:nvPr/>
        </p:nvSpPr>
        <p:spPr>
          <a:xfrm>
            <a:off x="4648200" y="5648325"/>
            <a:ext cx="838200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185"/>
              </a:lnSpc>
              <a:spcBef>
                <a:spcPts val="0"/>
              </a:spcBef>
              <a:spcAft>
                <a:spcPts val="0"/>
              </a:spcAft>
            </a:pPr>
            <a:r>
              <a:rPr sz="118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状态影响大</a:t>
            </a:r>
            <a:endParaRPr sz="118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5" name="文字：置信度不足时回退保守工艺"/>
          <p:cNvSpPr txBox="1"/>
          <p:nvPr/>
        </p:nvSpPr>
        <p:spPr>
          <a:xfrm>
            <a:off x="13363575" y="5829300"/>
            <a:ext cx="2000250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255"/>
              </a:lnSpc>
              <a:spcBef>
                <a:spcPts val="0"/>
              </a:spcBef>
              <a:spcAft>
                <a:spcPts val="0"/>
              </a:spcAft>
            </a:pPr>
            <a:r>
              <a:rPr sz="125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置信度不足时回退保守工艺</a:t>
            </a:r>
            <a:endParaRPr sz="125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6" name="文字：执行控制"/>
          <p:cNvSpPr txBox="1"/>
          <p:nvPr/>
        </p:nvSpPr>
        <p:spPr>
          <a:xfrm>
            <a:off x="9163050" y="5962650"/>
            <a:ext cx="857250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20"/>
              </a:lnSpc>
              <a:spcBef>
                <a:spcPts val="0"/>
              </a:spcBef>
              <a:spcAft>
                <a:spcPts val="0"/>
              </a:spcAft>
            </a:pPr>
            <a:r>
              <a:rPr sz="152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执行控制</a:t>
            </a:r>
            <a:endParaRPr sz="152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7" name="文字：策略生成"/>
          <p:cNvSpPr txBox="1"/>
          <p:nvPr/>
        </p:nvSpPr>
        <p:spPr>
          <a:xfrm>
            <a:off x="11239500" y="5962650"/>
            <a:ext cx="838200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80"/>
              </a:lnSpc>
              <a:spcBef>
                <a:spcPts val="0"/>
              </a:spcBef>
              <a:spcAft>
                <a:spcPts val="0"/>
              </a:spcAft>
            </a:pPr>
            <a:r>
              <a:rPr sz="148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策略生成</a:t>
            </a:r>
            <a:endParaRPr sz="148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8" name="文字：品质波动较大"/>
          <p:cNvSpPr txBox="1"/>
          <p:nvPr/>
        </p:nvSpPr>
        <p:spPr>
          <a:xfrm>
            <a:off x="4686300" y="6200775"/>
            <a:ext cx="121920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85"/>
              </a:lnSpc>
              <a:spcBef>
                <a:spcPts val="0"/>
              </a:spcBef>
              <a:spcAft>
                <a:spcPts val="0"/>
              </a:spcAft>
            </a:pPr>
            <a:r>
              <a:rPr sz="148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品质波动较大</a:t>
            </a:r>
            <a:endParaRPr sz="148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9" name="文字：更利于品质稳定"/>
          <p:cNvSpPr txBox="1"/>
          <p:nvPr/>
        </p:nvSpPr>
        <p:spPr>
          <a:xfrm>
            <a:off x="7172325" y="6219825"/>
            <a:ext cx="1323975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90"/>
              </a:lnSpc>
              <a:spcBef>
                <a:spcPts val="0"/>
              </a:spcBef>
              <a:spcAft>
                <a:spcPts val="0"/>
              </a:spcAft>
            </a:pPr>
            <a:r>
              <a:rPr sz="139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更利于品质稳定</a:t>
            </a:r>
            <a:endParaRPr sz="139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0" name="文字：转速、持续时间、"/>
          <p:cNvSpPr txBox="1"/>
          <p:nvPr/>
        </p:nvSpPr>
        <p:spPr>
          <a:xfrm>
            <a:off x="8858250" y="6238875"/>
            <a:ext cx="12763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转速、持续时间、</a:t>
            </a:r>
            <a:endParaRPr sz="117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1" name="文字：翻动时机与"/>
          <p:cNvSpPr txBox="1"/>
          <p:nvPr/>
        </p:nvSpPr>
        <p:spPr>
          <a:xfrm>
            <a:off x="11249025" y="6238875"/>
            <a:ext cx="8953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275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翻动时机与</a:t>
            </a:r>
            <a:endParaRPr sz="127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2" name="文字：允许人工确认关键节点"/>
          <p:cNvSpPr txBox="1"/>
          <p:nvPr/>
        </p:nvSpPr>
        <p:spPr>
          <a:xfrm>
            <a:off x="13363575" y="6238875"/>
            <a:ext cx="1695450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265"/>
              </a:lnSpc>
              <a:spcBef>
                <a:spcPts val="0"/>
              </a:spcBef>
              <a:spcAft>
                <a:spcPts val="0"/>
              </a:spcAft>
            </a:pPr>
            <a:r>
              <a:rPr sz="126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允许人工确认关键节点</a:t>
            </a:r>
            <a:endParaRPr sz="126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3" name="文字：易出现过青或欠青"/>
          <p:cNvSpPr txBox="1"/>
          <p:nvPr/>
        </p:nvSpPr>
        <p:spPr>
          <a:xfrm>
            <a:off x="4686300" y="6477000"/>
            <a:ext cx="1276350" cy="2190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易出现过青或欠青</a:t>
            </a:r>
            <a:endParaRPr sz="117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4" name="文字：过程可控、结果更一致"/>
          <p:cNvSpPr txBox="1"/>
          <p:nvPr/>
        </p:nvSpPr>
        <p:spPr>
          <a:xfrm>
            <a:off x="7143750" y="6477000"/>
            <a:ext cx="1381125" cy="2190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020"/>
              </a:lnSpc>
              <a:spcBef>
                <a:spcPts val="0"/>
              </a:spcBef>
              <a:spcAft>
                <a:spcPts val="0"/>
              </a:spcAft>
            </a:pPr>
            <a:r>
              <a:rPr sz="102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过程可控、结果更一致</a:t>
            </a:r>
            <a:endParaRPr sz="102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5" name="文字：静置时长"/>
          <p:cNvSpPr txBox="1"/>
          <p:nvPr/>
        </p:nvSpPr>
        <p:spPr>
          <a:xfrm>
            <a:off x="9124950" y="6438900"/>
            <a:ext cx="781050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70"/>
              </a:lnSpc>
              <a:spcBef>
                <a:spcPts val="0"/>
              </a:spcBef>
              <a:spcAft>
                <a:spcPts val="0"/>
              </a:spcAft>
            </a:pPr>
            <a:r>
              <a:rPr sz="137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静置时长</a:t>
            </a:r>
            <a:endParaRPr sz="137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6" name="文字：参数推荐"/>
          <p:cNvSpPr txBox="1"/>
          <p:nvPr/>
        </p:nvSpPr>
        <p:spPr>
          <a:xfrm>
            <a:off x="11239500" y="6419850"/>
            <a:ext cx="771525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参数推荐</a:t>
            </a:r>
            <a:endParaRPr sz="13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7" name="文字：异常状态触发报警与停机保护"/>
          <p:cNvSpPr txBox="1"/>
          <p:nvPr/>
        </p:nvSpPr>
        <p:spPr>
          <a:xfrm>
            <a:off x="13363575" y="6648450"/>
            <a:ext cx="2171700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265"/>
              </a:lnSpc>
              <a:spcBef>
                <a:spcPts val="0"/>
              </a:spcBef>
              <a:spcAft>
                <a:spcPts val="0"/>
              </a:spcAft>
            </a:pPr>
            <a:r>
              <a:rPr sz="126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异常状态触发报警与停机保护</a:t>
            </a:r>
            <a:endParaRPr sz="126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8" name="文字：不再按“几点钟摇青”，而是按“茶叶现在需要什么”来决定下一步"/>
          <p:cNvSpPr txBox="1"/>
          <p:nvPr/>
        </p:nvSpPr>
        <p:spPr>
          <a:xfrm>
            <a:off x="6286500" y="7821216"/>
            <a:ext cx="649605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不再按“几点钟摇青”，而是按“茶叶现在需要什么”来决定下一步</a:t>
            </a:r>
            <a:endParaRPr sz="1550" b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9" name="文字：自适应闭环控制是实现品质稳定与工艺可复制的关键环节。"/>
          <p:cNvSpPr txBox="1"/>
          <p:nvPr/>
        </p:nvSpPr>
        <p:spPr>
          <a:xfrm>
            <a:off x="7153275" y="8162925"/>
            <a:ext cx="4781550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自适应闭环控制是实现品质稳定与工艺可复制的关键环节。</a:t>
            </a:r>
            <a:endParaRPr sz="13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共享背景：原图茶园风景（无内容组件）" descr="landscap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5925800" cy="8963025"/>
          </a:xfrm>
          <a:prstGeom prst="rect">
            <a:avLst/>
          </a:prstGeom>
        </p:spPr>
      </p:pic>
      <p:sp>
        <p:nvSpPr>
          <p:cNvPr id="3" name="可编辑框架"/>
          <p:cNvSpPr/>
          <p:nvPr/>
        </p:nvSpPr>
        <p:spPr>
          <a:xfrm>
            <a:off x="0" y="0"/>
            <a:ext cx="15925800" cy="723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：青韵智控"/>
          <p:cNvSpPr txBox="1"/>
          <p:nvPr/>
        </p:nvSpPr>
        <p:spPr>
          <a:xfrm>
            <a:off x="361950" y="190500"/>
            <a:ext cx="13335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73F32"/>
                </a:solidFill>
                <a:latin typeface="微软雅黑" panose="020B0503020204020204" charset="-122"/>
                <a:ea typeface="微软雅黑" panose="020B0503020204020204" charset="-122"/>
              </a:rPr>
              <a:t>青韵智控</a:t>
            </a:r>
            <a:endParaRPr sz="2400" b="1">
              <a:solidFill>
                <a:srgbClr val="073F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1819275" y="257175"/>
            <a:ext cx="0" cy="2762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字：让传统制茶更可控"/>
          <p:cNvSpPr txBox="1"/>
          <p:nvPr/>
        </p:nvSpPr>
        <p:spPr>
          <a:xfrm>
            <a:off x="2076450" y="238125"/>
            <a:ext cx="2190750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让传统制茶更可控</a:t>
            </a:r>
            <a:endParaRPr sz="18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文字：项目背景"/>
          <p:cNvSpPr txBox="1"/>
          <p:nvPr/>
        </p:nvSpPr>
        <p:spPr>
          <a:xfrm>
            <a:off x="8515350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项目背景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9486900" y="323850"/>
            <a:ext cx="0" cy="1619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字：项目概述"/>
          <p:cNvSpPr txBox="1"/>
          <p:nvPr/>
        </p:nvSpPr>
        <p:spPr>
          <a:xfrm>
            <a:off x="9648825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项目概述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10620375" y="323850"/>
            <a:ext cx="0" cy="1619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字：关键技术"/>
          <p:cNvSpPr txBox="1"/>
          <p:nvPr/>
        </p:nvSpPr>
        <p:spPr>
          <a:xfrm>
            <a:off x="10782300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关键技术</a:t>
            </a:r>
            <a:endParaRPr sz="150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11753850" y="323850"/>
            <a:ext cx="0" cy="1619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1020425" y="628650"/>
            <a:ext cx="381000" cy="0"/>
          </a:xfrm>
          <a:prstGeom prst="line">
            <a:avLst/>
          </a:prstGeom>
          <a:ln w="19050">
            <a:solidFill>
              <a:srgbClr val="073F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字：实施与验证"/>
          <p:cNvSpPr txBox="1"/>
          <p:nvPr/>
        </p:nvSpPr>
        <p:spPr>
          <a:xfrm>
            <a:off x="11915775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实施与验证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12887325" y="323850"/>
            <a:ext cx="0" cy="1619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字：商业模式"/>
          <p:cNvSpPr txBox="1"/>
          <p:nvPr/>
        </p:nvSpPr>
        <p:spPr>
          <a:xfrm>
            <a:off x="13049250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商业模式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14020800" y="323850"/>
            <a:ext cx="0" cy="1619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字：未来展望"/>
          <p:cNvSpPr txBox="1"/>
          <p:nvPr/>
        </p:nvSpPr>
        <p:spPr>
          <a:xfrm>
            <a:off x="14182725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未来展望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9" name="文字：11"/>
          <p:cNvSpPr txBox="1"/>
          <p:nvPr/>
        </p:nvSpPr>
        <p:spPr>
          <a:xfrm>
            <a:off x="15163800" y="257175"/>
            <a:ext cx="428625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950" b="0">
                <a:solidFill>
                  <a:srgbClr val="073F32"/>
                </a:solidFill>
                <a:latin typeface="Times New Roman" panose="02020603050405020304"/>
                <a:ea typeface="Times New Roman" panose="02020603050405020304"/>
              </a:rPr>
              <a:t>11</a:t>
            </a:r>
            <a:endParaRPr sz="1950" b="0">
              <a:solidFill>
                <a:srgbClr val="073F32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cxnSp>
        <p:nvCxnSpPr>
          <p:cNvPr id="20" name="Connector 19"/>
          <p:cNvCxnSpPr/>
          <p:nvPr/>
        </p:nvCxnSpPr>
        <p:spPr>
          <a:xfrm>
            <a:off x="0" y="723900"/>
            <a:ext cx="15725775" cy="0"/>
          </a:xfrm>
          <a:prstGeom prst="line">
            <a:avLst/>
          </a:prstGeom>
          <a:ln w="9525">
            <a:solidFill>
              <a:srgbClr val="C7D8D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571875" y="990600"/>
            <a:ext cx="0" cy="6896100"/>
          </a:xfrm>
          <a:prstGeom prst="line">
            <a:avLst/>
          </a:prstGeom>
          <a:ln w="9525">
            <a:solidFill>
              <a:srgbClr val="A4BCB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字：03"/>
          <p:cNvSpPr txBox="1"/>
          <p:nvPr/>
        </p:nvSpPr>
        <p:spPr>
          <a:xfrm>
            <a:off x="457200" y="1409700"/>
            <a:ext cx="2286000" cy="1666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500"/>
              </a:lnSpc>
              <a:spcBef>
                <a:spcPts val="0"/>
              </a:spcBef>
              <a:spcAft>
                <a:spcPts val="0"/>
              </a:spcAft>
            </a:pPr>
            <a:r>
              <a:rPr sz="13500" b="1" i="1">
                <a:solidFill>
                  <a:srgbClr val="073F32"/>
                </a:solidFill>
                <a:latin typeface="Times New Roman" panose="02020603050405020304"/>
                <a:ea typeface="Times New Roman" panose="02020603050405020304"/>
              </a:rPr>
              <a:t>03</a:t>
            </a:r>
            <a:endParaRPr sz="13500" b="1" i="1">
              <a:solidFill>
                <a:srgbClr val="073F32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cxnSp>
        <p:nvCxnSpPr>
          <p:cNvPr id="23" name="Connector 22"/>
          <p:cNvCxnSpPr/>
          <p:nvPr/>
        </p:nvCxnSpPr>
        <p:spPr>
          <a:xfrm flipV="1">
            <a:off x="2619375" y="1704975"/>
            <a:ext cx="514350" cy="1190625"/>
          </a:xfrm>
          <a:prstGeom prst="line">
            <a:avLst/>
          </a:prstGeom>
          <a:ln w="11429">
            <a:solidFill>
              <a:srgbClr val="073F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字：关键技术"/>
          <p:cNvSpPr txBox="1"/>
          <p:nvPr/>
        </p:nvSpPr>
        <p:spPr>
          <a:xfrm>
            <a:off x="485775" y="3114675"/>
            <a:ext cx="3000375" cy="838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5250"/>
              </a:lnSpc>
              <a:spcBef>
                <a:spcPts val="0"/>
              </a:spcBef>
              <a:spcAft>
                <a:spcPts val="0"/>
              </a:spcAft>
            </a:pPr>
            <a:r>
              <a:rPr sz="525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关键技术</a:t>
            </a:r>
            <a:endParaRPr sz="525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5" name="文字：多模态感知、&#10;状态估计与自适应控制"/>
          <p:cNvSpPr txBox="1"/>
          <p:nvPr/>
        </p:nvSpPr>
        <p:spPr>
          <a:xfrm>
            <a:off x="552450" y="4076700"/>
            <a:ext cx="2905125" cy="838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sz="217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多模态感知、</a:t>
            </a:r>
            <a:br>
              <a:rPr sz="217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sz="217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状态估计与自适应控制</a:t>
            </a:r>
            <a:endParaRPr sz="217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26" name="Connector 25"/>
          <p:cNvCxnSpPr/>
          <p:nvPr/>
        </p:nvCxnSpPr>
        <p:spPr>
          <a:xfrm>
            <a:off x="552450" y="5076825"/>
            <a:ext cx="400050" cy="0"/>
          </a:xfrm>
          <a:prstGeom prst="line">
            <a:avLst/>
          </a:prstGeom>
          <a:ln w="9525">
            <a:solidFill>
              <a:srgbClr val="073F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字：“创新不在传感器更多，&#10; 而在状态真正进入&#10; 工艺决策。”"/>
          <p:cNvSpPr txBox="1"/>
          <p:nvPr/>
        </p:nvSpPr>
        <p:spPr>
          <a:xfrm>
            <a:off x="457200" y="5314950"/>
            <a:ext cx="2990850" cy="1095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75" b="0">
                <a:solidFill>
                  <a:srgbClr val="073F32"/>
                </a:solidFill>
                <a:latin typeface="楷体" panose="02010609060101010101" charset="-122"/>
                <a:ea typeface="楷体" panose="02010609060101010101" charset="-122"/>
              </a:rPr>
              <a:t>“创新不在传感器更多，</a:t>
            </a:r>
            <a:br>
              <a:rPr sz="1875" b="0">
                <a:solidFill>
                  <a:srgbClr val="073F32"/>
                </a:solidFill>
                <a:latin typeface="楷体" panose="02010609060101010101" charset="-122"/>
                <a:ea typeface="楷体" panose="02010609060101010101" charset="-122"/>
              </a:rPr>
            </a:br>
            <a:r>
              <a:rPr sz="1875" b="0">
                <a:solidFill>
                  <a:srgbClr val="073F32"/>
                </a:solidFill>
                <a:latin typeface="楷体" panose="02010609060101010101" charset="-122"/>
                <a:ea typeface="楷体" panose="02010609060101010101" charset="-122"/>
              </a:rPr>
              <a:t> 而在状态真正进入</a:t>
            </a:r>
            <a:br>
              <a:rPr sz="1875" b="0">
                <a:solidFill>
                  <a:srgbClr val="073F32"/>
                </a:solidFill>
                <a:latin typeface="楷体" panose="02010609060101010101" charset="-122"/>
                <a:ea typeface="楷体" panose="02010609060101010101" charset="-122"/>
              </a:rPr>
            </a:br>
            <a:r>
              <a:rPr sz="1875" b="0">
                <a:solidFill>
                  <a:srgbClr val="073F32"/>
                </a:solidFill>
                <a:latin typeface="楷体" panose="02010609060101010101" charset="-122"/>
                <a:ea typeface="楷体" panose="02010609060101010101" charset="-122"/>
              </a:rPr>
              <a:t> 工艺决策。”</a:t>
            </a:r>
            <a:endParaRPr sz="1875" b="0">
              <a:solidFill>
                <a:srgbClr val="073F32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28" name="文字：中 国 茶 · 产 业 智 造 · 中 国 未 来"/>
          <p:cNvSpPr txBox="1"/>
          <p:nvPr/>
        </p:nvSpPr>
        <p:spPr>
          <a:xfrm>
            <a:off x="11791950" y="8439150"/>
            <a:ext cx="3619500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 国 茶 · 产 业 智 造 · 中 国 未 来</a:t>
            </a:r>
            <a:endParaRPr sz="13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9" name="文字：3.5 技术创新与方案对比"/>
          <p:cNvSpPr txBox="1"/>
          <p:nvPr/>
        </p:nvSpPr>
        <p:spPr>
          <a:xfrm>
            <a:off x="3867150" y="981075"/>
            <a:ext cx="4448175" cy="514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3150"/>
              </a:lnSpc>
              <a:spcBef>
                <a:spcPts val="0"/>
              </a:spcBef>
              <a:spcAft>
                <a:spcPts val="0"/>
              </a:spcAft>
            </a:pPr>
            <a:r>
              <a:rPr sz="315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3.5 技术创新与方案对比</a:t>
            </a:r>
            <a:endParaRPr sz="315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30" name="Connector 29"/>
          <p:cNvCxnSpPr/>
          <p:nvPr/>
        </p:nvCxnSpPr>
        <p:spPr>
          <a:xfrm>
            <a:off x="8401050" y="1085850"/>
            <a:ext cx="0" cy="304800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字：创新不在“多一个传感器”，而在于把多模态状态表征真正接入工艺决策闭环"/>
          <p:cNvSpPr txBox="1"/>
          <p:nvPr/>
        </p:nvSpPr>
        <p:spPr>
          <a:xfrm>
            <a:off x="8572500" y="1038225"/>
            <a:ext cx="6934200" cy="4476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605"/>
              </a:lnSpc>
              <a:spcBef>
                <a:spcPts val="0"/>
              </a:spcBef>
              <a:spcAft>
                <a:spcPts val="0"/>
              </a:spcAft>
            </a:pPr>
            <a:r>
              <a:rPr sz="1605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创新不在“多一个传感器”，而在于把多模态状态表征真正接入工艺决策闭环</a:t>
            </a:r>
            <a:endParaRPr sz="1605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2" name="可编辑框架"/>
          <p:cNvSpPr/>
          <p:nvPr/>
        </p:nvSpPr>
        <p:spPr>
          <a:xfrm>
            <a:off x="12506325" y="2314575"/>
            <a:ext cx="3067050" cy="4562475"/>
          </a:xfrm>
          <a:prstGeom prst="roundRect">
            <a:avLst>
              <a:gd name="adj" fmla="val 2500"/>
            </a:avLst>
          </a:prstGeom>
          <a:solidFill>
            <a:srgbClr val="F2F9F6"/>
          </a:solidFill>
          <a:ln>
            <a:solidFill>
              <a:srgbClr val="C8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可编辑框架"/>
          <p:cNvSpPr/>
          <p:nvPr/>
        </p:nvSpPr>
        <p:spPr>
          <a:xfrm>
            <a:off x="12506325" y="2314575"/>
            <a:ext cx="3067050" cy="542925"/>
          </a:xfrm>
          <a:prstGeom prst="rect">
            <a:avLst/>
          </a:prstGeom>
          <a:solidFill>
            <a:srgbClr val="E2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可编辑框架"/>
          <p:cNvSpPr/>
          <p:nvPr/>
        </p:nvSpPr>
        <p:spPr>
          <a:xfrm>
            <a:off x="3867150" y="7715250"/>
            <a:ext cx="11677650" cy="428625"/>
          </a:xfrm>
          <a:prstGeom prst="roundRect">
            <a:avLst>
              <a:gd name="adj" fmla="val 2500"/>
            </a:avLst>
          </a:prstGeom>
          <a:solidFill>
            <a:srgbClr val="095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可编辑框架"/>
          <p:cNvSpPr/>
          <p:nvPr/>
        </p:nvSpPr>
        <p:spPr>
          <a:xfrm>
            <a:off x="3867150" y="8153400"/>
            <a:ext cx="11677650" cy="266700"/>
          </a:xfrm>
          <a:prstGeom prst="rect">
            <a:avLst/>
          </a:prstGeom>
          <a:solidFill>
            <a:srgbClr val="F1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6" name="可编辑方案对比表"/>
          <p:cNvGraphicFramePr>
            <a:graphicFrameLocks noGrp="1"/>
          </p:cNvGraphicFramePr>
          <p:nvPr/>
        </p:nvGraphicFramePr>
        <p:xfrm>
          <a:off x="3867150" y="2314575"/>
          <a:ext cx="8467725" cy="45624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0725"/>
                <a:gridCol w="1571625"/>
                <a:gridCol w="1619250"/>
                <a:gridCol w="1676400"/>
                <a:gridCol w="1609725"/>
              </a:tblGrid>
              <a:tr h="771525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073F32"/>
                          </a:solidFill>
                          <a:latin typeface="宋体" panose="02010600030101010101" pitchFamily="2" charset="-122"/>
                        </a:rPr>
                        <a:t>对比维度</a:t>
                      </a:r>
                      <a:endParaRPr sz="1650" b="1">
                        <a:solidFill>
                          <a:srgbClr val="073F32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76200" marR="76200" anchor="ctr">
                    <a:solidFill>
                      <a:srgbClr val="E4F3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073F32"/>
                          </a:solidFill>
                          <a:latin typeface="宋体" panose="02010600030101010101" pitchFamily="2" charset="-122"/>
                        </a:rPr>
                        <a:t>传统人工</a:t>
                      </a:r>
                      <a:endParaRPr sz="1650" b="1">
                        <a:solidFill>
                          <a:srgbClr val="073F32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76200" marR="76200" anchor="ctr">
                    <a:solidFill>
                      <a:srgbClr val="E4F3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073F32"/>
                          </a:solidFill>
                          <a:latin typeface="宋体" panose="02010600030101010101" pitchFamily="2" charset="-122"/>
                        </a:rPr>
                        <a:t>固定程序自动化</a:t>
                      </a:r>
                      <a:endParaRPr sz="1650" b="1">
                        <a:solidFill>
                          <a:srgbClr val="073F32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76200" marR="76200" anchor="ctr">
                    <a:solidFill>
                      <a:srgbClr val="E4F3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073F32"/>
                          </a:solidFill>
                          <a:latin typeface="宋体" panose="02010600030101010101" pitchFamily="2" charset="-122"/>
                        </a:rPr>
                        <a:t>单一电子鼻</a:t>
                      </a:r>
                      <a:endParaRPr sz="1650" b="1">
                        <a:solidFill>
                          <a:srgbClr val="073F32"/>
                        </a:solidFill>
                        <a:latin typeface="宋体" panose="02010600030101010101" pitchFamily="2" charset="-122"/>
                      </a:endParaRPr>
                    </a:p>
                    <a:p>
                      <a:pPr algn="ctr"/>
                      <a:r>
                        <a:rPr sz="1650" b="1">
                          <a:solidFill>
                            <a:srgbClr val="073F32"/>
                          </a:solidFill>
                          <a:latin typeface="宋体" panose="02010600030101010101" pitchFamily="2" charset="-122"/>
                        </a:rPr>
                        <a:t>识别研究</a:t>
                      </a:r>
                      <a:endParaRPr sz="1650" b="1">
                        <a:solidFill>
                          <a:srgbClr val="073F32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76200" marR="76200" anchor="ctr">
                    <a:solidFill>
                      <a:srgbClr val="E4F3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宋体" panose="02010600030101010101" pitchFamily="2" charset="-122"/>
                        </a:rPr>
                        <a:t>青韵智控</a:t>
                      </a:r>
                      <a:endParaRPr sz="1650" b="1">
                        <a:solidFill>
                          <a:srgbClr val="FFFFFF"/>
                        </a:solidFill>
                        <a:latin typeface="宋体" panose="02010600030101010101" pitchFamily="2" charset="-122"/>
                      </a:endParaRPr>
                    </a:p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宋体" panose="02010600030101010101" pitchFamily="2" charset="-122"/>
                        </a:rPr>
                        <a:t>目标方案</a:t>
                      </a:r>
                      <a:endParaRPr sz="1650" b="1">
                        <a:solidFill>
                          <a:srgbClr val="FFFFFF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76200" marR="76200" anchor="ctr">
                    <a:solidFill>
                      <a:srgbClr val="155644"/>
                    </a:solidFill>
                  </a:tcPr>
                </a:tc>
              </a:tr>
              <a:tr h="631825"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073F32"/>
                          </a:solidFill>
                          <a:latin typeface="宋体" panose="02010600030101010101" pitchFamily="2" charset="-122"/>
                        </a:rPr>
                        <a:t>自动执行</a:t>
                      </a:r>
                      <a:endParaRPr sz="1425" b="0">
                        <a:solidFill>
                          <a:srgbClr val="073F32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581025" marR="76200" anchor="ctr">
                    <a:solidFill>
                      <a:srgbClr val="F9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073F32"/>
                          </a:solidFill>
                          <a:latin typeface="宋体" panose="02010600030101010101" pitchFamily="2" charset="-122"/>
                        </a:rPr>
                        <a:t>无  ×</a:t>
                      </a:r>
                      <a:endParaRPr sz="1425" b="0">
                        <a:solidFill>
                          <a:srgbClr val="073F32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76200" marR="76200" anchor="ctr">
                    <a:solidFill>
                      <a:srgbClr val="F9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073F32"/>
                          </a:solidFill>
                          <a:latin typeface="宋体" panose="02010600030101010101" pitchFamily="2" charset="-122"/>
                        </a:rPr>
                        <a:t>有  ✓</a:t>
                      </a:r>
                      <a:endParaRPr sz="1425" b="0">
                        <a:solidFill>
                          <a:srgbClr val="073F32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76200" marR="76200" anchor="ctr">
                    <a:solidFill>
                      <a:srgbClr val="F9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073F32"/>
                          </a:solidFill>
                          <a:latin typeface="宋体" panose="02010600030101010101" pitchFamily="2" charset="-122"/>
                        </a:rPr>
                        <a:t>无  ×</a:t>
                      </a:r>
                      <a:endParaRPr sz="1425" b="0">
                        <a:solidFill>
                          <a:srgbClr val="073F32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76200" marR="76200" anchor="ctr">
                    <a:solidFill>
                      <a:srgbClr val="F9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073F32"/>
                          </a:solidFill>
                          <a:latin typeface="宋体" panose="02010600030101010101" pitchFamily="2" charset="-122"/>
                        </a:rPr>
                        <a:t>有  ✓</a:t>
                      </a:r>
                      <a:endParaRPr sz="1425" b="0">
                        <a:solidFill>
                          <a:srgbClr val="073F32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76200" marR="76200" anchor="ctr">
                    <a:solidFill>
                      <a:srgbClr val="E4F3ED"/>
                    </a:solidFill>
                  </a:tcPr>
                </a:tc>
              </a:tr>
              <a:tr h="631825"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073F32"/>
                          </a:solidFill>
                          <a:latin typeface="宋体" panose="02010600030101010101" pitchFamily="2" charset="-122"/>
                        </a:rPr>
                        <a:t>VOC 在线感知</a:t>
                      </a:r>
                      <a:endParaRPr sz="1425" b="0">
                        <a:solidFill>
                          <a:srgbClr val="073F32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581025" marR="76200" anchor="ctr">
                    <a:solidFill>
                      <a:srgbClr val="F9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073F32"/>
                          </a:solidFill>
                          <a:latin typeface="宋体" panose="02010600030101010101" pitchFamily="2" charset="-122"/>
                        </a:rPr>
                        <a:t>无  ×</a:t>
                      </a:r>
                      <a:endParaRPr sz="1425" b="0">
                        <a:solidFill>
                          <a:srgbClr val="073F32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76200" marR="76200" anchor="ctr">
                    <a:solidFill>
                      <a:srgbClr val="F9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073F32"/>
                          </a:solidFill>
                          <a:latin typeface="宋体" panose="02010600030101010101" pitchFamily="2" charset="-122"/>
                        </a:rPr>
                        <a:t>无  ×</a:t>
                      </a:r>
                      <a:endParaRPr sz="1425" b="0">
                        <a:solidFill>
                          <a:srgbClr val="073F32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76200" marR="76200" anchor="ctr">
                    <a:solidFill>
                      <a:srgbClr val="F9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073F32"/>
                          </a:solidFill>
                          <a:latin typeface="宋体" panose="02010600030101010101" pitchFamily="2" charset="-122"/>
                        </a:rPr>
                        <a:t>有  ✓</a:t>
                      </a:r>
                      <a:endParaRPr sz="1425" b="0">
                        <a:solidFill>
                          <a:srgbClr val="073F32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76200" marR="76200" anchor="ctr">
                    <a:solidFill>
                      <a:srgbClr val="F9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073F32"/>
                          </a:solidFill>
                          <a:latin typeface="宋体" panose="02010600030101010101" pitchFamily="2" charset="-122"/>
                        </a:rPr>
                        <a:t>有  ✓</a:t>
                      </a:r>
                      <a:endParaRPr sz="1425" b="0">
                        <a:solidFill>
                          <a:srgbClr val="073F32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76200" marR="76200" anchor="ctr">
                    <a:solidFill>
                      <a:srgbClr val="E4F3ED"/>
                    </a:solidFill>
                  </a:tcPr>
                </a:tc>
              </a:tr>
              <a:tr h="631825"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073F32"/>
                          </a:solidFill>
                          <a:latin typeface="宋体" panose="02010600030101010101" pitchFamily="2" charset="-122"/>
                        </a:rPr>
                        <a:t>视觉 / 失水融合</a:t>
                      </a:r>
                      <a:endParaRPr sz="1425" b="0">
                        <a:solidFill>
                          <a:srgbClr val="073F32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581025" marR="76200" anchor="ctr">
                    <a:solidFill>
                      <a:srgbClr val="F9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073F32"/>
                          </a:solidFill>
                          <a:latin typeface="宋体" panose="02010600030101010101" pitchFamily="2" charset="-122"/>
                        </a:rPr>
                        <a:t>经验判断  −</a:t>
                      </a:r>
                      <a:endParaRPr sz="1425" b="0">
                        <a:solidFill>
                          <a:srgbClr val="073F32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76200" marR="76200" anchor="ctr">
                    <a:solidFill>
                      <a:srgbClr val="F9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073F32"/>
                          </a:solidFill>
                          <a:latin typeface="宋体" panose="02010600030101010101" pitchFamily="2" charset="-122"/>
                        </a:rPr>
                        <a:t>无  ×</a:t>
                      </a:r>
                      <a:endParaRPr sz="1425" b="0">
                        <a:solidFill>
                          <a:srgbClr val="073F32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76200" marR="76200" anchor="ctr">
                    <a:solidFill>
                      <a:srgbClr val="F9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073F32"/>
                          </a:solidFill>
                          <a:latin typeface="宋体" panose="02010600030101010101" pitchFamily="2" charset="-122"/>
                        </a:rPr>
                        <a:t>无  ×</a:t>
                      </a:r>
                      <a:endParaRPr sz="1425" b="0">
                        <a:solidFill>
                          <a:srgbClr val="073F32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76200" marR="76200" anchor="ctr">
                    <a:solidFill>
                      <a:srgbClr val="F9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073F32"/>
                          </a:solidFill>
                          <a:latin typeface="宋体" panose="02010600030101010101" pitchFamily="2" charset="-122"/>
                        </a:rPr>
                        <a:t>有  ✓</a:t>
                      </a:r>
                      <a:endParaRPr sz="1425" b="0">
                        <a:solidFill>
                          <a:srgbClr val="073F32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76200" marR="76200" anchor="ctr">
                    <a:solidFill>
                      <a:srgbClr val="E4F3ED"/>
                    </a:solidFill>
                  </a:tcPr>
                </a:tc>
              </a:tr>
              <a:tr h="631825"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073F32"/>
                          </a:solidFill>
                          <a:latin typeface="宋体" panose="02010600030101010101" pitchFamily="2" charset="-122"/>
                        </a:rPr>
                        <a:t>跨批次校准</a:t>
                      </a:r>
                      <a:endParaRPr sz="1425" b="0">
                        <a:solidFill>
                          <a:srgbClr val="073F32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581025" marR="76200" anchor="ctr">
                    <a:solidFill>
                      <a:srgbClr val="F9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073F32"/>
                          </a:solidFill>
                          <a:latin typeface="宋体" panose="02010600030101010101" pitchFamily="2" charset="-122"/>
                        </a:rPr>
                        <a:t>依赖师傅  −</a:t>
                      </a:r>
                      <a:endParaRPr sz="1425" b="0">
                        <a:solidFill>
                          <a:srgbClr val="073F32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76200" marR="76200" anchor="ctr">
                    <a:solidFill>
                      <a:srgbClr val="F9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073F32"/>
                          </a:solidFill>
                          <a:latin typeface="宋体" panose="02010600030101010101" pitchFamily="2" charset="-122"/>
                        </a:rPr>
                        <a:t>弱  −</a:t>
                      </a:r>
                      <a:endParaRPr sz="1425" b="0">
                        <a:solidFill>
                          <a:srgbClr val="073F32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76200" marR="76200" anchor="ctr">
                    <a:solidFill>
                      <a:srgbClr val="F9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073F32"/>
                          </a:solidFill>
                          <a:latin typeface="宋体" panose="02010600030101010101" pitchFamily="2" charset="-122"/>
                        </a:rPr>
                        <a:t>部分  −</a:t>
                      </a:r>
                      <a:endParaRPr sz="1425" b="0">
                        <a:solidFill>
                          <a:srgbClr val="073F32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76200" marR="76200" anchor="ctr">
                    <a:solidFill>
                      <a:srgbClr val="F9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073F32"/>
                          </a:solidFill>
                          <a:latin typeface="宋体" panose="02010600030101010101" pitchFamily="2" charset="-122"/>
                        </a:rPr>
                        <a:t>有  ✓</a:t>
                      </a:r>
                      <a:endParaRPr sz="1425" b="0">
                        <a:solidFill>
                          <a:srgbClr val="073F32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76200" marR="76200" anchor="ctr">
                    <a:solidFill>
                      <a:srgbClr val="E4F3ED"/>
                    </a:solidFill>
                  </a:tcPr>
                </a:tc>
              </a:tr>
              <a:tr h="631825"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073F32"/>
                          </a:solidFill>
                          <a:latin typeface="宋体" panose="02010600030101010101" pitchFamily="2" charset="-122"/>
                        </a:rPr>
                        <a:t>状态驱动控制</a:t>
                      </a:r>
                      <a:endParaRPr sz="1425" b="0">
                        <a:solidFill>
                          <a:srgbClr val="073F32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581025" marR="76200" anchor="ctr">
                    <a:solidFill>
                      <a:srgbClr val="F9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073F32"/>
                          </a:solidFill>
                          <a:latin typeface="宋体" panose="02010600030101010101" pitchFamily="2" charset="-122"/>
                        </a:rPr>
                        <a:t>有  ✓</a:t>
                      </a:r>
                      <a:endParaRPr sz="1425" b="0">
                        <a:solidFill>
                          <a:srgbClr val="073F32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76200" marR="76200" anchor="ctr">
                    <a:solidFill>
                      <a:srgbClr val="F9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073F32"/>
                          </a:solidFill>
                          <a:latin typeface="宋体" panose="02010600030101010101" pitchFamily="2" charset="-122"/>
                        </a:rPr>
                        <a:t>无  ×</a:t>
                      </a:r>
                      <a:endParaRPr sz="1425" b="0">
                        <a:solidFill>
                          <a:srgbClr val="073F32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76200" marR="76200" anchor="ctr">
                    <a:solidFill>
                      <a:srgbClr val="F9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073F32"/>
                          </a:solidFill>
                          <a:latin typeface="宋体" panose="02010600030101010101" pitchFamily="2" charset="-122"/>
                        </a:rPr>
                        <a:t>无  ×</a:t>
                      </a:r>
                      <a:endParaRPr sz="1425" b="0">
                        <a:solidFill>
                          <a:srgbClr val="073F32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76200" marR="76200" anchor="ctr">
                    <a:solidFill>
                      <a:srgbClr val="F9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073F32"/>
                          </a:solidFill>
                          <a:latin typeface="宋体" panose="02010600030101010101" pitchFamily="2" charset="-122"/>
                        </a:rPr>
                        <a:t>有  ✓</a:t>
                      </a:r>
                      <a:endParaRPr sz="1425" b="0">
                        <a:solidFill>
                          <a:srgbClr val="073F32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76200" marR="76200" anchor="ctr">
                    <a:solidFill>
                      <a:srgbClr val="E4F3ED"/>
                    </a:solidFill>
                  </a:tcPr>
                </a:tc>
              </a:tr>
              <a:tr h="631825"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073F32"/>
                          </a:solidFill>
                          <a:latin typeface="宋体" panose="02010600030101010101" pitchFamily="2" charset="-122"/>
                        </a:rPr>
                        <a:t>成茶品质闭环</a:t>
                      </a:r>
                      <a:endParaRPr sz="1425" b="0">
                        <a:solidFill>
                          <a:srgbClr val="073F32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581025" marR="76200" anchor="ctr">
                    <a:solidFill>
                      <a:srgbClr val="F9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073F32"/>
                          </a:solidFill>
                          <a:latin typeface="宋体" panose="02010600030101010101" pitchFamily="2" charset="-122"/>
                        </a:rPr>
                        <a:t>有但不可量化 −</a:t>
                      </a:r>
                      <a:endParaRPr sz="1425" b="0">
                        <a:solidFill>
                          <a:srgbClr val="073F32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76200" marR="76200" anchor="ctr">
                    <a:solidFill>
                      <a:srgbClr val="F9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073F32"/>
                          </a:solidFill>
                          <a:latin typeface="宋体" panose="02010600030101010101" pitchFamily="2" charset="-122"/>
                        </a:rPr>
                        <a:t>弱  −</a:t>
                      </a:r>
                      <a:endParaRPr sz="1425" b="0">
                        <a:solidFill>
                          <a:srgbClr val="073F32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76200" marR="76200" anchor="ctr">
                    <a:solidFill>
                      <a:srgbClr val="F9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073F32"/>
                          </a:solidFill>
                          <a:latin typeface="宋体" panose="02010600030101010101" pitchFamily="2" charset="-122"/>
                        </a:rPr>
                        <a:t>少  −</a:t>
                      </a:r>
                      <a:endParaRPr sz="1425" b="0">
                        <a:solidFill>
                          <a:srgbClr val="073F32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76200" marR="76200" anchor="ctr">
                    <a:solidFill>
                      <a:srgbClr val="F9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073F32"/>
                          </a:solidFill>
                          <a:latin typeface="宋体" panose="02010600030101010101" pitchFamily="2" charset="-122"/>
                        </a:rPr>
                        <a:t>目标建立 ✓</a:t>
                      </a:r>
                      <a:endParaRPr sz="1425" b="0">
                        <a:solidFill>
                          <a:srgbClr val="073F32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76200" marR="76200" anchor="ctr">
                    <a:solidFill>
                      <a:srgbClr val="E4F3ED"/>
                    </a:solidFill>
                  </a:tcPr>
                </a:tc>
              </a:tr>
            </a:tbl>
          </a:graphicData>
        </a:graphic>
      </p:graphicFrame>
      <p:pic>
        <p:nvPicPr>
          <p:cNvPr id="37" name="独立表格行图标" descr="table_icon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9549" y="3190875"/>
            <a:ext cx="438150" cy="428625"/>
          </a:xfrm>
          <a:prstGeom prst="rect">
            <a:avLst/>
          </a:prstGeom>
        </p:spPr>
      </p:pic>
      <p:pic>
        <p:nvPicPr>
          <p:cNvPr id="38" name="独立表格行图标" descr="table_icon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9549" y="3822700"/>
            <a:ext cx="438150" cy="428625"/>
          </a:xfrm>
          <a:prstGeom prst="rect">
            <a:avLst/>
          </a:prstGeom>
        </p:spPr>
      </p:pic>
      <p:pic>
        <p:nvPicPr>
          <p:cNvPr id="39" name="独立表格行图标" descr="table_icon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9549" y="4454525"/>
            <a:ext cx="438150" cy="428625"/>
          </a:xfrm>
          <a:prstGeom prst="rect">
            <a:avLst/>
          </a:prstGeom>
        </p:spPr>
      </p:pic>
      <p:pic>
        <p:nvPicPr>
          <p:cNvPr id="40" name="独立表格行图标" descr="table_icon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19549" y="5086350"/>
            <a:ext cx="438150" cy="428625"/>
          </a:xfrm>
          <a:prstGeom prst="rect">
            <a:avLst/>
          </a:prstGeom>
        </p:spPr>
      </p:pic>
      <p:pic>
        <p:nvPicPr>
          <p:cNvPr id="41" name="独立表格行图标" descr="table_icon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19549" y="5718174"/>
            <a:ext cx="438150" cy="428625"/>
          </a:xfrm>
          <a:prstGeom prst="rect">
            <a:avLst/>
          </a:prstGeom>
        </p:spPr>
      </p:pic>
      <p:pic>
        <p:nvPicPr>
          <p:cNvPr id="42" name="独立表格行图标" descr="table_icon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19549" y="6349999"/>
            <a:ext cx="438150" cy="428625"/>
          </a:xfrm>
          <a:prstGeom prst="rect">
            <a:avLst/>
          </a:prstGeom>
        </p:spPr>
      </p:pic>
      <p:pic>
        <p:nvPicPr>
          <p:cNvPr id="43" name="独立图标或流程线" descr="p11_icon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639675" y="2990850"/>
            <a:ext cx="390525" cy="390525"/>
          </a:xfrm>
          <a:prstGeom prst="rect">
            <a:avLst/>
          </a:prstGeom>
        </p:spPr>
      </p:pic>
      <p:pic>
        <p:nvPicPr>
          <p:cNvPr id="44" name="独立图标或流程线" descr="p11_icon1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039725" y="3200400"/>
            <a:ext cx="409575" cy="533400"/>
          </a:xfrm>
          <a:prstGeom prst="rect">
            <a:avLst/>
          </a:prstGeom>
        </p:spPr>
      </p:pic>
      <p:pic>
        <p:nvPicPr>
          <p:cNvPr id="45" name="独立图标或流程线" descr="p11_icon2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639675" y="4362450"/>
            <a:ext cx="390525" cy="390525"/>
          </a:xfrm>
          <a:prstGeom prst="rect">
            <a:avLst/>
          </a:prstGeom>
        </p:spPr>
      </p:pic>
      <p:pic>
        <p:nvPicPr>
          <p:cNvPr id="46" name="独立图标或流程线" descr="p11_icon3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058775" y="4552950"/>
            <a:ext cx="400050" cy="428625"/>
          </a:xfrm>
          <a:prstGeom prst="rect">
            <a:avLst/>
          </a:prstGeom>
        </p:spPr>
      </p:pic>
      <p:pic>
        <p:nvPicPr>
          <p:cNvPr id="47" name="独立图标或流程线" descr="p11_icon4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639675" y="5753100"/>
            <a:ext cx="390525" cy="381000"/>
          </a:xfrm>
          <a:prstGeom prst="rect">
            <a:avLst/>
          </a:prstGeom>
        </p:spPr>
      </p:pic>
      <p:pic>
        <p:nvPicPr>
          <p:cNvPr id="48" name="独立图标或流程线" descr="p11_icon5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3020675" y="5943600"/>
            <a:ext cx="485775" cy="485775"/>
          </a:xfrm>
          <a:prstGeom prst="rect">
            <a:avLst/>
          </a:prstGeom>
        </p:spPr>
      </p:pic>
      <p:sp>
        <p:nvSpPr>
          <p:cNvPr id="49" name="文字：相比传统人工和现有技术方案，青韵智控通过多模态感知、跨批次校准与状态驱"/>
          <p:cNvSpPr txBox="1"/>
          <p:nvPr/>
        </p:nvSpPr>
        <p:spPr>
          <a:xfrm>
            <a:off x="3867150" y="1609725"/>
            <a:ext cx="11620500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相比传统人工和现有技术方案，青韵智控通过多模态感知、跨批次校准与状态驱动控制，实现从“经验判断”到“数据驱动”、</a:t>
            </a:r>
            <a:endParaRPr sz="162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0" name="文字：从“被动执行”到“主动决策”的转变。"/>
          <p:cNvSpPr txBox="1"/>
          <p:nvPr/>
        </p:nvSpPr>
        <p:spPr>
          <a:xfrm>
            <a:off x="3876675" y="1905000"/>
            <a:ext cx="3724275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从“被动执行”到“主动决策”的转变。</a:t>
            </a:r>
            <a:endParaRPr sz="15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1" name="文字：三项创新"/>
          <p:cNvSpPr txBox="1"/>
          <p:nvPr/>
        </p:nvSpPr>
        <p:spPr>
          <a:xfrm>
            <a:off x="12734925" y="2409825"/>
            <a:ext cx="1323975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360"/>
              </a:lnSpc>
              <a:spcBef>
                <a:spcPts val="0"/>
              </a:spcBef>
              <a:spcAft>
                <a:spcPts val="0"/>
              </a:spcAft>
            </a:pPr>
            <a:r>
              <a:rPr sz="236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三项创新</a:t>
            </a:r>
            <a:endParaRPr sz="236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2" name="文字：多模态状态表征"/>
          <p:cNvSpPr txBox="1"/>
          <p:nvPr/>
        </p:nvSpPr>
        <p:spPr>
          <a:xfrm>
            <a:off x="13620750" y="3067050"/>
            <a:ext cx="1552575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多模态状态表征</a:t>
            </a:r>
            <a:endParaRPr sz="15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3" name="文字：融合气味、视觉、温湿度、"/>
          <p:cNvSpPr txBox="1"/>
          <p:nvPr/>
        </p:nvSpPr>
        <p:spPr>
          <a:xfrm>
            <a:off x="13630275" y="3419475"/>
            <a:ext cx="169545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055"/>
              </a:lnSpc>
              <a:spcBef>
                <a:spcPts val="0"/>
              </a:spcBef>
              <a:spcAft>
                <a:spcPts val="0"/>
              </a:spcAft>
            </a:pPr>
            <a:r>
              <a:rPr sz="105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融合气味、视觉、温湿度、</a:t>
            </a:r>
            <a:endParaRPr sz="105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4" name="文字：失水等多源信息，构建更全面"/>
          <p:cNvSpPr txBox="1"/>
          <p:nvPr/>
        </p:nvSpPr>
        <p:spPr>
          <a:xfrm>
            <a:off x="13611225" y="3619500"/>
            <a:ext cx="1971675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失水等多源信息，构建更全面</a:t>
            </a:r>
            <a:endParaRPr sz="114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5" name="文字：的做青状态表征。"/>
          <p:cNvSpPr txBox="1"/>
          <p:nvPr/>
        </p:nvSpPr>
        <p:spPr>
          <a:xfrm>
            <a:off x="13620750" y="3829050"/>
            <a:ext cx="117157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070"/>
              </a:lnSpc>
              <a:spcBef>
                <a:spcPts val="0"/>
              </a:spcBef>
              <a:spcAft>
                <a:spcPts val="0"/>
              </a:spcAft>
            </a:pPr>
            <a:r>
              <a:rPr sz="107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的做青状态表征。</a:t>
            </a:r>
            <a:endParaRPr sz="107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6" name="文字：跨批次稳定校准"/>
          <p:cNvSpPr txBox="1"/>
          <p:nvPr/>
        </p:nvSpPr>
        <p:spPr>
          <a:xfrm>
            <a:off x="13611225" y="4448175"/>
            <a:ext cx="1571625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670"/>
              </a:lnSpc>
              <a:spcBef>
                <a:spcPts val="0"/>
              </a:spcBef>
              <a:spcAft>
                <a:spcPts val="0"/>
              </a:spcAft>
            </a:pPr>
            <a:r>
              <a:rPr sz="167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跨批次稳定校准</a:t>
            </a:r>
            <a:endParaRPr sz="167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7" name="文字：建立跨原料、跨批次的状态"/>
          <p:cNvSpPr txBox="1"/>
          <p:nvPr/>
        </p:nvSpPr>
        <p:spPr>
          <a:xfrm>
            <a:off x="13611225" y="4781550"/>
            <a:ext cx="1866900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建立跨原料、跨批次的状态</a:t>
            </a:r>
            <a:endParaRPr sz="117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8" name="文字：校准与自适应机制，提升"/>
          <p:cNvSpPr txBox="1"/>
          <p:nvPr/>
        </p:nvSpPr>
        <p:spPr>
          <a:xfrm>
            <a:off x="13620750" y="4991100"/>
            <a:ext cx="1704975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116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校准与自适应机制，提升</a:t>
            </a:r>
            <a:endParaRPr sz="116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9" name="文字：模型泛化能力。"/>
          <p:cNvSpPr txBox="1"/>
          <p:nvPr/>
        </p:nvSpPr>
        <p:spPr>
          <a:xfrm>
            <a:off x="13620750" y="5210175"/>
            <a:ext cx="1047750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模型泛化能力。</a:t>
            </a:r>
            <a:endParaRPr sz="108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0" name="文字：状态驱动闭环决策"/>
          <p:cNvSpPr txBox="1"/>
          <p:nvPr/>
        </p:nvSpPr>
        <p:spPr>
          <a:xfrm>
            <a:off x="13620750" y="5857875"/>
            <a:ext cx="1724025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状态驱动闭环决策</a:t>
            </a:r>
            <a:endParaRPr sz="15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1" name="文字：让多模态感知结果直接驱动"/>
          <p:cNvSpPr txBox="1"/>
          <p:nvPr/>
        </p:nvSpPr>
        <p:spPr>
          <a:xfrm>
            <a:off x="13611225" y="6181725"/>
            <a:ext cx="1876425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175"/>
              </a:lnSpc>
              <a:spcBef>
                <a:spcPts val="0"/>
              </a:spcBef>
              <a:spcAft>
                <a:spcPts val="0"/>
              </a:spcAft>
            </a:pPr>
            <a:r>
              <a:rPr sz="117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让多模态感知结果直接驱动</a:t>
            </a:r>
            <a:endParaRPr sz="117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2" name="文字：工艺决策，实现从感知到执行"/>
          <p:cNvSpPr txBox="1"/>
          <p:nvPr/>
        </p:nvSpPr>
        <p:spPr>
          <a:xfrm>
            <a:off x="13649325" y="6410325"/>
            <a:ext cx="1924050" cy="2190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115"/>
              </a:lnSpc>
              <a:spcBef>
                <a:spcPts val="0"/>
              </a:spcBef>
              <a:spcAft>
                <a:spcPts val="0"/>
              </a:spcAft>
            </a:pPr>
            <a:r>
              <a:rPr sz="111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工艺决策，实现从感知到执行</a:t>
            </a:r>
            <a:endParaRPr sz="111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3" name="文字：的闭环控制。"/>
          <p:cNvSpPr txBox="1"/>
          <p:nvPr/>
        </p:nvSpPr>
        <p:spPr>
          <a:xfrm>
            <a:off x="13620750" y="6610350"/>
            <a:ext cx="8953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060"/>
              </a:lnSpc>
              <a:spcBef>
                <a:spcPts val="0"/>
              </a:spcBef>
              <a:spcAft>
                <a:spcPts val="0"/>
              </a:spcAft>
            </a:pPr>
            <a:r>
              <a:rPr sz="106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的闭环控制。</a:t>
            </a:r>
            <a:endParaRPr sz="106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4" name="文字：正式结论需以文献、产品资料或真实实验结果为依据。"/>
          <p:cNvSpPr txBox="1"/>
          <p:nvPr/>
        </p:nvSpPr>
        <p:spPr>
          <a:xfrm>
            <a:off x="12515850" y="6924675"/>
            <a:ext cx="306705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980"/>
              </a:lnSpc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正式结论需以文献、产品资料或真实实验结果为依据。</a:t>
            </a:r>
            <a:endParaRPr sz="98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5" name="文字：关键不是把监测手段叠加，而是让“感知结果”真正决定下一步做青动作"/>
          <p:cNvSpPr txBox="1"/>
          <p:nvPr/>
        </p:nvSpPr>
        <p:spPr>
          <a:xfrm>
            <a:off x="6219825" y="7830145"/>
            <a:ext cx="683895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关键不是把监测手段叠加，而是让“感知结果”真正决定下一步做青动作</a:t>
            </a:r>
            <a:endParaRPr sz="1550" b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6" name="文字：以数据传承经验，让制茶技艺在可感知、可决策、可复制中持续进化。"/>
          <p:cNvSpPr txBox="1"/>
          <p:nvPr/>
        </p:nvSpPr>
        <p:spPr>
          <a:xfrm>
            <a:off x="6934200" y="8162925"/>
            <a:ext cx="5495925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以数据传承经验，让制茶技艺在可感知、可决策、可复制中持续进化。</a:t>
            </a:r>
            <a:endParaRPr sz="13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共享背景：原图茶园风景（无内容组件）" descr="landscap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5925800" cy="8963025"/>
          </a:xfrm>
          <a:prstGeom prst="rect">
            <a:avLst/>
          </a:prstGeom>
        </p:spPr>
      </p:pic>
      <p:sp>
        <p:nvSpPr>
          <p:cNvPr id="3" name="可编辑框架"/>
          <p:cNvSpPr/>
          <p:nvPr/>
        </p:nvSpPr>
        <p:spPr>
          <a:xfrm>
            <a:off x="0" y="0"/>
            <a:ext cx="15925800" cy="723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：青韵智控"/>
          <p:cNvSpPr txBox="1"/>
          <p:nvPr/>
        </p:nvSpPr>
        <p:spPr>
          <a:xfrm>
            <a:off x="361950" y="190500"/>
            <a:ext cx="13335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73F32"/>
                </a:solidFill>
                <a:latin typeface="微软雅黑" panose="020B0503020204020204" charset="-122"/>
                <a:ea typeface="微软雅黑" panose="020B0503020204020204" charset="-122"/>
              </a:rPr>
              <a:t>青韵智控</a:t>
            </a:r>
            <a:endParaRPr sz="2400" b="1">
              <a:solidFill>
                <a:srgbClr val="073F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1819275" y="257175"/>
            <a:ext cx="0" cy="2762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字：让传统制茶更可控"/>
          <p:cNvSpPr txBox="1"/>
          <p:nvPr/>
        </p:nvSpPr>
        <p:spPr>
          <a:xfrm>
            <a:off x="2076450" y="238125"/>
            <a:ext cx="2190750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让传统制茶更可控</a:t>
            </a:r>
            <a:endParaRPr sz="18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文字：项目背景"/>
          <p:cNvSpPr txBox="1"/>
          <p:nvPr/>
        </p:nvSpPr>
        <p:spPr>
          <a:xfrm>
            <a:off x="8515350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项目背景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9486900" y="323850"/>
            <a:ext cx="0" cy="1619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字：项目概述"/>
          <p:cNvSpPr txBox="1"/>
          <p:nvPr/>
        </p:nvSpPr>
        <p:spPr>
          <a:xfrm>
            <a:off x="9648825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项目概述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10620375" y="323850"/>
            <a:ext cx="0" cy="1619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字：关键技术"/>
          <p:cNvSpPr txBox="1"/>
          <p:nvPr/>
        </p:nvSpPr>
        <p:spPr>
          <a:xfrm>
            <a:off x="10782300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关键技术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11753850" y="323850"/>
            <a:ext cx="0" cy="1619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字：实施与验证"/>
          <p:cNvSpPr txBox="1"/>
          <p:nvPr/>
        </p:nvSpPr>
        <p:spPr>
          <a:xfrm>
            <a:off x="11915775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实施与验证</a:t>
            </a:r>
            <a:endParaRPr sz="150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4" name="Connector 13"/>
          <p:cNvCxnSpPr/>
          <p:nvPr/>
        </p:nvCxnSpPr>
        <p:spPr>
          <a:xfrm>
            <a:off x="12887325" y="323850"/>
            <a:ext cx="0" cy="1619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2153900" y="628650"/>
            <a:ext cx="381000" cy="0"/>
          </a:xfrm>
          <a:prstGeom prst="line">
            <a:avLst/>
          </a:prstGeom>
          <a:ln w="19050">
            <a:solidFill>
              <a:srgbClr val="073F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字：商业模式"/>
          <p:cNvSpPr txBox="1"/>
          <p:nvPr/>
        </p:nvSpPr>
        <p:spPr>
          <a:xfrm>
            <a:off x="13049250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商业模式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14020800" y="323850"/>
            <a:ext cx="0" cy="1619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字：未来展望"/>
          <p:cNvSpPr txBox="1"/>
          <p:nvPr/>
        </p:nvSpPr>
        <p:spPr>
          <a:xfrm>
            <a:off x="14182725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未来展望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9" name="文字：12"/>
          <p:cNvSpPr txBox="1"/>
          <p:nvPr/>
        </p:nvSpPr>
        <p:spPr>
          <a:xfrm>
            <a:off x="15163800" y="257175"/>
            <a:ext cx="428625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950" b="0">
                <a:solidFill>
                  <a:srgbClr val="073F32"/>
                </a:solidFill>
                <a:latin typeface="Times New Roman" panose="02020603050405020304"/>
                <a:ea typeface="Times New Roman" panose="02020603050405020304"/>
              </a:rPr>
              <a:t>12</a:t>
            </a:r>
            <a:endParaRPr sz="1950" b="0">
              <a:solidFill>
                <a:srgbClr val="073F32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cxnSp>
        <p:nvCxnSpPr>
          <p:cNvPr id="20" name="Connector 19"/>
          <p:cNvCxnSpPr/>
          <p:nvPr/>
        </p:nvCxnSpPr>
        <p:spPr>
          <a:xfrm>
            <a:off x="0" y="723900"/>
            <a:ext cx="15725775" cy="0"/>
          </a:xfrm>
          <a:prstGeom prst="line">
            <a:avLst/>
          </a:prstGeom>
          <a:ln w="9525">
            <a:solidFill>
              <a:srgbClr val="C7D8D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571875" y="990600"/>
            <a:ext cx="0" cy="6896100"/>
          </a:xfrm>
          <a:prstGeom prst="line">
            <a:avLst/>
          </a:prstGeom>
          <a:ln w="9525">
            <a:solidFill>
              <a:srgbClr val="A4BCB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字：04"/>
          <p:cNvSpPr txBox="1"/>
          <p:nvPr/>
        </p:nvSpPr>
        <p:spPr>
          <a:xfrm>
            <a:off x="457200" y="1409700"/>
            <a:ext cx="2286000" cy="1666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500"/>
              </a:lnSpc>
              <a:spcBef>
                <a:spcPts val="0"/>
              </a:spcBef>
              <a:spcAft>
                <a:spcPts val="0"/>
              </a:spcAft>
            </a:pPr>
            <a:r>
              <a:rPr sz="13500" b="1" i="1">
                <a:solidFill>
                  <a:srgbClr val="073F32"/>
                </a:solidFill>
                <a:latin typeface="Times New Roman" panose="02020603050405020304"/>
                <a:ea typeface="Times New Roman" panose="02020603050405020304"/>
              </a:rPr>
              <a:t>04</a:t>
            </a:r>
            <a:endParaRPr sz="13500" b="1" i="1">
              <a:solidFill>
                <a:srgbClr val="073F32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cxnSp>
        <p:nvCxnSpPr>
          <p:cNvPr id="23" name="Connector 22"/>
          <p:cNvCxnSpPr/>
          <p:nvPr/>
        </p:nvCxnSpPr>
        <p:spPr>
          <a:xfrm flipV="1">
            <a:off x="2619375" y="1704975"/>
            <a:ext cx="514350" cy="1190625"/>
          </a:xfrm>
          <a:prstGeom prst="line">
            <a:avLst/>
          </a:prstGeom>
          <a:ln w="11429">
            <a:solidFill>
              <a:srgbClr val="073F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字：实施与验证"/>
          <p:cNvSpPr txBox="1"/>
          <p:nvPr/>
        </p:nvSpPr>
        <p:spPr>
          <a:xfrm>
            <a:off x="485775" y="3114675"/>
            <a:ext cx="3000375" cy="838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实施与验证</a:t>
            </a:r>
            <a:endParaRPr sz="480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5" name="文字：实验路径、对照验证&#10;与品质评价"/>
          <p:cNvSpPr txBox="1"/>
          <p:nvPr/>
        </p:nvSpPr>
        <p:spPr>
          <a:xfrm>
            <a:off x="552450" y="4076700"/>
            <a:ext cx="2905125" cy="838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sz="217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实验路径、对照验证</a:t>
            </a:r>
            <a:br>
              <a:rPr sz="217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sz="217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与品质评价</a:t>
            </a:r>
            <a:endParaRPr sz="217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26" name="Connector 25"/>
          <p:cNvCxnSpPr/>
          <p:nvPr/>
        </p:nvCxnSpPr>
        <p:spPr>
          <a:xfrm>
            <a:off x="552450" y="5076825"/>
            <a:ext cx="400050" cy="0"/>
          </a:xfrm>
          <a:prstGeom prst="line">
            <a:avLst/>
          </a:prstGeom>
          <a:ln w="9525">
            <a:solidFill>
              <a:srgbClr val="073F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字：“先证明测得准，&#10; 再证明判断对，&#10; 最后证明控制有效。”"/>
          <p:cNvSpPr txBox="1"/>
          <p:nvPr/>
        </p:nvSpPr>
        <p:spPr>
          <a:xfrm>
            <a:off x="457200" y="5314950"/>
            <a:ext cx="2990850" cy="1095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105"/>
              </a:lnSpc>
              <a:spcBef>
                <a:spcPts val="0"/>
              </a:spcBef>
              <a:spcAft>
                <a:spcPts val="0"/>
              </a:spcAft>
            </a:pPr>
            <a:r>
              <a:rPr sz="2105" b="0">
                <a:solidFill>
                  <a:srgbClr val="073F32"/>
                </a:solidFill>
                <a:latin typeface="楷体" panose="02010609060101010101" charset="-122"/>
                <a:ea typeface="楷体" panose="02010609060101010101" charset="-122"/>
              </a:rPr>
              <a:t>“先证明测得准，</a:t>
            </a:r>
            <a:br>
              <a:rPr sz="2105" b="0">
                <a:solidFill>
                  <a:srgbClr val="073F32"/>
                </a:solidFill>
                <a:latin typeface="楷体" panose="02010609060101010101" charset="-122"/>
                <a:ea typeface="楷体" panose="02010609060101010101" charset="-122"/>
              </a:rPr>
            </a:br>
            <a:r>
              <a:rPr sz="2105" b="0">
                <a:solidFill>
                  <a:srgbClr val="073F32"/>
                </a:solidFill>
                <a:latin typeface="楷体" panose="02010609060101010101" charset="-122"/>
                <a:ea typeface="楷体" panose="02010609060101010101" charset="-122"/>
              </a:rPr>
              <a:t> 再证明判断对，</a:t>
            </a:r>
            <a:br>
              <a:rPr sz="2105" b="0">
                <a:solidFill>
                  <a:srgbClr val="073F32"/>
                </a:solidFill>
                <a:latin typeface="楷体" panose="02010609060101010101" charset="-122"/>
                <a:ea typeface="楷体" panose="02010609060101010101" charset="-122"/>
              </a:rPr>
            </a:br>
            <a:r>
              <a:rPr sz="2105" b="0">
                <a:solidFill>
                  <a:srgbClr val="073F32"/>
                </a:solidFill>
                <a:latin typeface="楷体" panose="02010609060101010101" charset="-122"/>
                <a:ea typeface="楷体" panose="02010609060101010101" charset="-122"/>
              </a:rPr>
              <a:t> 最后证明控制有效。”</a:t>
            </a:r>
            <a:endParaRPr sz="2105" b="0">
              <a:solidFill>
                <a:srgbClr val="073F32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28" name="文字：中 国 茶 · 产 业 智 造 · 中 国 未 来"/>
          <p:cNvSpPr txBox="1"/>
          <p:nvPr/>
        </p:nvSpPr>
        <p:spPr>
          <a:xfrm>
            <a:off x="11791950" y="8439150"/>
            <a:ext cx="3619500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 国 茶 · 产 业 智 造 · 中 国 未 来</a:t>
            </a:r>
            <a:endParaRPr sz="13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9" name="文字：4.1 分阶段验证路线"/>
          <p:cNvSpPr txBox="1"/>
          <p:nvPr/>
        </p:nvSpPr>
        <p:spPr>
          <a:xfrm>
            <a:off x="3867150" y="981075"/>
            <a:ext cx="3648075" cy="514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3150"/>
              </a:lnSpc>
              <a:spcBef>
                <a:spcPts val="0"/>
              </a:spcBef>
              <a:spcAft>
                <a:spcPts val="0"/>
              </a:spcAft>
            </a:pPr>
            <a:r>
              <a:rPr sz="315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4.1 分阶段验证路线</a:t>
            </a:r>
            <a:endParaRPr sz="315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30" name="Connector 29"/>
          <p:cNvCxnSpPr/>
          <p:nvPr/>
        </p:nvCxnSpPr>
        <p:spPr>
          <a:xfrm>
            <a:off x="7600950" y="1085850"/>
            <a:ext cx="0" cy="304800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字：先证明“测得准”，再证明“判断对”，最后证明“控制有效”"/>
          <p:cNvSpPr txBox="1"/>
          <p:nvPr/>
        </p:nvSpPr>
        <p:spPr>
          <a:xfrm>
            <a:off x="7772400" y="1038225"/>
            <a:ext cx="7734300" cy="4476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先证明“测得准”，再证明“判断对”，最后证明“控制有效”</a:t>
            </a:r>
            <a:endParaRPr sz="210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2" name="可编辑框架"/>
          <p:cNvSpPr/>
          <p:nvPr/>
        </p:nvSpPr>
        <p:spPr>
          <a:xfrm>
            <a:off x="3867150" y="5972175"/>
            <a:ext cx="8839200" cy="647700"/>
          </a:xfrm>
          <a:prstGeom prst="roundRect">
            <a:avLst>
              <a:gd name="adj" fmla="val 2500"/>
            </a:avLst>
          </a:prstGeom>
          <a:solidFill>
            <a:srgbClr val="F2F9F6"/>
          </a:solidFill>
          <a:ln>
            <a:solidFill>
              <a:srgbClr val="C8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可编辑框架"/>
          <p:cNvSpPr/>
          <p:nvPr/>
        </p:nvSpPr>
        <p:spPr>
          <a:xfrm>
            <a:off x="5686425" y="6076950"/>
            <a:ext cx="1619250" cy="457200"/>
          </a:xfrm>
          <a:prstGeom prst="roundRect">
            <a:avLst>
              <a:gd name="adj" fmla="val 2500"/>
            </a:avLst>
          </a:prstGeom>
          <a:solidFill>
            <a:srgbClr val="F2F9F6"/>
          </a:solidFill>
          <a:ln>
            <a:solidFill>
              <a:srgbClr val="C8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可编辑框架"/>
          <p:cNvSpPr/>
          <p:nvPr/>
        </p:nvSpPr>
        <p:spPr>
          <a:xfrm>
            <a:off x="8191500" y="6076950"/>
            <a:ext cx="1619250" cy="457200"/>
          </a:xfrm>
          <a:prstGeom prst="roundRect">
            <a:avLst>
              <a:gd name="adj" fmla="val 2500"/>
            </a:avLst>
          </a:prstGeom>
          <a:solidFill>
            <a:srgbClr val="F2F9F6"/>
          </a:solidFill>
          <a:ln>
            <a:solidFill>
              <a:srgbClr val="C8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可编辑框架"/>
          <p:cNvSpPr/>
          <p:nvPr/>
        </p:nvSpPr>
        <p:spPr>
          <a:xfrm>
            <a:off x="10687050" y="6076950"/>
            <a:ext cx="1704975" cy="457200"/>
          </a:xfrm>
          <a:prstGeom prst="roundRect">
            <a:avLst>
              <a:gd name="adj" fmla="val 2500"/>
            </a:avLst>
          </a:prstGeom>
          <a:solidFill>
            <a:srgbClr val="F2F9F6"/>
          </a:solidFill>
          <a:ln>
            <a:solidFill>
              <a:srgbClr val="C8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可编辑框架"/>
          <p:cNvSpPr/>
          <p:nvPr/>
        </p:nvSpPr>
        <p:spPr>
          <a:xfrm>
            <a:off x="3867150" y="2447925"/>
            <a:ext cx="3019425" cy="647700"/>
          </a:xfrm>
          <a:prstGeom prst="rect">
            <a:avLst/>
          </a:prstGeom>
          <a:solidFill>
            <a:srgbClr val="E2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可编辑框架"/>
          <p:cNvSpPr/>
          <p:nvPr/>
        </p:nvSpPr>
        <p:spPr>
          <a:xfrm>
            <a:off x="7029450" y="2447925"/>
            <a:ext cx="3000375" cy="647700"/>
          </a:xfrm>
          <a:prstGeom prst="rect">
            <a:avLst/>
          </a:prstGeom>
          <a:solidFill>
            <a:srgbClr val="E2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可编辑框架"/>
          <p:cNvSpPr/>
          <p:nvPr/>
        </p:nvSpPr>
        <p:spPr>
          <a:xfrm>
            <a:off x="10172700" y="2447925"/>
            <a:ext cx="2667000" cy="647700"/>
          </a:xfrm>
          <a:prstGeom prst="rect">
            <a:avLst/>
          </a:prstGeom>
          <a:solidFill>
            <a:srgbClr val="E2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可编辑框架"/>
          <p:cNvSpPr/>
          <p:nvPr/>
        </p:nvSpPr>
        <p:spPr>
          <a:xfrm>
            <a:off x="3867150" y="7715250"/>
            <a:ext cx="11677650" cy="428625"/>
          </a:xfrm>
          <a:prstGeom prst="roundRect">
            <a:avLst>
              <a:gd name="adj" fmla="val 2500"/>
            </a:avLst>
          </a:prstGeom>
          <a:solidFill>
            <a:srgbClr val="095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可编辑框架"/>
          <p:cNvSpPr/>
          <p:nvPr/>
        </p:nvSpPr>
        <p:spPr>
          <a:xfrm>
            <a:off x="3867150" y="8153400"/>
            <a:ext cx="11677650" cy="266700"/>
          </a:xfrm>
          <a:prstGeom prst="rect">
            <a:avLst/>
          </a:prstGeom>
          <a:solidFill>
            <a:srgbClr val="F1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独立图标或流程线" descr="p12_icon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15925" y="2457450"/>
            <a:ext cx="523874" cy="542925"/>
          </a:xfrm>
          <a:prstGeom prst="rect">
            <a:avLst/>
          </a:prstGeom>
        </p:spPr>
      </p:pic>
      <p:pic>
        <p:nvPicPr>
          <p:cNvPr id="42" name="独立图标或流程线" descr="p12_icon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96875" y="3352800"/>
            <a:ext cx="400050" cy="409575"/>
          </a:xfrm>
          <a:prstGeom prst="rect">
            <a:avLst/>
          </a:prstGeom>
        </p:spPr>
      </p:pic>
      <p:pic>
        <p:nvPicPr>
          <p:cNvPr id="43" name="独立图标或流程线" descr="p12_icon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34725" y="3409950"/>
            <a:ext cx="657225" cy="676275"/>
          </a:xfrm>
          <a:prstGeom prst="rect">
            <a:avLst/>
          </a:prstGeom>
        </p:spPr>
      </p:pic>
      <p:pic>
        <p:nvPicPr>
          <p:cNvPr id="44" name="独立图标或流程线" descr="p12_icon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7674" y="3419475"/>
            <a:ext cx="676275" cy="657225"/>
          </a:xfrm>
          <a:prstGeom prst="rect">
            <a:avLst/>
          </a:prstGeom>
        </p:spPr>
      </p:pic>
      <p:pic>
        <p:nvPicPr>
          <p:cNvPr id="45" name="独立图标或流程线" descr="p12_icon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3000" y="3476625"/>
            <a:ext cx="590550" cy="619125"/>
          </a:xfrm>
          <a:prstGeom prst="rect">
            <a:avLst/>
          </a:prstGeom>
        </p:spPr>
      </p:pic>
      <p:pic>
        <p:nvPicPr>
          <p:cNvPr id="46" name="独立图标或流程线" descr="p12_icon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77050" y="3619500"/>
            <a:ext cx="295275" cy="400050"/>
          </a:xfrm>
          <a:prstGeom prst="rect">
            <a:avLst/>
          </a:prstGeom>
        </p:spPr>
      </p:pic>
      <p:pic>
        <p:nvPicPr>
          <p:cNvPr id="47" name="独立图标或流程线" descr="p12_icon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67900" y="3629025"/>
            <a:ext cx="295275" cy="390525"/>
          </a:xfrm>
          <a:prstGeom prst="rect">
            <a:avLst/>
          </a:prstGeom>
        </p:spPr>
      </p:pic>
      <p:pic>
        <p:nvPicPr>
          <p:cNvPr id="48" name="独立图标或流程线" descr="p12_icon7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52900" y="4410075"/>
            <a:ext cx="180975" cy="190500"/>
          </a:xfrm>
          <a:prstGeom prst="rect">
            <a:avLst/>
          </a:prstGeom>
        </p:spPr>
      </p:pic>
      <p:pic>
        <p:nvPicPr>
          <p:cNvPr id="49" name="独立图标或流程线" descr="p12_icon8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53299" y="4410075"/>
            <a:ext cx="180975" cy="190500"/>
          </a:xfrm>
          <a:prstGeom prst="rect">
            <a:avLst/>
          </a:prstGeom>
        </p:spPr>
      </p:pic>
      <p:pic>
        <p:nvPicPr>
          <p:cNvPr id="50" name="独立图标或流程线" descr="p12_icon9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096500" y="4419600"/>
            <a:ext cx="180975" cy="180975"/>
          </a:xfrm>
          <a:prstGeom prst="rect">
            <a:avLst/>
          </a:prstGeom>
        </p:spPr>
      </p:pic>
      <p:pic>
        <p:nvPicPr>
          <p:cNvPr id="51" name="独立图标或流程线" descr="p12_icon10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096875" y="4429125"/>
            <a:ext cx="400050" cy="409575"/>
          </a:xfrm>
          <a:prstGeom prst="rect">
            <a:avLst/>
          </a:prstGeom>
        </p:spPr>
      </p:pic>
      <p:pic>
        <p:nvPicPr>
          <p:cNvPr id="52" name="独立图标或流程线" descr="p12_icon11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152900" y="4733925"/>
            <a:ext cx="180975" cy="190500"/>
          </a:xfrm>
          <a:prstGeom prst="rect">
            <a:avLst/>
          </a:prstGeom>
        </p:spPr>
      </p:pic>
      <p:pic>
        <p:nvPicPr>
          <p:cNvPr id="53" name="独立图标或流程线" descr="p12_icon12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353299" y="4733925"/>
            <a:ext cx="180975" cy="190500"/>
          </a:xfrm>
          <a:prstGeom prst="rect">
            <a:avLst/>
          </a:prstGeom>
        </p:spPr>
      </p:pic>
      <p:pic>
        <p:nvPicPr>
          <p:cNvPr id="54" name="独立图标或流程线" descr="p12_icon13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096500" y="4743450"/>
            <a:ext cx="180975" cy="180975"/>
          </a:xfrm>
          <a:prstGeom prst="rect">
            <a:avLst/>
          </a:prstGeom>
        </p:spPr>
      </p:pic>
      <p:pic>
        <p:nvPicPr>
          <p:cNvPr id="55" name="独立图标或流程线" descr="p12_icon14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152900" y="5076825"/>
            <a:ext cx="180975" cy="190500"/>
          </a:xfrm>
          <a:prstGeom prst="rect">
            <a:avLst/>
          </a:prstGeom>
        </p:spPr>
      </p:pic>
      <p:pic>
        <p:nvPicPr>
          <p:cNvPr id="56" name="独立图标或流程线" descr="p12_icon15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353299" y="5086350"/>
            <a:ext cx="190500" cy="180975"/>
          </a:xfrm>
          <a:prstGeom prst="rect">
            <a:avLst/>
          </a:prstGeom>
        </p:spPr>
      </p:pic>
      <p:pic>
        <p:nvPicPr>
          <p:cNvPr id="57" name="独立图标或流程线" descr="p12_icon16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096500" y="5086350"/>
            <a:ext cx="180975" cy="190500"/>
          </a:xfrm>
          <a:prstGeom prst="rect">
            <a:avLst/>
          </a:prstGeom>
        </p:spPr>
      </p:pic>
      <p:pic>
        <p:nvPicPr>
          <p:cNvPr id="58" name="独立图标或流程线" descr="p12_icon17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086975" y="6115050"/>
            <a:ext cx="400050" cy="361950"/>
          </a:xfrm>
          <a:prstGeom prst="rect">
            <a:avLst/>
          </a:prstGeom>
        </p:spPr>
      </p:pic>
      <p:pic>
        <p:nvPicPr>
          <p:cNvPr id="59" name="独立图标或流程线" descr="p12_icon18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600950" y="6124575"/>
            <a:ext cx="400050" cy="352425"/>
          </a:xfrm>
          <a:prstGeom prst="rect">
            <a:avLst/>
          </a:prstGeom>
        </p:spPr>
      </p:pic>
      <p:sp>
        <p:nvSpPr>
          <p:cNvPr id="60" name="文字：项目采用渐进式验证路线，先完成真实做青过程的在线监测与数据同步，再进入"/>
          <p:cNvSpPr txBox="1"/>
          <p:nvPr/>
        </p:nvSpPr>
        <p:spPr>
          <a:xfrm>
            <a:off x="3876675" y="1619250"/>
            <a:ext cx="1058227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795"/>
              </a:lnSpc>
              <a:spcBef>
                <a:spcPts val="0"/>
              </a:spcBef>
              <a:spcAft>
                <a:spcPts val="0"/>
              </a:spcAft>
            </a:pPr>
            <a:r>
              <a:rPr sz="179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项目采用渐进式验证路线，先完成真实做青过程的在线监测与数据同步，再进入师傅确认的半自动验证，</a:t>
            </a:r>
            <a:endParaRPr sz="179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1" name="文字：最后在安全边界内探索状态驱动的闭环控制，逐步建立从感知到控制的可信证据"/>
          <p:cNvSpPr txBox="1"/>
          <p:nvPr/>
        </p:nvSpPr>
        <p:spPr>
          <a:xfrm>
            <a:off x="3886200" y="1981200"/>
            <a:ext cx="849630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最后在安全边界内探索状态驱动的闭环控制，逐步建立从感知到控制的可信证据链。</a:t>
            </a:r>
            <a:endParaRPr sz="15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2" name="文字：当前目标"/>
          <p:cNvSpPr txBox="1"/>
          <p:nvPr/>
        </p:nvSpPr>
        <p:spPr>
          <a:xfrm>
            <a:off x="13744575" y="2533650"/>
            <a:ext cx="1247775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285"/>
              </a:lnSpc>
              <a:spcBef>
                <a:spcPts val="0"/>
              </a:spcBef>
              <a:spcAft>
                <a:spcPts val="0"/>
              </a:spcAft>
            </a:pPr>
            <a:r>
              <a:rPr sz="2285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当前目标</a:t>
            </a:r>
            <a:endParaRPr sz="2285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3" name="文字：阶段1|在线监测"/>
          <p:cNvSpPr txBox="1"/>
          <p:nvPr/>
        </p:nvSpPr>
        <p:spPr>
          <a:xfrm>
            <a:off x="4333875" y="2628900"/>
            <a:ext cx="2038350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2025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阶段1|在线监测</a:t>
            </a:r>
            <a:endParaRPr sz="2025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4" name="文字：阶段2丨人工确认半自动"/>
          <p:cNvSpPr txBox="1"/>
          <p:nvPr/>
        </p:nvSpPr>
        <p:spPr>
          <a:xfrm>
            <a:off x="7258050" y="2638425"/>
            <a:ext cx="2571750" cy="3143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865"/>
              </a:lnSpc>
              <a:spcBef>
                <a:spcPts val="0"/>
              </a:spcBef>
              <a:spcAft>
                <a:spcPts val="0"/>
              </a:spcAft>
            </a:pPr>
            <a:r>
              <a:rPr sz="1865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阶段2丨人工确认半自动</a:t>
            </a:r>
            <a:endParaRPr sz="1865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5" name="文字：阶段3丨自适应闭环"/>
          <p:cNvSpPr txBox="1"/>
          <p:nvPr/>
        </p:nvSpPr>
        <p:spPr>
          <a:xfrm>
            <a:off x="10477500" y="2647950"/>
            <a:ext cx="2171700" cy="3143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89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阶段3丨自适应闭环</a:t>
            </a:r>
            <a:endParaRPr sz="189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6" name="文字：完成第一批真实做青"/>
          <p:cNvSpPr txBox="1"/>
          <p:nvPr/>
        </p:nvSpPr>
        <p:spPr>
          <a:xfrm>
            <a:off x="13649325" y="3429000"/>
            <a:ext cx="1771650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15"/>
              </a:lnSpc>
              <a:spcBef>
                <a:spcPts val="0"/>
              </a:spcBef>
              <a:spcAft>
                <a:spcPts val="0"/>
              </a:spcAft>
            </a:pPr>
            <a:r>
              <a:rPr sz="141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完成第一批真实做青</a:t>
            </a:r>
            <a:endParaRPr sz="141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7" name="文字：数据采集"/>
          <p:cNvSpPr txBox="1"/>
          <p:nvPr/>
        </p:nvSpPr>
        <p:spPr>
          <a:xfrm>
            <a:off x="13620750" y="3714750"/>
            <a:ext cx="9144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630"/>
              </a:lnSpc>
              <a:spcBef>
                <a:spcPts val="0"/>
              </a:spcBef>
              <a:spcAft>
                <a:spcPts val="0"/>
              </a:spcAft>
            </a:pPr>
            <a:r>
              <a:rPr sz="163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数据采集</a:t>
            </a:r>
            <a:endParaRPr sz="163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8" name="文字：传感稳定性验证"/>
          <p:cNvSpPr txBox="1"/>
          <p:nvPr/>
        </p:nvSpPr>
        <p:spPr>
          <a:xfrm>
            <a:off x="4429125" y="4381500"/>
            <a:ext cx="1476375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传感稳定性验证</a:t>
            </a:r>
            <a:endParaRPr sz="15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9" name="文字：系统生成做青建议"/>
          <p:cNvSpPr txBox="1"/>
          <p:nvPr/>
        </p:nvSpPr>
        <p:spPr>
          <a:xfrm>
            <a:off x="7658100" y="4381500"/>
            <a:ext cx="163830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30"/>
              </a:lnSpc>
              <a:spcBef>
                <a:spcPts val="0"/>
              </a:spcBef>
              <a:spcAft>
                <a:spcPts val="0"/>
              </a:spcAft>
            </a:pPr>
            <a:r>
              <a:rPr sz="153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系统生成做青建议</a:t>
            </a:r>
            <a:endParaRPr sz="153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0" name="文字：状态驱动工艺参数输出"/>
          <p:cNvSpPr txBox="1"/>
          <p:nvPr/>
        </p:nvSpPr>
        <p:spPr>
          <a:xfrm>
            <a:off x="10325100" y="4391025"/>
            <a:ext cx="2009775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15"/>
              </a:lnSpc>
              <a:spcBef>
                <a:spcPts val="0"/>
              </a:spcBef>
              <a:spcAft>
                <a:spcPts val="0"/>
              </a:spcAft>
            </a:pPr>
            <a:r>
              <a:rPr sz="151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状态驱动工艺参数输出</a:t>
            </a:r>
            <a:endParaRPr sz="151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1" name="文字：建立验证用标准记录表"/>
          <p:cNvSpPr txBox="1"/>
          <p:nvPr/>
        </p:nvSpPr>
        <p:spPr>
          <a:xfrm>
            <a:off x="13649325" y="4533900"/>
            <a:ext cx="1981200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15"/>
              </a:lnSpc>
              <a:spcBef>
                <a:spcPts val="0"/>
              </a:spcBef>
              <a:spcAft>
                <a:spcPts val="0"/>
              </a:spcAft>
            </a:pPr>
            <a:r>
              <a:rPr sz="141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建立验证用标准记录表</a:t>
            </a:r>
            <a:endParaRPr sz="141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2" name="文字：多源数据同步采集"/>
          <p:cNvSpPr txBox="1"/>
          <p:nvPr/>
        </p:nvSpPr>
        <p:spPr>
          <a:xfrm>
            <a:off x="4438650" y="4714875"/>
            <a:ext cx="1647825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15"/>
              </a:lnSpc>
              <a:spcBef>
                <a:spcPts val="0"/>
              </a:spcBef>
              <a:spcAft>
                <a:spcPts val="0"/>
              </a:spcAft>
            </a:pPr>
            <a:r>
              <a:rPr sz="141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多源数据同步采集</a:t>
            </a:r>
            <a:endParaRPr sz="141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3" name="文字：师傅确认后执行"/>
          <p:cNvSpPr txBox="1"/>
          <p:nvPr/>
        </p:nvSpPr>
        <p:spPr>
          <a:xfrm>
            <a:off x="7648575" y="4705350"/>
            <a:ext cx="144780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30"/>
              </a:lnSpc>
              <a:spcBef>
                <a:spcPts val="0"/>
              </a:spcBef>
              <a:spcAft>
                <a:spcPts val="0"/>
              </a:spcAft>
            </a:pPr>
            <a:r>
              <a:rPr sz="153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师傅确认后执行</a:t>
            </a:r>
            <a:endParaRPr sz="153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4" name="文字：在安全边界内自动控制"/>
          <p:cNvSpPr txBox="1"/>
          <p:nvPr/>
        </p:nvSpPr>
        <p:spPr>
          <a:xfrm>
            <a:off x="10353675" y="4724400"/>
            <a:ext cx="1971675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在安全边界内自动控制</a:t>
            </a:r>
            <a:endParaRPr sz="13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5" name="文字：真实做青过程被动记录"/>
          <p:cNvSpPr txBox="1"/>
          <p:nvPr/>
        </p:nvSpPr>
        <p:spPr>
          <a:xfrm>
            <a:off x="4438650" y="5048250"/>
            <a:ext cx="2038350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15"/>
              </a:lnSpc>
              <a:spcBef>
                <a:spcPts val="0"/>
              </a:spcBef>
              <a:spcAft>
                <a:spcPts val="0"/>
              </a:spcAft>
            </a:pPr>
            <a:r>
              <a:rPr sz="141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真实做青过程被动记录</a:t>
            </a:r>
            <a:endParaRPr sz="141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6" name="文字：记录建议与实际差异"/>
          <p:cNvSpPr txBox="1"/>
          <p:nvPr/>
        </p:nvSpPr>
        <p:spPr>
          <a:xfrm>
            <a:off x="7658100" y="5048250"/>
            <a:ext cx="1819275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15"/>
              </a:lnSpc>
              <a:spcBef>
                <a:spcPts val="0"/>
              </a:spcBef>
              <a:spcAft>
                <a:spcPts val="0"/>
              </a:spcAft>
            </a:pPr>
            <a:r>
              <a:rPr sz="151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记录建议与实际差异</a:t>
            </a:r>
            <a:endParaRPr sz="151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7" name="文字：形成执行一反馈一再优化闭环"/>
          <p:cNvSpPr txBox="1"/>
          <p:nvPr/>
        </p:nvSpPr>
        <p:spPr>
          <a:xfrm>
            <a:off x="10353675" y="5067300"/>
            <a:ext cx="2533650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15"/>
              </a:lnSpc>
              <a:spcBef>
                <a:spcPts val="0"/>
              </a:spcBef>
              <a:spcAft>
                <a:spcPts val="0"/>
              </a:spcAft>
            </a:pPr>
            <a:r>
              <a:rPr sz="141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形成执行一反馈一再优化闭环</a:t>
            </a:r>
            <a:endParaRPr sz="141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8" name="文字：为A/B/C对照试验"/>
          <p:cNvSpPr txBox="1"/>
          <p:nvPr/>
        </p:nvSpPr>
        <p:spPr>
          <a:xfrm>
            <a:off x="13630275" y="5305425"/>
            <a:ext cx="1809750" cy="3143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810"/>
              </a:lnSpc>
              <a:spcBef>
                <a:spcPts val="0"/>
              </a:spcBef>
              <a:spcAft>
                <a:spcPts val="0"/>
              </a:spcAft>
            </a:pPr>
            <a:r>
              <a:rPr sz="181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为A/B/C对照试验</a:t>
            </a:r>
            <a:endParaRPr sz="181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9" name="文字：做准备"/>
          <p:cNvSpPr txBox="1"/>
          <p:nvPr/>
        </p:nvSpPr>
        <p:spPr>
          <a:xfrm>
            <a:off x="13611225" y="5600700"/>
            <a:ext cx="742950" cy="3143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做准备</a:t>
            </a:r>
            <a:endParaRPr sz="1725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0" name="文字：验证逻辑"/>
          <p:cNvSpPr txBox="1"/>
          <p:nvPr/>
        </p:nvSpPr>
        <p:spPr>
          <a:xfrm>
            <a:off x="4029075" y="6153150"/>
            <a:ext cx="1066800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930"/>
              </a:lnSpc>
              <a:spcBef>
                <a:spcPts val="0"/>
              </a:spcBef>
              <a:spcAft>
                <a:spcPts val="0"/>
              </a:spcAft>
            </a:pPr>
            <a:r>
              <a:rPr sz="193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验证逻辑</a:t>
            </a:r>
            <a:endParaRPr sz="193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1" name="文字：采得到"/>
          <p:cNvSpPr txBox="1"/>
          <p:nvPr/>
        </p:nvSpPr>
        <p:spPr>
          <a:xfrm>
            <a:off x="6143625" y="6143625"/>
            <a:ext cx="819150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925"/>
              </a:lnSpc>
              <a:spcBef>
                <a:spcPts val="0"/>
              </a:spcBef>
              <a:spcAft>
                <a:spcPts val="0"/>
              </a:spcAft>
            </a:pPr>
            <a:r>
              <a:rPr sz="1925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采得到</a:t>
            </a:r>
            <a:endParaRPr sz="1925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2" name="文字：判得对"/>
          <p:cNvSpPr txBox="1"/>
          <p:nvPr/>
        </p:nvSpPr>
        <p:spPr>
          <a:xfrm>
            <a:off x="8620125" y="6143625"/>
            <a:ext cx="828675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判得对</a:t>
            </a:r>
            <a:endParaRPr sz="195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3" name="文字：控得住"/>
          <p:cNvSpPr txBox="1"/>
          <p:nvPr/>
        </p:nvSpPr>
        <p:spPr>
          <a:xfrm>
            <a:off x="11201400" y="6143625"/>
            <a:ext cx="828675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控得住</a:t>
            </a:r>
            <a:endParaRPr sz="195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4" name="文字：分阶段验证不是保守，而是为真实落地建立可信边界"/>
          <p:cNvSpPr txBox="1"/>
          <p:nvPr/>
        </p:nvSpPr>
        <p:spPr>
          <a:xfrm>
            <a:off x="6515100" y="7828085"/>
            <a:ext cx="5648325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</a:pPr>
            <a:r>
              <a:rPr sz="1685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分阶段验证不是保守，而是为真实落地建立可信边界</a:t>
            </a:r>
            <a:endParaRPr sz="1685" b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5" name="文字：当前项目处于原型研发与真实数据采集准备阶段，第一阶段以旁路在线监测与状"/>
          <p:cNvSpPr txBox="1"/>
          <p:nvPr/>
        </p:nvSpPr>
        <p:spPr>
          <a:xfrm>
            <a:off x="4895850" y="8162925"/>
            <a:ext cx="9267825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当前项目处于原型研发与真实数据采集准备阶段，第一阶段以旁路在线监测与状态评估为主，不直接接管生产</a:t>
            </a:r>
            <a:endParaRPr sz="13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6" name="可编辑框架"/>
          <p:cNvSpPr/>
          <p:nvPr/>
        </p:nvSpPr>
        <p:spPr>
          <a:xfrm>
            <a:off x="4476750" y="5457825"/>
            <a:ext cx="1647825" cy="342900"/>
          </a:xfrm>
          <a:prstGeom prst="roundRect">
            <a:avLst>
              <a:gd name="adj" fmla="val 2500"/>
            </a:avLst>
          </a:prstGeom>
          <a:solidFill>
            <a:srgbClr val="095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文字：当前阶段"/>
          <p:cNvSpPr txBox="1"/>
          <p:nvPr/>
        </p:nvSpPr>
        <p:spPr>
          <a:xfrm>
            <a:off x="4552950" y="5457825"/>
            <a:ext cx="1495425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75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当前阶段</a:t>
            </a:r>
            <a:endParaRPr sz="1875" b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8" name="Oval 87"/>
          <p:cNvSpPr/>
          <p:nvPr/>
        </p:nvSpPr>
        <p:spPr>
          <a:xfrm>
            <a:off x="13134975" y="5305425"/>
            <a:ext cx="323850" cy="323850"/>
          </a:xfrm>
          <a:prstGeom prst="ellipse">
            <a:avLst/>
          </a:prstGeom>
          <a:solidFill>
            <a:srgbClr val="073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文字：3"/>
          <p:cNvSpPr txBox="1"/>
          <p:nvPr/>
        </p:nvSpPr>
        <p:spPr>
          <a:xfrm>
            <a:off x="13144500" y="5305425"/>
            <a:ext cx="304800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2025" b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</a:rPr>
              <a:t>3</a:t>
            </a:r>
            <a:endParaRPr sz="2025" b="0">
              <a:solidFill>
                <a:srgbClr val="FFFFFF"/>
              </a:solidFill>
              <a:latin typeface="Times New Roman" panose="02020603050405020304"/>
              <a:ea typeface="Times New Roman" panose="020206030504050203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共享背景：原图茶园风景（无内容组件）" descr="landscap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5925800" cy="8963025"/>
          </a:xfrm>
          <a:prstGeom prst="rect">
            <a:avLst/>
          </a:prstGeom>
        </p:spPr>
      </p:pic>
      <p:sp>
        <p:nvSpPr>
          <p:cNvPr id="3" name="可编辑框架"/>
          <p:cNvSpPr/>
          <p:nvPr/>
        </p:nvSpPr>
        <p:spPr>
          <a:xfrm>
            <a:off x="0" y="0"/>
            <a:ext cx="15925800" cy="723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：青韵智控"/>
          <p:cNvSpPr txBox="1"/>
          <p:nvPr/>
        </p:nvSpPr>
        <p:spPr>
          <a:xfrm>
            <a:off x="361950" y="190500"/>
            <a:ext cx="13335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73F32"/>
                </a:solidFill>
                <a:latin typeface="微软雅黑" panose="020B0503020204020204" charset="-122"/>
                <a:ea typeface="微软雅黑" panose="020B0503020204020204" charset="-122"/>
              </a:rPr>
              <a:t>青韵智控</a:t>
            </a:r>
            <a:endParaRPr sz="2400" b="1">
              <a:solidFill>
                <a:srgbClr val="073F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1819275" y="257175"/>
            <a:ext cx="0" cy="2762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字：让传统制茶更可控"/>
          <p:cNvSpPr txBox="1"/>
          <p:nvPr/>
        </p:nvSpPr>
        <p:spPr>
          <a:xfrm>
            <a:off x="2076450" y="238125"/>
            <a:ext cx="2190750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让传统制茶更可控</a:t>
            </a:r>
            <a:endParaRPr sz="18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文字：项目背景"/>
          <p:cNvSpPr txBox="1"/>
          <p:nvPr/>
        </p:nvSpPr>
        <p:spPr>
          <a:xfrm>
            <a:off x="8515350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项目背景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9486900" y="323850"/>
            <a:ext cx="0" cy="1619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字：项目概述"/>
          <p:cNvSpPr txBox="1"/>
          <p:nvPr/>
        </p:nvSpPr>
        <p:spPr>
          <a:xfrm>
            <a:off x="9648825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项目概述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10620375" y="323850"/>
            <a:ext cx="0" cy="1619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字：关键技术"/>
          <p:cNvSpPr txBox="1"/>
          <p:nvPr/>
        </p:nvSpPr>
        <p:spPr>
          <a:xfrm>
            <a:off x="10782300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关键技术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11753850" y="323850"/>
            <a:ext cx="0" cy="1619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字：实施与验证"/>
          <p:cNvSpPr txBox="1"/>
          <p:nvPr/>
        </p:nvSpPr>
        <p:spPr>
          <a:xfrm>
            <a:off x="11915775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实施与验证</a:t>
            </a:r>
            <a:endParaRPr sz="150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4" name="Connector 13"/>
          <p:cNvCxnSpPr/>
          <p:nvPr/>
        </p:nvCxnSpPr>
        <p:spPr>
          <a:xfrm>
            <a:off x="12887325" y="323850"/>
            <a:ext cx="0" cy="1619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2153900" y="628650"/>
            <a:ext cx="381000" cy="0"/>
          </a:xfrm>
          <a:prstGeom prst="line">
            <a:avLst/>
          </a:prstGeom>
          <a:ln w="19050">
            <a:solidFill>
              <a:srgbClr val="073F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字：商业模式"/>
          <p:cNvSpPr txBox="1"/>
          <p:nvPr/>
        </p:nvSpPr>
        <p:spPr>
          <a:xfrm>
            <a:off x="13049250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商业模式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14020800" y="323850"/>
            <a:ext cx="0" cy="1619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字：未来展望"/>
          <p:cNvSpPr txBox="1"/>
          <p:nvPr/>
        </p:nvSpPr>
        <p:spPr>
          <a:xfrm>
            <a:off x="14182725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未来展望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9" name="文字：13"/>
          <p:cNvSpPr txBox="1"/>
          <p:nvPr/>
        </p:nvSpPr>
        <p:spPr>
          <a:xfrm>
            <a:off x="15163800" y="257175"/>
            <a:ext cx="428625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950" b="0">
                <a:solidFill>
                  <a:srgbClr val="073F32"/>
                </a:solidFill>
                <a:latin typeface="Times New Roman" panose="02020603050405020304"/>
                <a:ea typeface="Times New Roman" panose="02020603050405020304"/>
              </a:rPr>
              <a:t>13</a:t>
            </a:r>
            <a:endParaRPr sz="1950" b="0">
              <a:solidFill>
                <a:srgbClr val="073F32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cxnSp>
        <p:nvCxnSpPr>
          <p:cNvPr id="20" name="Connector 19"/>
          <p:cNvCxnSpPr/>
          <p:nvPr/>
        </p:nvCxnSpPr>
        <p:spPr>
          <a:xfrm>
            <a:off x="0" y="723900"/>
            <a:ext cx="15725775" cy="0"/>
          </a:xfrm>
          <a:prstGeom prst="line">
            <a:avLst/>
          </a:prstGeom>
          <a:ln w="9525">
            <a:solidFill>
              <a:srgbClr val="C7D8D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571875" y="990600"/>
            <a:ext cx="0" cy="6896100"/>
          </a:xfrm>
          <a:prstGeom prst="line">
            <a:avLst/>
          </a:prstGeom>
          <a:ln w="9525">
            <a:solidFill>
              <a:srgbClr val="A4BCB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字：04"/>
          <p:cNvSpPr txBox="1"/>
          <p:nvPr/>
        </p:nvSpPr>
        <p:spPr>
          <a:xfrm>
            <a:off x="457200" y="1409700"/>
            <a:ext cx="2286000" cy="1666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500"/>
              </a:lnSpc>
              <a:spcBef>
                <a:spcPts val="0"/>
              </a:spcBef>
              <a:spcAft>
                <a:spcPts val="0"/>
              </a:spcAft>
            </a:pPr>
            <a:r>
              <a:rPr sz="13500" b="1" i="1">
                <a:solidFill>
                  <a:srgbClr val="073F32"/>
                </a:solidFill>
                <a:latin typeface="Times New Roman" panose="02020603050405020304"/>
                <a:ea typeface="Times New Roman" panose="02020603050405020304"/>
              </a:rPr>
              <a:t>04</a:t>
            </a:r>
            <a:endParaRPr sz="13500" b="1" i="1">
              <a:solidFill>
                <a:srgbClr val="073F32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cxnSp>
        <p:nvCxnSpPr>
          <p:cNvPr id="23" name="Connector 22"/>
          <p:cNvCxnSpPr/>
          <p:nvPr/>
        </p:nvCxnSpPr>
        <p:spPr>
          <a:xfrm flipV="1">
            <a:off x="2619375" y="1704975"/>
            <a:ext cx="514350" cy="1190625"/>
          </a:xfrm>
          <a:prstGeom prst="line">
            <a:avLst/>
          </a:prstGeom>
          <a:ln w="11429">
            <a:solidFill>
              <a:srgbClr val="073F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字：实施与验证"/>
          <p:cNvSpPr txBox="1"/>
          <p:nvPr/>
        </p:nvSpPr>
        <p:spPr>
          <a:xfrm>
            <a:off x="485775" y="3114675"/>
            <a:ext cx="3000375" cy="838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实施与验证</a:t>
            </a:r>
            <a:endParaRPr sz="480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5" name="文字：实验路径、对照验证&#10;与品质评价"/>
          <p:cNvSpPr txBox="1"/>
          <p:nvPr/>
        </p:nvSpPr>
        <p:spPr>
          <a:xfrm>
            <a:off x="552450" y="4076700"/>
            <a:ext cx="2905125" cy="838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sz="217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实验路径、对照验证</a:t>
            </a:r>
            <a:br>
              <a:rPr sz="217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sz="217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与品质评价</a:t>
            </a:r>
            <a:endParaRPr sz="217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26" name="Connector 25"/>
          <p:cNvCxnSpPr/>
          <p:nvPr/>
        </p:nvCxnSpPr>
        <p:spPr>
          <a:xfrm>
            <a:off x="552450" y="5076825"/>
            <a:ext cx="400050" cy="0"/>
          </a:xfrm>
          <a:prstGeom prst="line">
            <a:avLst/>
          </a:prstGeom>
          <a:ln w="9525">
            <a:solidFill>
              <a:srgbClr val="073F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字：“不仅要看模型表现，&#10; 更要看成茶结果。”"/>
          <p:cNvSpPr txBox="1"/>
          <p:nvPr/>
        </p:nvSpPr>
        <p:spPr>
          <a:xfrm>
            <a:off x="457200" y="5314950"/>
            <a:ext cx="2990850" cy="1095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sz="2175" b="0">
                <a:solidFill>
                  <a:srgbClr val="073F32"/>
                </a:solidFill>
                <a:latin typeface="楷体" panose="02010609060101010101" charset="-122"/>
                <a:ea typeface="楷体" panose="02010609060101010101" charset="-122"/>
              </a:rPr>
              <a:t>“不仅要看模型表现，</a:t>
            </a:r>
            <a:br>
              <a:rPr sz="2175" b="0">
                <a:solidFill>
                  <a:srgbClr val="073F32"/>
                </a:solidFill>
                <a:latin typeface="楷体" panose="02010609060101010101" charset="-122"/>
                <a:ea typeface="楷体" panose="02010609060101010101" charset="-122"/>
              </a:rPr>
            </a:br>
            <a:r>
              <a:rPr sz="2175" b="0">
                <a:solidFill>
                  <a:srgbClr val="073F32"/>
                </a:solidFill>
                <a:latin typeface="楷体" panose="02010609060101010101" charset="-122"/>
                <a:ea typeface="楷体" panose="02010609060101010101" charset="-122"/>
              </a:rPr>
              <a:t> 更要看成茶结果。”</a:t>
            </a:r>
            <a:endParaRPr sz="2175" b="0">
              <a:solidFill>
                <a:srgbClr val="073F32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28" name="文字：中 国 茶 · 产 业 智 造 · 中 国 未 来"/>
          <p:cNvSpPr txBox="1"/>
          <p:nvPr/>
        </p:nvSpPr>
        <p:spPr>
          <a:xfrm>
            <a:off x="11791950" y="8439150"/>
            <a:ext cx="3619500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 国 茶 · 产 业 智 造 · 中 国 未 来</a:t>
            </a:r>
            <a:endParaRPr sz="13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9" name="文字：4.2 A/B/C 对照试验设计"/>
          <p:cNvSpPr txBox="1"/>
          <p:nvPr/>
        </p:nvSpPr>
        <p:spPr>
          <a:xfrm>
            <a:off x="3867150" y="981075"/>
            <a:ext cx="4448175" cy="514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3150"/>
              </a:lnSpc>
              <a:spcBef>
                <a:spcPts val="0"/>
              </a:spcBef>
              <a:spcAft>
                <a:spcPts val="0"/>
              </a:spcAft>
            </a:pPr>
            <a:r>
              <a:rPr sz="315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4.2 A/B/C 对照试验设计</a:t>
            </a:r>
            <a:endParaRPr sz="315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30" name="Connector 29"/>
          <p:cNvCxnSpPr/>
          <p:nvPr/>
        </p:nvCxnSpPr>
        <p:spPr>
          <a:xfrm>
            <a:off x="8401050" y="1085850"/>
            <a:ext cx="0" cy="304800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字：用同原料、同后处理、不同做青策略，验证系统是否真正有效"/>
          <p:cNvSpPr txBox="1"/>
          <p:nvPr/>
        </p:nvSpPr>
        <p:spPr>
          <a:xfrm>
            <a:off x="8572500" y="1038225"/>
            <a:ext cx="6934200" cy="4476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020"/>
              </a:lnSpc>
              <a:spcBef>
                <a:spcPts val="0"/>
              </a:spcBef>
              <a:spcAft>
                <a:spcPts val="0"/>
              </a:spcAft>
            </a:pPr>
            <a:r>
              <a:rPr sz="202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用同原料、同后处理、不同做青策略，验证系统是否真正有效</a:t>
            </a:r>
            <a:endParaRPr sz="202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2" name="可编辑框架"/>
          <p:cNvSpPr/>
          <p:nvPr/>
        </p:nvSpPr>
        <p:spPr>
          <a:xfrm>
            <a:off x="3867150" y="2428875"/>
            <a:ext cx="3638550" cy="523875"/>
          </a:xfrm>
          <a:prstGeom prst="rect">
            <a:avLst/>
          </a:prstGeom>
          <a:solidFill>
            <a:srgbClr val="E2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可编辑框架"/>
          <p:cNvSpPr/>
          <p:nvPr/>
        </p:nvSpPr>
        <p:spPr>
          <a:xfrm>
            <a:off x="7772400" y="2428875"/>
            <a:ext cx="3600450" cy="523875"/>
          </a:xfrm>
          <a:prstGeom prst="rect">
            <a:avLst/>
          </a:prstGeom>
          <a:solidFill>
            <a:srgbClr val="E2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可编辑框架"/>
          <p:cNvSpPr/>
          <p:nvPr/>
        </p:nvSpPr>
        <p:spPr>
          <a:xfrm>
            <a:off x="11639550" y="2428875"/>
            <a:ext cx="3905250" cy="523875"/>
          </a:xfrm>
          <a:prstGeom prst="rect">
            <a:avLst/>
          </a:prstGeom>
          <a:solidFill>
            <a:srgbClr val="E2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可编辑框架"/>
          <p:cNvSpPr/>
          <p:nvPr/>
        </p:nvSpPr>
        <p:spPr>
          <a:xfrm>
            <a:off x="3886200" y="5924550"/>
            <a:ext cx="3305175" cy="400050"/>
          </a:xfrm>
          <a:prstGeom prst="rect">
            <a:avLst/>
          </a:prstGeom>
          <a:solidFill>
            <a:srgbClr val="E2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可编辑框架"/>
          <p:cNvSpPr/>
          <p:nvPr/>
        </p:nvSpPr>
        <p:spPr>
          <a:xfrm>
            <a:off x="8001000" y="5924550"/>
            <a:ext cx="3038475" cy="400050"/>
          </a:xfrm>
          <a:prstGeom prst="rect">
            <a:avLst/>
          </a:prstGeom>
          <a:solidFill>
            <a:srgbClr val="E2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可编辑框架"/>
          <p:cNvSpPr/>
          <p:nvPr/>
        </p:nvSpPr>
        <p:spPr>
          <a:xfrm>
            <a:off x="11906250" y="5924550"/>
            <a:ext cx="3514725" cy="400050"/>
          </a:xfrm>
          <a:prstGeom prst="rect">
            <a:avLst/>
          </a:prstGeom>
          <a:solidFill>
            <a:srgbClr val="E2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可编辑框架"/>
          <p:cNvSpPr/>
          <p:nvPr/>
        </p:nvSpPr>
        <p:spPr>
          <a:xfrm>
            <a:off x="3867150" y="7715250"/>
            <a:ext cx="11677650" cy="428625"/>
          </a:xfrm>
          <a:prstGeom prst="roundRect">
            <a:avLst>
              <a:gd name="adj" fmla="val 2500"/>
            </a:avLst>
          </a:prstGeom>
          <a:solidFill>
            <a:srgbClr val="095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可编辑框架"/>
          <p:cNvSpPr/>
          <p:nvPr/>
        </p:nvSpPr>
        <p:spPr>
          <a:xfrm>
            <a:off x="3867150" y="8153400"/>
            <a:ext cx="11677650" cy="266700"/>
          </a:xfrm>
          <a:prstGeom prst="rect">
            <a:avLst/>
          </a:prstGeom>
          <a:solidFill>
            <a:srgbClr val="F1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独立图标或流程线" descr="p13_icon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0" y="3181350"/>
            <a:ext cx="180975" cy="180975"/>
          </a:xfrm>
          <a:prstGeom prst="rect">
            <a:avLst/>
          </a:prstGeom>
        </p:spPr>
      </p:pic>
      <p:pic>
        <p:nvPicPr>
          <p:cNvPr id="41" name="独立图标或流程线" descr="p13_icon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4475" y="3190875"/>
            <a:ext cx="104775" cy="161925"/>
          </a:xfrm>
          <a:prstGeom prst="rect">
            <a:avLst/>
          </a:prstGeom>
        </p:spPr>
      </p:pic>
      <p:pic>
        <p:nvPicPr>
          <p:cNvPr id="42" name="独立图标或流程线" descr="p13_icon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68300" y="3200400"/>
            <a:ext cx="180975" cy="180975"/>
          </a:xfrm>
          <a:prstGeom prst="rect">
            <a:avLst/>
          </a:prstGeom>
        </p:spPr>
      </p:pic>
      <p:pic>
        <p:nvPicPr>
          <p:cNvPr id="43" name="独立图标或流程线" descr="p13_icon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0" y="3219450"/>
            <a:ext cx="676275" cy="742950"/>
          </a:xfrm>
          <a:prstGeom prst="rect">
            <a:avLst/>
          </a:prstGeom>
        </p:spPr>
      </p:pic>
      <p:pic>
        <p:nvPicPr>
          <p:cNvPr id="44" name="独立图标或流程线" descr="p13_icon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67674" y="3276600"/>
            <a:ext cx="676275" cy="647700"/>
          </a:xfrm>
          <a:prstGeom prst="rect">
            <a:avLst/>
          </a:prstGeom>
        </p:spPr>
      </p:pic>
      <p:pic>
        <p:nvPicPr>
          <p:cNvPr id="45" name="独立图标或流程线" descr="p13_icon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915775" y="3276600"/>
            <a:ext cx="685800" cy="657225"/>
          </a:xfrm>
          <a:prstGeom prst="rect">
            <a:avLst/>
          </a:prstGeom>
        </p:spPr>
      </p:pic>
      <p:pic>
        <p:nvPicPr>
          <p:cNvPr id="46" name="独立图标或流程线" descr="p13_icon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38750" y="3514725"/>
            <a:ext cx="180975" cy="180975"/>
          </a:xfrm>
          <a:prstGeom prst="rect">
            <a:avLst/>
          </a:prstGeom>
        </p:spPr>
      </p:pic>
      <p:pic>
        <p:nvPicPr>
          <p:cNvPr id="47" name="独立图标或流程线" descr="p13_icon7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34475" y="3514725"/>
            <a:ext cx="133350" cy="180975"/>
          </a:xfrm>
          <a:prstGeom prst="rect">
            <a:avLst/>
          </a:prstGeom>
        </p:spPr>
      </p:pic>
      <p:pic>
        <p:nvPicPr>
          <p:cNvPr id="48" name="独立图标或流程线" descr="p13_icon8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068300" y="3524250"/>
            <a:ext cx="180975" cy="180975"/>
          </a:xfrm>
          <a:prstGeom prst="rect">
            <a:avLst/>
          </a:prstGeom>
        </p:spPr>
      </p:pic>
      <p:pic>
        <p:nvPicPr>
          <p:cNvPr id="49" name="独立图标或流程线" descr="p13_icon9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38750" y="3848099"/>
            <a:ext cx="180975" cy="190500"/>
          </a:xfrm>
          <a:prstGeom prst="rect">
            <a:avLst/>
          </a:prstGeom>
        </p:spPr>
      </p:pic>
      <p:pic>
        <p:nvPicPr>
          <p:cNvPr id="50" name="独立图标或流程线" descr="p13_icon10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34475" y="3848099"/>
            <a:ext cx="152400" cy="190500"/>
          </a:xfrm>
          <a:prstGeom prst="rect">
            <a:avLst/>
          </a:prstGeom>
        </p:spPr>
      </p:pic>
      <p:pic>
        <p:nvPicPr>
          <p:cNvPr id="51" name="独立图标或流程线" descr="p13_icon11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3068300" y="3848099"/>
            <a:ext cx="180975" cy="190500"/>
          </a:xfrm>
          <a:prstGeom prst="rect">
            <a:avLst/>
          </a:prstGeom>
        </p:spPr>
      </p:pic>
      <p:pic>
        <p:nvPicPr>
          <p:cNvPr id="52" name="独立图标或流程线" descr="p13_icon12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449050" y="4067175"/>
            <a:ext cx="85725" cy="123824"/>
          </a:xfrm>
          <a:prstGeom prst="rect">
            <a:avLst/>
          </a:prstGeom>
        </p:spPr>
      </p:pic>
      <p:cxnSp>
        <p:nvCxnSpPr>
          <p:cNvPr id="53" name="Connector 52"/>
          <p:cNvCxnSpPr/>
          <p:nvPr/>
        </p:nvCxnSpPr>
        <p:spPr>
          <a:xfrm>
            <a:off x="5667375" y="4476750"/>
            <a:ext cx="9886950" cy="0"/>
          </a:xfrm>
          <a:prstGeom prst="line">
            <a:avLst/>
          </a:prstGeom>
          <a:ln w="9525">
            <a:solidFill>
              <a:srgbClr val="86AA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4" name="独立图标或流程线" descr="p13_icon13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010025" y="4829175"/>
            <a:ext cx="390525" cy="381000"/>
          </a:xfrm>
          <a:prstGeom prst="rect">
            <a:avLst/>
          </a:prstGeom>
        </p:spPr>
      </p:pic>
      <p:pic>
        <p:nvPicPr>
          <p:cNvPr id="55" name="独立图标或流程线" descr="p13_icon14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276975" y="4838700"/>
            <a:ext cx="371475" cy="400050"/>
          </a:xfrm>
          <a:prstGeom prst="rect">
            <a:avLst/>
          </a:prstGeom>
        </p:spPr>
      </p:pic>
      <p:pic>
        <p:nvPicPr>
          <p:cNvPr id="56" name="独立图标或流程线" descr="p13_icon15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524875" y="4829175"/>
            <a:ext cx="400050" cy="409575"/>
          </a:xfrm>
          <a:prstGeom prst="rect">
            <a:avLst/>
          </a:prstGeom>
        </p:spPr>
      </p:pic>
      <p:pic>
        <p:nvPicPr>
          <p:cNvPr id="57" name="独立图标或流程线" descr="p13_icon16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134725" y="4838700"/>
            <a:ext cx="447675" cy="381000"/>
          </a:xfrm>
          <a:prstGeom prst="rect">
            <a:avLst/>
          </a:prstGeom>
        </p:spPr>
      </p:pic>
      <p:pic>
        <p:nvPicPr>
          <p:cNvPr id="58" name="独立图标或流程线" descr="p13_icon17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3506450" y="4829175"/>
            <a:ext cx="352425" cy="409575"/>
          </a:xfrm>
          <a:prstGeom prst="rect">
            <a:avLst/>
          </a:prstGeom>
        </p:spPr>
      </p:pic>
      <p:pic>
        <p:nvPicPr>
          <p:cNvPr id="59" name="独立图标或流程线" descr="p13_icon18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791200" y="4886325"/>
            <a:ext cx="171450" cy="295275"/>
          </a:xfrm>
          <a:prstGeom prst="rect">
            <a:avLst/>
          </a:prstGeom>
        </p:spPr>
      </p:pic>
      <p:pic>
        <p:nvPicPr>
          <p:cNvPr id="60" name="独立图标或流程线" descr="p13_icon19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058150" y="4886325"/>
            <a:ext cx="171450" cy="295275"/>
          </a:xfrm>
          <a:prstGeom prst="rect">
            <a:avLst/>
          </a:prstGeom>
        </p:spPr>
      </p:pic>
      <p:pic>
        <p:nvPicPr>
          <p:cNvPr id="61" name="独立图标或流程线" descr="p13_icon20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677525" y="4886325"/>
            <a:ext cx="171450" cy="295275"/>
          </a:xfrm>
          <a:prstGeom prst="rect">
            <a:avLst/>
          </a:prstGeom>
        </p:spPr>
      </p:pic>
      <p:pic>
        <p:nvPicPr>
          <p:cNvPr id="62" name="独立图标或流程线" descr="p13_icon21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2906375" y="4886325"/>
            <a:ext cx="171450" cy="295275"/>
          </a:xfrm>
          <a:prstGeom prst="rect">
            <a:avLst/>
          </a:prstGeom>
        </p:spPr>
      </p:pic>
      <p:cxnSp>
        <p:nvCxnSpPr>
          <p:cNvPr id="63" name="Connector 62"/>
          <p:cNvCxnSpPr/>
          <p:nvPr/>
        </p:nvCxnSpPr>
        <p:spPr>
          <a:xfrm>
            <a:off x="5667375" y="5695950"/>
            <a:ext cx="9886950" cy="0"/>
          </a:xfrm>
          <a:prstGeom prst="line">
            <a:avLst/>
          </a:prstGeom>
          <a:ln w="9525">
            <a:solidFill>
              <a:srgbClr val="86AA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4" name="独立图标或流程线" descr="p13_icon22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258175" y="5905500"/>
            <a:ext cx="333375" cy="390525"/>
          </a:xfrm>
          <a:prstGeom prst="rect">
            <a:avLst/>
          </a:prstGeom>
        </p:spPr>
      </p:pic>
      <p:cxnSp>
        <p:nvCxnSpPr>
          <p:cNvPr id="65" name="Connector 64"/>
          <p:cNvCxnSpPr/>
          <p:nvPr/>
        </p:nvCxnSpPr>
        <p:spPr>
          <a:xfrm>
            <a:off x="7596188" y="5924550"/>
            <a:ext cx="0" cy="1333500"/>
          </a:xfrm>
          <a:prstGeom prst="line">
            <a:avLst/>
          </a:prstGeom>
          <a:ln w="9525">
            <a:solidFill>
              <a:srgbClr val="A6C5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6" name="独立图标或流程线" descr="p13_icon23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1439525" y="5915025"/>
            <a:ext cx="85725" cy="85725"/>
          </a:xfrm>
          <a:prstGeom prst="rect">
            <a:avLst/>
          </a:prstGeom>
        </p:spPr>
      </p:pic>
      <p:pic>
        <p:nvPicPr>
          <p:cNvPr id="67" name="独立图标或流程线" descr="p13_icon24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2182475" y="5915025"/>
            <a:ext cx="333375" cy="409575"/>
          </a:xfrm>
          <a:prstGeom prst="rect">
            <a:avLst/>
          </a:prstGeom>
        </p:spPr>
      </p:pic>
      <p:pic>
        <p:nvPicPr>
          <p:cNvPr id="68" name="独立图标或流程线" descr="p13_icon25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171950" y="5943600"/>
            <a:ext cx="342900" cy="352425"/>
          </a:xfrm>
          <a:prstGeom prst="rect">
            <a:avLst/>
          </a:prstGeom>
        </p:spPr>
      </p:pic>
      <p:pic>
        <p:nvPicPr>
          <p:cNvPr id="69" name="独立图标或流程线" descr="p13_icon26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238625" y="6438900"/>
            <a:ext cx="171450" cy="180975"/>
          </a:xfrm>
          <a:prstGeom prst="rect">
            <a:avLst/>
          </a:prstGeom>
        </p:spPr>
      </p:pic>
      <p:pic>
        <p:nvPicPr>
          <p:cNvPr id="70" name="独立图标或流程线" descr="p13_icon27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334375" y="6438900"/>
            <a:ext cx="171450" cy="180975"/>
          </a:xfrm>
          <a:prstGeom prst="rect">
            <a:avLst/>
          </a:prstGeom>
        </p:spPr>
      </p:pic>
      <p:pic>
        <p:nvPicPr>
          <p:cNvPr id="71" name="独立图标或流程线" descr="p13_icon28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2306300" y="6438900"/>
            <a:ext cx="180975" cy="180975"/>
          </a:xfrm>
          <a:prstGeom prst="rect">
            <a:avLst/>
          </a:prstGeom>
        </p:spPr>
      </p:pic>
      <p:pic>
        <p:nvPicPr>
          <p:cNvPr id="72" name="独立图标或流程线" descr="p13_icon29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1439525" y="6629400"/>
            <a:ext cx="85725" cy="180975"/>
          </a:xfrm>
          <a:prstGeom prst="rect">
            <a:avLst/>
          </a:prstGeom>
        </p:spPr>
      </p:pic>
      <p:pic>
        <p:nvPicPr>
          <p:cNvPr id="73" name="独立图标或流程线" descr="p13_icon30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4238625" y="6724650"/>
            <a:ext cx="171450" cy="190500"/>
          </a:xfrm>
          <a:prstGeom prst="rect">
            <a:avLst/>
          </a:prstGeom>
        </p:spPr>
      </p:pic>
      <p:pic>
        <p:nvPicPr>
          <p:cNvPr id="74" name="独立图标或流程线" descr="p13_icon31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8334375" y="6724650"/>
            <a:ext cx="171450" cy="180975"/>
          </a:xfrm>
          <a:prstGeom prst="rect">
            <a:avLst/>
          </a:prstGeom>
        </p:spPr>
      </p:pic>
      <p:pic>
        <p:nvPicPr>
          <p:cNvPr id="75" name="独立图标或流程线" descr="p13_icon32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12306300" y="6734175"/>
            <a:ext cx="180975" cy="180975"/>
          </a:xfrm>
          <a:prstGeom prst="rect">
            <a:avLst/>
          </a:prstGeom>
        </p:spPr>
      </p:pic>
      <p:pic>
        <p:nvPicPr>
          <p:cNvPr id="76" name="独立图标或流程线" descr="p13_icon33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11439525" y="6981825"/>
            <a:ext cx="85725" cy="285750"/>
          </a:xfrm>
          <a:prstGeom prst="rect">
            <a:avLst/>
          </a:prstGeom>
        </p:spPr>
      </p:pic>
      <p:pic>
        <p:nvPicPr>
          <p:cNvPr id="77" name="独立图标或流程线" descr="p13_icon34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4238625" y="7019925"/>
            <a:ext cx="171450" cy="180975"/>
          </a:xfrm>
          <a:prstGeom prst="rect">
            <a:avLst/>
          </a:prstGeom>
        </p:spPr>
      </p:pic>
      <p:pic>
        <p:nvPicPr>
          <p:cNvPr id="78" name="独立图标或流程线" descr="p13_icon35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8334375" y="7019925"/>
            <a:ext cx="171450" cy="180975"/>
          </a:xfrm>
          <a:prstGeom prst="rect">
            <a:avLst/>
          </a:prstGeom>
        </p:spPr>
      </p:pic>
      <p:pic>
        <p:nvPicPr>
          <p:cNvPr id="79" name="独立图标或流程线" descr="p13_icon36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12306300" y="7019925"/>
            <a:ext cx="180975" cy="180975"/>
          </a:xfrm>
          <a:prstGeom prst="rect">
            <a:avLst/>
          </a:prstGeom>
        </p:spPr>
      </p:pic>
      <p:sp>
        <p:nvSpPr>
          <p:cNvPr id="80" name="文字：项目将在相同原料、相同后处理条件下，设置A/B/C三组对照试验，通过过"/>
          <p:cNvSpPr txBox="1"/>
          <p:nvPr/>
        </p:nvSpPr>
        <p:spPr>
          <a:xfrm>
            <a:off x="3886200" y="1628775"/>
            <a:ext cx="11049000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75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项目将在相同原料、相同后处理条件下，设置A/B/C三组对照试验，通过过程数据与成茶品质的综合评价，</a:t>
            </a:r>
            <a:endParaRPr sz="175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1" name="文字：验证智能化系统是否能够提升做青过程的质量稳定性与工艺可控性。"/>
          <p:cNvSpPr txBox="1"/>
          <p:nvPr/>
        </p:nvSpPr>
        <p:spPr>
          <a:xfrm>
            <a:off x="3886200" y="1971675"/>
            <a:ext cx="695325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验证智能化系统是否能够提升做青过程的质量稳定性与工艺可控性。</a:t>
            </a:r>
            <a:endParaRPr sz="15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2" name="文字：A组丨老师傅传统做青"/>
          <p:cNvSpPr txBox="1"/>
          <p:nvPr/>
        </p:nvSpPr>
        <p:spPr>
          <a:xfrm>
            <a:off x="4095750" y="2514600"/>
            <a:ext cx="2562225" cy="3714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050"/>
              </a:lnSpc>
              <a:spcBef>
                <a:spcPts val="0"/>
              </a:spcBef>
              <a:spcAft>
                <a:spcPts val="0"/>
              </a:spcAft>
            </a:pPr>
            <a:r>
              <a:rPr sz="205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A组丨老师傅传统做青</a:t>
            </a:r>
            <a:endParaRPr sz="205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3" name="文字：B组丨固定程序自动做青"/>
          <p:cNvSpPr txBox="1"/>
          <p:nvPr/>
        </p:nvSpPr>
        <p:spPr>
          <a:xfrm>
            <a:off x="7991475" y="2514600"/>
            <a:ext cx="2838450" cy="3714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065"/>
              </a:lnSpc>
              <a:spcBef>
                <a:spcPts val="0"/>
              </a:spcBef>
              <a:spcAft>
                <a:spcPts val="0"/>
              </a:spcAft>
            </a:pPr>
            <a:r>
              <a:rPr sz="2065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B组丨固定程序自动做青</a:t>
            </a:r>
            <a:endParaRPr sz="2065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4" name="文字：C组丨青韵智控状态驱动做青"/>
          <p:cNvSpPr txBox="1"/>
          <p:nvPr/>
        </p:nvSpPr>
        <p:spPr>
          <a:xfrm>
            <a:off x="11839575" y="2514600"/>
            <a:ext cx="33147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035"/>
              </a:lnSpc>
              <a:spcBef>
                <a:spcPts val="0"/>
              </a:spcBef>
              <a:spcAft>
                <a:spcPts val="0"/>
              </a:spcAft>
            </a:pPr>
            <a:r>
              <a:rPr sz="2035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C组丨青韵智控状态驱动做青</a:t>
            </a:r>
            <a:endParaRPr sz="2035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5" name="文字：依经验判断翻动时机"/>
          <p:cNvSpPr txBox="1"/>
          <p:nvPr/>
        </p:nvSpPr>
        <p:spPr>
          <a:xfrm>
            <a:off x="5514975" y="3152775"/>
            <a:ext cx="1866900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15"/>
              </a:lnSpc>
              <a:spcBef>
                <a:spcPts val="0"/>
              </a:spcBef>
              <a:spcAft>
                <a:spcPts val="0"/>
              </a:spcAft>
            </a:pPr>
            <a:r>
              <a:rPr sz="141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依经验判断翻动时机</a:t>
            </a:r>
            <a:endParaRPr sz="141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6" name="文字：• 按预设时间表执行"/>
          <p:cNvSpPr txBox="1"/>
          <p:nvPr/>
        </p:nvSpPr>
        <p:spPr>
          <a:xfrm>
            <a:off x="9229725" y="3152775"/>
            <a:ext cx="1819275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15"/>
              </a:lnSpc>
              <a:spcBef>
                <a:spcPts val="0"/>
              </a:spcBef>
              <a:spcAft>
                <a:spcPts val="0"/>
              </a:spcAft>
            </a:pPr>
            <a:r>
              <a:rPr sz="141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• 按预设时间表执行</a:t>
            </a:r>
            <a:endParaRPr sz="141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7" name="文字：多模态感知状态"/>
          <p:cNvSpPr txBox="1"/>
          <p:nvPr/>
        </p:nvSpPr>
        <p:spPr>
          <a:xfrm>
            <a:off x="13325475" y="3162300"/>
            <a:ext cx="150495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多模态感知状态</a:t>
            </a:r>
            <a:endParaRPr sz="15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8" name="文字：人工控制强度与静置"/>
          <p:cNvSpPr txBox="1"/>
          <p:nvPr/>
        </p:nvSpPr>
        <p:spPr>
          <a:xfrm>
            <a:off x="5505450" y="3486150"/>
            <a:ext cx="1876425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15"/>
              </a:lnSpc>
              <a:spcBef>
                <a:spcPts val="0"/>
              </a:spcBef>
              <a:spcAft>
                <a:spcPts val="0"/>
              </a:spcAft>
            </a:pPr>
            <a:r>
              <a:rPr sz="141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人工控制强度与静置</a:t>
            </a:r>
            <a:endParaRPr sz="141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9" name="文字：• 参数固定不随状态变化"/>
          <p:cNvSpPr txBox="1"/>
          <p:nvPr/>
        </p:nvSpPr>
        <p:spPr>
          <a:xfrm>
            <a:off x="9258300" y="3486150"/>
            <a:ext cx="2162175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15"/>
              </a:lnSpc>
              <a:spcBef>
                <a:spcPts val="0"/>
              </a:spcBef>
              <a:spcAft>
                <a:spcPts val="0"/>
              </a:spcAft>
            </a:pPr>
            <a:r>
              <a:rPr sz="141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• 参数固定不随状态变化</a:t>
            </a:r>
            <a:endParaRPr sz="141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0" name="文字：动态生成做青建议/参数"/>
          <p:cNvSpPr txBox="1"/>
          <p:nvPr/>
        </p:nvSpPr>
        <p:spPr>
          <a:xfrm>
            <a:off x="13344525" y="3495675"/>
            <a:ext cx="2152650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15"/>
              </a:lnSpc>
              <a:spcBef>
                <a:spcPts val="0"/>
              </a:spcBef>
              <a:spcAft>
                <a:spcPts val="0"/>
              </a:spcAft>
            </a:pPr>
            <a:r>
              <a:rPr sz="141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动态生成做青建议/参数</a:t>
            </a:r>
            <a:endParaRPr sz="141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1" name="文字：作为品质基准组"/>
          <p:cNvSpPr txBox="1"/>
          <p:nvPr/>
        </p:nvSpPr>
        <p:spPr>
          <a:xfrm>
            <a:off x="5514975" y="3819525"/>
            <a:ext cx="1476375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15"/>
              </a:lnSpc>
              <a:spcBef>
                <a:spcPts val="0"/>
              </a:spcBef>
              <a:spcAft>
                <a:spcPts val="0"/>
              </a:spcAft>
            </a:pPr>
            <a:r>
              <a:rPr sz="141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作为品质基准组</a:t>
            </a:r>
            <a:endParaRPr sz="141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2" name="文字：作为自动化对照组"/>
          <p:cNvSpPr txBox="1"/>
          <p:nvPr/>
        </p:nvSpPr>
        <p:spPr>
          <a:xfrm>
            <a:off x="9277350" y="3810000"/>
            <a:ext cx="1781175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作为自动化对照组</a:t>
            </a:r>
            <a:endParaRPr sz="15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3" name="文字：作为核心验证组"/>
          <p:cNvSpPr txBox="1"/>
          <p:nvPr/>
        </p:nvSpPr>
        <p:spPr>
          <a:xfrm>
            <a:off x="13344525" y="3810000"/>
            <a:ext cx="148590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作为核心验证组</a:t>
            </a:r>
            <a:endParaRPr sz="15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4" name="文字：统一控制条件"/>
          <p:cNvSpPr txBox="1"/>
          <p:nvPr/>
        </p:nvSpPr>
        <p:spPr>
          <a:xfrm>
            <a:off x="3857625" y="4276725"/>
            <a:ext cx="1809750" cy="3714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260"/>
              </a:lnSpc>
              <a:spcBef>
                <a:spcPts val="0"/>
              </a:spcBef>
              <a:spcAft>
                <a:spcPts val="0"/>
              </a:spcAft>
            </a:pPr>
            <a:r>
              <a:rPr sz="226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统一控制条件</a:t>
            </a:r>
            <a:endParaRPr sz="226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5" name="文字：同品种鲜叶"/>
          <p:cNvSpPr txBox="1"/>
          <p:nvPr/>
        </p:nvSpPr>
        <p:spPr>
          <a:xfrm>
            <a:off x="4638675" y="4905375"/>
            <a:ext cx="102870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85"/>
              </a:lnSpc>
              <a:spcBef>
                <a:spcPts val="0"/>
              </a:spcBef>
              <a:spcAft>
                <a:spcPts val="0"/>
              </a:spcAft>
            </a:pPr>
            <a:r>
              <a:rPr sz="148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同品种鲜叶</a:t>
            </a:r>
            <a:endParaRPr sz="148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6" name="文字：同采摘标准"/>
          <p:cNvSpPr txBox="1"/>
          <p:nvPr/>
        </p:nvSpPr>
        <p:spPr>
          <a:xfrm>
            <a:off x="6896100" y="4914900"/>
            <a:ext cx="1047750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15"/>
              </a:lnSpc>
              <a:spcBef>
                <a:spcPts val="0"/>
              </a:spcBef>
              <a:spcAft>
                <a:spcPts val="0"/>
              </a:spcAft>
            </a:pPr>
            <a:r>
              <a:rPr sz="151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同采摘标准</a:t>
            </a:r>
            <a:endParaRPr sz="151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7" name="文字：同杀青揉捻烘焙"/>
          <p:cNvSpPr txBox="1"/>
          <p:nvPr/>
        </p:nvSpPr>
        <p:spPr>
          <a:xfrm>
            <a:off x="9163050" y="4924425"/>
            <a:ext cx="1390650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15"/>
              </a:lnSpc>
              <a:spcBef>
                <a:spcPts val="0"/>
              </a:spcBef>
              <a:spcAft>
                <a:spcPts val="0"/>
              </a:spcAft>
            </a:pPr>
            <a:r>
              <a:rPr sz="141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同杀青揉捻烘焙</a:t>
            </a:r>
            <a:endParaRPr sz="141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8" name="文字：随机分组"/>
          <p:cNvSpPr txBox="1"/>
          <p:nvPr/>
        </p:nvSpPr>
        <p:spPr>
          <a:xfrm>
            <a:off x="11839575" y="4905375"/>
            <a:ext cx="876300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55"/>
              </a:lnSpc>
              <a:spcBef>
                <a:spcPts val="0"/>
              </a:spcBef>
              <a:spcAft>
                <a:spcPts val="0"/>
              </a:spcAft>
            </a:pPr>
            <a:r>
              <a:rPr sz="155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随机分组</a:t>
            </a:r>
            <a:endParaRPr sz="155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9" name="文字：同一评价流程"/>
          <p:cNvSpPr txBox="1"/>
          <p:nvPr/>
        </p:nvSpPr>
        <p:spPr>
          <a:xfrm>
            <a:off x="14201775" y="4914900"/>
            <a:ext cx="1228725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同一评价流程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0" name="文字：评价指标体系"/>
          <p:cNvSpPr txBox="1"/>
          <p:nvPr/>
        </p:nvSpPr>
        <p:spPr>
          <a:xfrm>
            <a:off x="3876675" y="5495925"/>
            <a:ext cx="1771650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9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评价指标体系</a:t>
            </a:r>
            <a:endParaRPr sz="209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1" name="文字：过程指标"/>
          <p:cNvSpPr txBox="1"/>
          <p:nvPr/>
        </p:nvSpPr>
        <p:spPr>
          <a:xfrm>
            <a:off x="4514850" y="5943600"/>
            <a:ext cx="1257300" cy="3524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216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过程指标</a:t>
            </a:r>
            <a:endParaRPr sz="216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2" name="文字：品质指标"/>
          <p:cNvSpPr txBox="1"/>
          <p:nvPr/>
        </p:nvSpPr>
        <p:spPr>
          <a:xfrm>
            <a:off x="8801100" y="5962650"/>
            <a:ext cx="1038225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品质指标</a:t>
            </a:r>
            <a:endParaRPr sz="1875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3" name="文字：验证输出"/>
          <p:cNvSpPr txBox="1"/>
          <p:nvPr/>
        </p:nvSpPr>
        <p:spPr>
          <a:xfrm>
            <a:off x="12725400" y="5972175"/>
            <a:ext cx="10287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82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验证输出</a:t>
            </a:r>
            <a:endParaRPr sz="182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4" name="文字：状态识别一致性"/>
          <p:cNvSpPr txBox="1"/>
          <p:nvPr/>
        </p:nvSpPr>
        <p:spPr>
          <a:xfrm>
            <a:off x="4514850" y="6400800"/>
            <a:ext cx="152400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状态识别一致性</a:t>
            </a:r>
            <a:endParaRPr sz="15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5" name="文字：感官审评"/>
          <p:cNvSpPr txBox="1"/>
          <p:nvPr/>
        </p:nvSpPr>
        <p:spPr>
          <a:xfrm>
            <a:off x="8610600" y="6362700"/>
            <a:ext cx="952500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705"/>
              </a:lnSpc>
              <a:spcBef>
                <a:spcPts val="0"/>
              </a:spcBef>
              <a:spcAft>
                <a:spcPts val="0"/>
              </a:spcAft>
            </a:pPr>
            <a:r>
              <a:rPr sz="1705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感官审评</a:t>
            </a:r>
            <a:endParaRPr sz="1705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6" name="文字：A/B/C结果对比"/>
          <p:cNvSpPr txBox="1"/>
          <p:nvPr/>
        </p:nvSpPr>
        <p:spPr>
          <a:xfrm>
            <a:off x="12592050" y="6381750"/>
            <a:ext cx="1600200" cy="3143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835"/>
              </a:lnSpc>
              <a:spcBef>
                <a:spcPts val="0"/>
              </a:spcBef>
              <a:spcAft>
                <a:spcPts val="0"/>
              </a:spcAft>
            </a:pPr>
            <a:r>
              <a:rPr sz="1835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A/B/C结果对比</a:t>
            </a:r>
            <a:endParaRPr sz="1835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7" name="文字：做青时机偏差"/>
          <p:cNvSpPr txBox="1"/>
          <p:nvPr/>
        </p:nvSpPr>
        <p:spPr>
          <a:xfrm>
            <a:off x="4505325" y="6686550"/>
            <a:ext cx="133350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做青时机偏差</a:t>
            </a:r>
            <a:endParaRPr sz="15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8" name="文字：香气与滋味评分"/>
          <p:cNvSpPr txBox="1"/>
          <p:nvPr/>
        </p:nvSpPr>
        <p:spPr>
          <a:xfrm>
            <a:off x="8629650" y="6686550"/>
            <a:ext cx="1514475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香气与滋味评分</a:t>
            </a:r>
            <a:endParaRPr sz="15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9" name="文字：是否降低波动"/>
          <p:cNvSpPr txBox="1"/>
          <p:nvPr/>
        </p:nvSpPr>
        <p:spPr>
          <a:xfrm>
            <a:off x="12601575" y="6686550"/>
            <a:ext cx="133350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是否降低波动</a:t>
            </a:r>
            <a:endParaRPr sz="15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0" name="文字：含水率/环境记录"/>
          <p:cNvSpPr txBox="1"/>
          <p:nvPr/>
        </p:nvSpPr>
        <p:spPr>
          <a:xfrm>
            <a:off x="4514850" y="6972300"/>
            <a:ext cx="1638300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630"/>
              </a:lnSpc>
              <a:spcBef>
                <a:spcPts val="0"/>
              </a:spcBef>
              <a:spcAft>
                <a:spcPts val="0"/>
              </a:spcAft>
            </a:pPr>
            <a:r>
              <a:rPr sz="163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含水率/环境记录</a:t>
            </a:r>
            <a:endParaRPr sz="163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1" name="文字：批次稳定性"/>
          <p:cNvSpPr txBox="1"/>
          <p:nvPr/>
        </p:nvSpPr>
        <p:spPr>
          <a:xfrm>
            <a:off x="8620125" y="6972300"/>
            <a:ext cx="1133475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批次稳定性</a:t>
            </a:r>
            <a:endParaRPr sz="162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2" name="文字：是否具备推广价值"/>
          <p:cNvSpPr txBox="1"/>
          <p:nvPr/>
        </p:nvSpPr>
        <p:spPr>
          <a:xfrm>
            <a:off x="12601575" y="6991350"/>
            <a:ext cx="173355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是否具备推广价值</a:t>
            </a:r>
            <a:endParaRPr sz="15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3" name="文字：真正的验证，不是参数更复杂，而是最终茶更稳定、更可复制"/>
          <p:cNvSpPr txBox="1"/>
          <p:nvPr/>
        </p:nvSpPr>
        <p:spPr>
          <a:xfrm>
            <a:off x="6296025" y="7822266"/>
            <a:ext cx="6486525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真正的验证，不是参数更复杂，而是最终茶更稳定、更可复制</a:t>
            </a:r>
            <a:endParaRPr sz="1550" b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4" name="文字：当前以试验设计与验证框架展示为主，具体结果待实测数据形成后补充。"/>
          <p:cNvSpPr txBox="1"/>
          <p:nvPr/>
        </p:nvSpPr>
        <p:spPr>
          <a:xfrm>
            <a:off x="6734175" y="8162925"/>
            <a:ext cx="5638800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当前以试验设计与验证框架展示为主，具体结果待实测数据形成后补充。</a:t>
            </a:r>
            <a:endParaRPr sz="13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共享背景：原图茶园风景（无内容组件）" descr="landscap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5925800" cy="8963025"/>
          </a:xfrm>
          <a:prstGeom prst="rect">
            <a:avLst/>
          </a:prstGeom>
        </p:spPr>
      </p:pic>
      <p:sp>
        <p:nvSpPr>
          <p:cNvPr id="3" name="可编辑框架"/>
          <p:cNvSpPr/>
          <p:nvPr/>
        </p:nvSpPr>
        <p:spPr>
          <a:xfrm>
            <a:off x="0" y="0"/>
            <a:ext cx="15925800" cy="723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：青韵智控"/>
          <p:cNvSpPr txBox="1"/>
          <p:nvPr/>
        </p:nvSpPr>
        <p:spPr>
          <a:xfrm>
            <a:off x="361950" y="190500"/>
            <a:ext cx="13335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73F32"/>
                </a:solidFill>
                <a:latin typeface="微软雅黑" panose="020B0503020204020204" charset="-122"/>
                <a:ea typeface="微软雅黑" panose="020B0503020204020204" charset="-122"/>
              </a:rPr>
              <a:t>青韵智控</a:t>
            </a:r>
            <a:endParaRPr sz="2400" b="1">
              <a:solidFill>
                <a:srgbClr val="073F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1819275" y="257175"/>
            <a:ext cx="0" cy="2762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字：让传统制茶更可控"/>
          <p:cNvSpPr txBox="1"/>
          <p:nvPr/>
        </p:nvSpPr>
        <p:spPr>
          <a:xfrm>
            <a:off x="2076450" y="238125"/>
            <a:ext cx="2190750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让传统制茶更可控</a:t>
            </a:r>
            <a:endParaRPr sz="18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文字：项目背景"/>
          <p:cNvSpPr txBox="1"/>
          <p:nvPr/>
        </p:nvSpPr>
        <p:spPr>
          <a:xfrm>
            <a:off x="8515350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项目背景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9486900" y="323850"/>
            <a:ext cx="0" cy="1619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字：项目概述"/>
          <p:cNvSpPr txBox="1"/>
          <p:nvPr/>
        </p:nvSpPr>
        <p:spPr>
          <a:xfrm>
            <a:off x="9648825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项目概述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10620375" y="323850"/>
            <a:ext cx="0" cy="1619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字：关键技术"/>
          <p:cNvSpPr txBox="1"/>
          <p:nvPr/>
        </p:nvSpPr>
        <p:spPr>
          <a:xfrm>
            <a:off x="10782300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关键技术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11753850" y="323850"/>
            <a:ext cx="0" cy="1619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字：实施与验证"/>
          <p:cNvSpPr txBox="1"/>
          <p:nvPr/>
        </p:nvSpPr>
        <p:spPr>
          <a:xfrm>
            <a:off x="11915775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实施与验证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4" name="Connector 13"/>
          <p:cNvCxnSpPr/>
          <p:nvPr/>
        </p:nvCxnSpPr>
        <p:spPr>
          <a:xfrm>
            <a:off x="12887325" y="323850"/>
            <a:ext cx="0" cy="1619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字：商业模式"/>
          <p:cNvSpPr txBox="1"/>
          <p:nvPr/>
        </p:nvSpPr>
        <p:spPr>
          <a:xfrm>
            <a:off x="13049250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商业模式</a:t>
            </a:r>
            <a:endParaRPr sz="150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14020800" y="323850"/>
            <a:ext cx="0" cy="1619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3287375" y="628650"/>
            <a:ext cx="381000" cy="0"/>
          </a:xfrm>
          <a:prstGeom prst="line">
            <a:avLst/>
          </a:prstGeom>
          <a:ln w="19050">
            <a:solidFill>
              <a:srgbClr val="073F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字：未来展望"/>
          <p:cNvSpPr txBox="1"/>
          <p:nvPr/>
        </p:nvSpPr>
        <p:spPr>
          <a:xfrm>
            <a:off x="14182725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未来展望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9" name="文字：14"/>
          <p:cNvSpPr txBox="1"/>
          <p:nvPr/>
        </p:nvSpPr>
        <p:spPr>
          <a:xfrm>
            <a:off x="15163800" y="257175"/>
            <a:ext cx="428625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950" b="0">
                <a:solidFill>
                  <a:srgbClr val="073F32"/>
                </a:solidFill>
                <a:latin typeface="Times New Roman" panose="02020603050405020304"/>
                <a:ea typeface="Times New Roman" panose="02020603050405020304"/>
              </a:rPr>
              <a:t>14</a:t>
            </a:r>
            <a:endParaRPr sz="1950" b="0">
              <a:solidFill>
                <a:srgbClr val="073F32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cxnSp>
        <p:nvCxnSpPr>
          <p:cNvPr id="20" name="Connector 19"/>
          <p:cNvCxnSpPr/>
          <p:nvPr/>
        </p:nvCxnSpPr>
        <p:spPr>
          <a:xfrm>
            <a:off x="0" y="723900"/>
            <a:ext cx="15725775" cy="0"/>
          </a:xfrm>
          <a:prstGeom prst="line">
            <a:avLst/>
          </a:prstGeom>
          <a:ln w="9525">
            <a:solidFill>
              <a:srgbClr val="C7D8D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571875" y="990600"/>
            <a:ext cx="0" cy="6896100"/>
          </a:xfrm>
          <a:prstGeom prst="line">
            <a:avLst/>
          </a:prstGeom>
          <a:ln w="9525">
            <a:solidFill>
              <a:srgbClr val="A4BCB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字：05"/>
          <p:cNvSpPr txBox="1"/>
          <p:nvPr/>
        </p:nvSpPr>
        <p:spPr>
          <a:xfrm>
            <a:off x="457200" y="1409700"/>
            <a:ext cx="2286000" cy="1666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500"/>
              </a:lnSpc>
              <a:spcBef>
                <a:spcPts val="0"/>
              </a:spcBef>
              <a:spcAft>
                <a:spcPts val="0"/>
              </a:spcAft>
            </a:pPr>
            <a:r>
              <a:rPr sz="13500" b="1" i="1">
                <a:solidFill>
                  <a:srgbClr val="073F32"/>
                </a:solidFill>
                <a:latin typeface="Times New Roman" panose="02020603050405020304"/>
                <a:ea typeface="Times New Roman" panose="02020603050405020304"/>
              </a:rPr>
              <a:t>05</a:t>
            </a:r>
            <a:endParaRPr sz="13500" b="1" i="1">
              <a:solidFill>
                <a:srgbClr val="073F32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cxnSp>
        <p:nvCxnSpPr>
          <p:cNvPr id="23" name="Connector 22"/>
          <p:cNvCxnSpPr/>
          <p:nvPr/>
        </p:nvCxnSpPr>
        <p:spPr>
          <a:xfrm flipV="1">
            <a:off x="2619375" y="1704975"/>
            <a:ext cx="514350" cy="1190625"/>
          </a:xfrm>
          <a:prstGeom prst="line">
            <a:avLst/>
          </a:prstGeom>
          <a:ln w="11429">
            <a:solidFill>
              <a:srgbClr val="073F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字：商业模式"/>
          <p:cNvSpPr txBox="1"/>
          <p:nvPr/>
        </p:nvSpPr>
        <p:spPr>
          <a:xfrm>
            <a:off x="485775" y="3114675"/>
            <a:ext cx="3000375" cy="838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5250"/>
              </a:lnSpc>
              <a:spcBef>
                <a:spcPts val="0"/>
              </a:spcBef>
              <a:spcAft>
                <a:spcPts val="0"/>
              </a:spcAft>
            </a:pPr>
            <a:r>
              <a:rPr sz="525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商业模式</a:t>
            </a:r>
            <a:endParaRPr sz="525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5" name="文字：应用场景、目标客户&#10;与商业路径"/>
          <p:cNvSpPr txBox="1"/>
          <p:nvPr/>
        </p:nvSpPr>
        <p:spPr>
          <a:xfrm>
            <a:off x="552450" y="4076700"/>
            <a:ext cx="2905125" cy="838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sz="217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应用场景、目标客户</a:t>
            </a:r>
            <a:br>
              <a:rPr sz="217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sz="217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与商业路径</a:t>
            </a:r>
            <a:endParaRPr sz="217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26" name="Connector 25"/>
          <p:cNvCxnSpPr/>
          <p:nvPr/>
        </p:nvCxnSpPr>
        <p:spPr>
          <a:xfrm>
            <a:off x="552450" y="5076825"/>
            <a:ext cx="400050" cy="0"/>
          </a:xfrm>
          <a:prstGeom prst="line">
            <a:avLst/>
          </a:prstGeom>
          <a:ln w="9525">
            <a:solidFill>
              <a:srgbClr val="073F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字：“让好技术真正走进产区。”"/>
          <p:cNvSpPr txBox="1"/>
          <p:nvPr/>
        </p:nvSpPr>
        <p:spPr>
          <a:xfrm>
            <a:off x="457200" y="5314950"/>
            <a:ext cx="2990850" cy="1095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780" b="0">
                <a:solidFill>
                  <a:srgbClr val="073F32"/>
                </a:solidFill>
                <a:latin typeface="楷体" panose="02010609060101010101" charset="-122"/>
                <a:ea typeface="楷体" panose="02010609060101010101" charset="-122"/>
              </a:rPr>
              <a:t>“让好技术真正走进产区。”</a:t>
            </a:r>
            <a:endParaRPr sz="1780" b="0">
              <a:solidFill>
                <a:srgbClr val="073F32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28" name="文字：中 国 茶 · 产 业 智 造 · 中 国 未 来"/>
          <p:cNvSpPr txBox="1"/>
          <p:nvPr/>
        </p:nvSpPr>
        <p:spPr>
          <a:xfrm>
            <a:off x="11791950" y="8439150"/>
            <a:ext cx="3619500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 国 茶 · 产 业 智 造 · 中 国 未 来</a:t>
            </a:r>
            <a:endParaRPr sz="13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9" name="文字：5.1 商业模式"/>
          <p:cNvSpPr txBox="1"/>
          <p:nvPr/>
        </p:nvSpPr>
        <p:spPr>
          <a:xfrm>
            <a:off x="3867150" y="981075"/>
            <a:ext cx="2447925" cy="514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3150"/>
              </a:lnSpc>
              <a:spcBef>
                <a:spcPts val="0"/>
              </a:spcBef>
              <a:spcAft>
                <a:spcPts val="0"/>
              </a:spcAft>
            </a:pPr>
            <a:r>
              <a:rPr sz="315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5.1 商业模式</a:t>
            </a:r>
            <a:endParaRPr sz="315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30" name="Connector 29"/>
          <p:cNvCxnSpPr/>
          <p:nvPr/>
        </p:nvCxnSpPr>
        <p:spPr>
          <a:xfrm>
            <a:off x="6400800" y="1085850"/>
            <a:ext cx="0" cy="304800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字：面向茶产业的可持续落地路径"/>
          <p:cNvSpPr txBox="1"/>
          <p:nvPr/>
        </p:nvSpPr>
        <p:spPr>
          <a:xfrm>
            <a:off x="6572250" y="1038225"/>
            <a:ext cx="8934450" cy="4476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面向茶产业的可持续落地路径</a:t>
            </a:r>
            <a:endParaRPr sz="210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2" name="可编辑框架"/>
          <p:cNvSpPr/>
          <p:nvPr/>
        </p:nvSpPr>
        <p:spPr>
          <a:xfrm>
            <a:off x="7839075" y="3019425"/>
            <a:ext cx="3705225" cy="781050"/>
          </a:xfrm>
          <a:prstGeom prst="roundRect">
            <a:avLst>
              <a:gd name="adj" fmla="val 2500"/>
            </a:avLst>
          </a:prstGeom>
          <a:solidFill>
            <a:srgbClr val="F2F9F6"/>
          </a:solidFill>
          <a:ln>
            <a:solidFill>
              <a:srgbClr val="C8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可编辑框架"/>
          <p:cNvSpPr/>
          <p:nvPr/>
        </p:nvSpPr>
        <p:spPr>
          <a:xfrm>
            <a:off x="7839075" y="3924300"/>
            <a:ext cx="3705225" cy="885825"/>
          </a:xfrm>
          <a:prstGeom prst="roundRect">
            <a:avLst>
              <a:gd name="adj" fmla="val 2500"/>
            </a:avLst>
          </a:prstGeom>
          <a:solidFill>
            <a:srgbClr val="F2F9F6"/>
          </a:solidFill>
          <a:ln>
            <a:solidFill>
              <a:srgbClr val="C8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可编辑框架"/>
          <p:cNvSpPr/>
          <p:nvPr/>
        </p:nvSpPr>
        <p:spPr>
          <a:xfrm>
            <a:off x="7839075" y="4943475"/>
            <a:ext cx="3705225" cy="1114425"/>
          </a:xfrm>
          <a:prstGeom prst="roundRect">
            <a:avLst>
              <a:gd name="adj" fmla="val 2500"/>
            </a:avLst>
          </a:prstGeom>
          <a:solidFill>
            <a:srgbClr val="F2F9F6"/>
          </a:solidFill>
          <a:ln>
            <a:solidFill>
              <a:srgbClr val="C8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可编辑框架"/>
          <p:cNvSpPr/>
          <p:nvPr/>
        </p:nvSpPr>
        <p:spPr>
          <a:xfrm>
            <a:off x="3867150" y="2428875"/>
            <a:ext cx="3552825" cy="457200"/>
          </a:xfrm>
          <a:prstGeom prst="rect">
            <a:avLst/>
          </a:prstGeom>
          <a:solidFill>
            <a:srgbClr val="E2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可编辑框架"/>
          <p:cNvSpPr/>
          <p:nvPr/>
        </p:nvSpPr>
        <p:spPr>
          <a:xfrm>
            <a:off x="7839075" y="2428875"/>
            <a:ext cx="3790950" cy="457200"/>
          </a:xfrm>
          <a:prstGeom prst="rect">
            <a:avLst/>
          </a:prstGeom>
          <a:solidFill>
            <a:srgbClr val="E2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可编辑框架"/>
          <p:cNvSpPr/>
          <p:nvPr/>
        </p:nvSpPr>
        <p:spPr>
          <a:xfrm>
            <a:off x="11944350" y="2428875"/>
            <a:ext cx="3609975" cy="457200"/>
          </a:xfrm>
          <a:prstGeom prst="rect">
            <a:avLst/>
          </a:prstGeom>
          <a:solidFill>
            <a:srgbClr val="E2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可编辑框架"/>
          <p:cNvSpPr/>
          <p:nvPr/>
        </p:nvSpPr>
        <p:spPr>
          <a:xfrm>
            <a:off x="4543425" y="6715125"/>
            <a:ext cx="2619375" cy="361950"/>
          </a:xfrm>
          <a:prstGeom prst="rect">
            <a:avLst/>
          </a:prstGeom>
          <a:solidFill>
            <a:srgbClr val="E2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可编辑框架"/>
          <p:cNvSpPr/>
          <p:nvPr/>
        </p:nvSpPr>
        <p:spPr>
          <a:xfrm>
            <a:off x="8391525" y="6715125"/>
            <a:ext cx="2762250" cy="361950"/>
          </a:xfrm>
          <a:prstGeom prst="rect">
            <a:avLst/>
          </a:prstGeom>
          <a:solidFill>
            <a:srgbClr val="E2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可编辑框架"/>
          <p:cNvSpPr/>
          <p:nvPr/>
        </p:nvSpPr>
        <p:spPr>
          <a:xfrm>
            <a:off x="12687300" y="6715125"/>
            <a:ext cx="2828925" cy="361950"/>
          </a:xfrm>
          <a:prstGeom prst="rect">
            <a:avLst/>
          </a:prstGeom>
          <a:solidFill>
            <a:srgbClr val="E2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可编辑框架"/>
          <p:cNvSpPr/>
          <p:nvPr/>
        </p:nvSpPr>
        <p:spPr>
          <a:xfrm>
            <a:off x="3867150" y="7715250"/>
            <a:ext cx="11677650" cy="428625"/>
          </a:xfrm>
          <a:prstGeom prst="roundRect">
            <a:avLst>
              <a:gd name="adj" fmla="val 2500"/>
            </a:avLst>
          </a:prstGeom>
          <a:solidFill>
            <a:srgbClr val="095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独立照片或曲线图（内部为像素）" descr="p14_photo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9074" y="3019425"/>
            <a:ext cx="1743075" cy="781050"/>
          </a:xfrm>
          <a:prstGeom prst="rect">
            <a:avLst/>
          </a:prstGeom>
        </p:spPr>
      </p:pic>
      <p:pic>
        <p:nvPicPr>
          <p:cNvPr id="43" name="独立照片或曲线图（内部为像素）" descr="p14_photo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9074" y="3924300"/>
            <a:ext cx="1743075" cy="885825"/>
          </a:xfrm>
          <a:prstGeom prst="rect">
            <a:avLst/>
          </a:prstGeom>
        </p:spPr>
      </p:pic>
      <p:pic>
        <p:nvPicPr>
          <p:cNvPr id="44" name="独立照片或曲线图（内部为像素）" descr="p14_photo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9074" y="4943475"/>
            <a:ext cx="1743075" cy="1114425"/>
          </a:xfrm>
          <a:prstGeom prst="rect">
            <a:avLst/>
          </a:prstGeom>
        </p:spPr>
      </p:pic>
      <p:cxnSp>
        <p:nvCxnSpPr>
          <p:cNvPr id="45" name="Connector 44"/>
          <p:cNvCxnSpPr/>
          <p:nvPr/>
        </p:nvCxnSpPr>
        <p:spPr>
          <a:xfrm>
            <a:off x="7605712" y="2400300"/>
            <a:ext cx="0" cy="3714750"/>
          </a:xfrm>
          <a:prstGeom prst="line">
            <a:avLst/>
          </a:prstGeom>
          <a:ln w="9525">
            <a:solidFill>
              <a:srgbClr val="A6C5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6" name="独立图标或流程线" descr="p14_icon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44325" y="2447925"/>
            <a:ext cx="85725" cy="590550"/>
          </a:xfrm>
          <a:prstGeom prst="rect">
            <a:avLst/>
          </a:prstGeom>
        </p:spPr>
      </p:pic>
      <p:pic>
        <p:nvPicPr>
          <p:cNvPr id="47" name="独立图标或流程线" descr="p14_icon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44375" y="3095625"/>
            <a:ext cx="419100" cy="447675"/>
          </a:xfrm>
          <a:prstGeom prst="rect">
            <a:avLst/>
          </a:prstGeom>
        </p:spPr>
      </p:pic>
      <p:pic>
        <p:nvPicPr>
          <p:cNvPr id="48" name="独立图标或流程线" descr="p14_icon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86225" y="3114675"/>
            <a:ext cx="409575" cy="428625"/>
          </a:xfrm>
          <a:prstGeom prst="rect">
            <a:avLst/>
          </a:prstGeom>
        </p:spPr>
      </p:pic>
      <p:pic>
        <p:nvPicPr>
          <p:cNvPr id="49" name="独立图标或流程线" descr="p14_icon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76699" y="3876674"/>
            <a:ext cx="428625" cy="476250"/>
          </a:xfrm>
          <a:prstGeom prst="rect">
            <a:avLst/>
          </a:prstGeom>
        </p:spPr>
      </p:pic>
      <p:pic>
        <p:nvPicPr>
          <p:cNvPr id="50" name="独立图标或流程线" descr="p14_icon4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144375" y="3895725"/>
            <a:ext cx="419100" cy="428625"/>
          </a:xfrm>
          <a:prstGeom prst="rect">
            <a:avLst/>
          </a:prstGeom>
        </p:spPr>
      </p:pic>
      <p:pic>
        <p:nvPicPr>
          <p:cNvPr id="51" name="独立图标或流程线" descr="p14_icon5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163425" y="4705350"/>
            <a:ext cx="371475" cy="428625"/>
          </a:xfrm>
          <a:prstGeom prst="rect">
            <a:avLst/>
          </a:prstGeom>
        </p:spPr>
      </p:pic>
      <p:pic>
        <p:nvPicPr>
          <p:cNvPr id="52" name="独立图标或流程线" descr="p14_icon6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067175" y="4714875"/>
            <a:ext cx="457200" cy="400050"/>
          </a:xfrm>
          <a:prstGeom prst="rect">
            <a:avLst/>
          </a:prstGeom>
        </p:spPr>
      </p:pic>
      <p:pic>
        <p:nvPicPr>
          <p:cNvPr id="53" name="独立图标或流程线" descr="p14_icon7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076699" y="5495925"/>
            <a:ext cx="438150" cy="447675"/>
          </a:xfrm>
          <a:prstGeom prst="rect">
            <a:avLst/>
          </a:prstGeom>
        </p:spPr>
      </p:pic>
      <p:pic>
        <p:nvPicPr>
          <p:cNvPr id="54" name="独立图标或流程线" descr="p14_icon8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077700" y="5553075"/>
            <a:ext cx="552450" cy="390525"/>
          </a:xfrm>
          <a:prstGeom prst="rect">
            <a:avLst/>
          </a:prstGeom>
        </p:spPr>
      </p:pic>
      <p:cxnSp>
        <p:nvCxnSpPr>
          <p:cNvPr id="55" name="Connector 54"/>
          <p:cNvCxnSpPr/>
          <p:nvPr/>
        </p:nvCxnSpPr>
        <p:spPr>
          <a:xfrm>
            <a:off x="5181600" y="6419850"/>
            <a:ext cx="10382250" cy="0"/>
          </a:xfrm>
          <a:prstGeom prst="line">
            <a:avLst/>
          </a:prstGeom>
          <a:ln w="9525">
            <a:solidFill>
              <a:srgbClr val="86AA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6" name="独立图标或流程线" descr="p14_icon9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048124" y="6838950"/>
            <a:ext cx="428625" cy="438150"/>
          </a:xfrm>
          <a:prstGeom prst="rect">
            <a:avLst/>
          </a:prstGeom>
        </p:spPr>
      </p:pic>
      <p:pic>
        <p:nvPicPr>
          <p:cNvPr id="57" name="独立图标或流程线" descr="p14_icon10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962900" y="6829425"/>
            <a:ext cx="400050" cy="447675"/>
          </a:xfrm>
          <a:prstGeom prst="rect">
            <a:avLst/>
          </a:prstGeom>
        </p:spPr>
      </p:pic>
      <p:pic>
        <p:nvPicPr>
          <p:cNvPr id="58" name="独立图标或流程线" descr="p14_icon11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058650" y="6829425"/>
            <a:ext cx="419100" cy="447675"/>
          </a:xfrm>
          <a:prstGeom prst="rect">
            <a:avLst/>
          </a:prstGeom>
        </p:spPr>
      </p:pic>
      <p:pic>
        <p:nvPicPr>
          <p:cNvPr id="59" name="独立图标或流程线" descr="p14_icon12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381874" y="6905625"/>
            <a:ext cx="190500" cy="314325"/>
          </a:xfrm>
          <a:prstGeom prst="rect">
            <a:avLst/>
          </a:prstGeom>
        </p:spPr>
      </p:pic>
      <p:pic>
        <p:nvPicPr>
          <p:cNvPr id="60" name="独立图标或流程线" descr="p14_icon13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477625" y="6905625"/>
            <a:ext cx="190500" cy="314325"/>
          </a:xfrm>
          <a:prstGeom prst="rect">
            <a:avLst/>
          </a:prstGeom>
        </p:spPr>
      </p:pic>
      <p:pic>
        <p:nvPicPr>
          <p:cNvPr id="61" name="独立图标或流程线" descr="p14_icon14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781425" y="7410449"/>
            <a:ext cx="228600" cy="152400"/>
          </a:xfrm>
          <a:prstGeom prst="rect">
            <a:avLst/>
          </a:prstGeom>
        </p:spPr>
      </p:pic>
      <p:pic>
        <p:nvPicPr>
          <p:cNvPr id="62" name="独立图标或流程线" descr="p14_icon15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5544800" y="7448550"/>
            <a:ext cx="114300" cy="114300"/>
          </a:xfrm>
          <a:prstGeom prst="rect">
            <a:avLst/>
          </a:prstGeom>
        </p:spPr>
      </p:pic>
      <p:sp>
        <p:nvSpPr>
          <p:cNvPr id="63" name="文字：青韵智控面向凤凰单丛及名优茶做青场景，提供集感知硬件、决策软件与工艺服"/>
          <p:cNvSpPr txBox="1"/>
          <p:nvPr/>
        </p:nvSpPr>
        <p:spPr>
          <a:xfrm>
            <a:off x="3867150" y="1619250"/>
            <a:ext cx="11020425" cy="3143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830"/>
              </a:lnSpc>
              <a:spcBef>
                <a:spcPts val="0"/>
              </a:spcBef>
              <a:spcAft>
                <a:spcPts val="0"/>
              </a:spcAft>
            </a:pPr>
            <a:r>
              <a:rPr sz="183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青韵智控面向凤凰单丛及名优茶做青场景，提供集感知硬件、决策软件与工艺服务于一体的整体解决方案，</a:t>
            </a:r>
            <a:endParaRPr sz="183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4" name="文字：从示范产线起步，逐步向区域化、产业化服务落地，助力传统制茶向智能化、标"/>
          <p:cNvSpPr txBox="1"/>
          <p:nvPr/>
        </p:nvSpPr>
        <p:spPr>
          <a:xfrm>
            <a:off x="3876675" y="1952625"/>
            <a:ext cx="103251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82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从示范产线起步，逐步向区域化、产业化服务落地，助力传统制茶向智能化、标准化、可持续发展。</a:t>
            </a:r>
            <a:endParaRPr sz="182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5" name="文字：目标客户"/>
          <p:cNvSpPr txBox="1"/>
          <p:nvPr/>
        </p:nvSpPr>
        <p:spPr>
          <a:xfrm>
            <a:off x="4133850" y="2476500"/>
            <a:ext cx="1266825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325"/>
              </a:lnSpc>
              <a:spcBef>
                <a:spcPts val="0"/>
              </a:spcBef>
              <a:spcAft>
                <a:spcPts val="0"/>
              </a:spcAft>
            </a:pPr>
            <a:r>
              <a:rPr sz="2325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目标客户</a:t>
            </a:r>
            <a:endParaRPr sz="2325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6" name="文字：应用场景"/>
          <p:cNvSpPr txBox="1"/>
          <p:nvPr/>
        </p:nvSpPr>
        <p:spPr>
          <a:xfrm>
            <a:off x="8105775" y="2466975"/>
            <a:ext cx="127635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345"/>
              </a:lnSpc>
              <a:spcBef>
                <a:spcPts val="0"/>
              </a:spcBef>
              <a:spcAft>
                <a:spcPts val="0"/>
              </a:spcAft>
            </a:pPr>
            <a:r>
              <a:rPr sz="2345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应用场景</a:t>
            </a:r>
            <a:endParaRPr sz="2345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7" name="文字：盈利模式"/>
          <p:cNvSpPr txBox="1"/>
          <p:nvPr/>
        </p:nvSpPr>
        <p:spPr>
          <a:xfrm>
            <a:off x="12144375" y="2486025"/>
            <a:ext cx="1295400" cy="3714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295"/>
              </a:lnSpc>
              <a:spcBef>
                <a:spcPts val="0"/>
              </a:spcBef>
              <a:spcAft>
                <a:spcPts val="0"/>
              </a:spcAft>
            </a:pPr>
            <a:r>
              <a:rPr sz="2295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盈利模式</a:t>
            </a:r>
            <a:endParaRPr sz="2295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8" name="文字：茶叶生产企业"/>
          <p:cNvSpPr txBox="1"/>
          <p:nvPr/>
        </p:nvSpPr>
        <p:spPr>
          <a:xfrm>
            <a:off x="4905375" y="3048000"/>
            <a:ext cx="142875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</a:pPr>
            <a:r>
              <a:rPr sz="168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茶叶生产企业</a:t>
            </a:r>
            <a:endParaRPr sz="168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9" name="文字：设备销售"/>
          <p:cNvSpPr txBox="1"/>
          <p:nvPr/>
        </p:nvSpPr>
        <p:spPr>
          <a:xfrm>
            <a:off x="12906375" y="3038475"/>
            <a:ext cx="100012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设备销售</a:t>
            </a:r>
            <a:endParaRPr sz="18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0" name="文字：名优茶（凤凰单丛等）"/>
          <p:cNvSpPr txBox="1"/>
          <p:nvPr/>
        </p:nvSpPr>
        <p:spPr>
          <a:xfrm>
            <a:off x="9753600" y="3190875"/>
            <a:ext cx="1819275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136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名优茶（凤凰单丛等）</a:t>
            </a:r>
            <a:endParaRPr sz="136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1" name="文字：名优茶产区、茶企、合作社"/>
          <p:cNvSpPr txBox="1"/>
          <p:nvPr/>
        </p:nvSpPr>
        <p:spPr>
          <a:xfrm>
            <a:off x="4933950" y="3371850"/>
            <a:ext cx="2419350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15"/>
              </a:lnSpc>
              <a:spcBef>
                <a:spcPts val="0"/>
              </a:spcBef>
              <a:spcAft>
                <a:spcPts val="0"/>
              </a:spcAft>
            </a:pPr>
            <a:r>
              <a:rPr sz="141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名优茶产区、茶企、合作社</a:t>
            </a:r>
            <a:endParaRPr sz="141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2" name="文字：做青产线"/>
          <p:cNvSpPr txBox="1"/>
          <p:nvPr/>
        </p:nvSpPr>
        <p:spPr>
          <a:xfrm>
            <a:off x="9725025" y="3419475"/>
            <a:ext cx="895350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95"/>
              </a:lnSpc>
              <a:spcBef>
                <a:spcPts val="0"/>
              </a:spcBef>
              <a:spcAft>
                <a:spcPts val="0"/>
              </a:spcAft>
            </a:pPr>
            <a:r>
              <a:rPr sz="159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做青产线</a:t>
            </a:r>
            <a:endParaRPr sz="159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3" name="文字：智能做青感知系统及集成设备"/>
          <p:cNvSpPr txBox="1"/>
          <p:nvPr/>
        </p:nvSpPr>
        <p:spPr>
          <a:xfrm>
            <a:off x="12925425" y="3343275"/>
            <a:ext cx="2457450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35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智能做青感知系统及集成设备</a:t>
            </a:r>
            <a:endParaRPr sz="143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4" name="文字：茶叶加工设备厂商"/>
          <p:cNvSpPr txBox="1"/>
          <p:nvPr/>
        </p:nvSpPr>
        <p:spPr>
          <a:xfrm>
            <a:off x="4914900" y="3876675"/>
            <a:ext cx="1857375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</a:pPr>
            <a:r>
              <a:rPr sz="168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茶叶加工设备厂商</a:t>
            </a:r>
            <a:endParaRPr sz="168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5" name="文字：技术服务"/>
          <p:cNvSpPr txBox="1"/>
          <p:nvPr/>
        </p:nvSpPr>
        <p:spPr>
          <a:xfrm>
            <a:off x="12906375" y="3867150"/>
            <a:ext cx="1009650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75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技术服务</a:t>
            </a:r>
            <a:endParaRPr sz="175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6" name="文字：智能化升级需求"/>
          <p:cNvSpPr txBox="1"/>
          <p:nvPr/>
        </p:nvSpPr>
        <p:spPr>
          <a:xfrm>
            <a:off x="4905375" y="4171950"/>
            <a:ext cx="1466850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55"/>
              </a:lnSpc>
              <a:spcBef>
                <a:spcPts val="0"/>
              </a:spcBef>
              <a:spcAft>
                <a:spcPts val="0"/>
              </a:spcAft>
            </a:pPr>
            <a:r>
              <a:rPr sz="155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智能化升级需求</a:t>
            </a:r>
            <a:endParaRPr sz="155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7" name="文字：现有生产线"/>
          <p:cNvSpPr txBox="1"/>
          <p:nvPr/>
        </p:nvSpPr>
        <p:spPr>
          <a:xfrm>
            <a:off x="9744075" y="4105275"/>
            <a:ext cx="1095375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现有生产线</a:t>
            </a:r>
            <a:endParaRPr sz="15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8" name="文字：工艺优化、数据分析、远程运维"/>
          <p:cNvSpPr txBox="1"/>
          <p:nvPr/>
        </p:nvSpPr>
        <p:spPr>
          <a:xfrm>
            <a:off x="12934950" y="4181475"/>
            <a:ext cx="2638425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35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工艺优化、数据分析、远程运维</a:t>
            </a:r>
            <a:endParaRPr sz="143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9" name="文字：智能化改造"/>
          <p:cNvSpPr txBox="1"/>
          <p:nvPr/>
        </p:nvSpPr>
        <p:spPr>
          <a:xfrm>
            <a:off x="9753600" y="4333875"/>
            <a:ext cx="1076325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56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智能化改造</a:t>
            </a:r>
            <a:endParaRPr sz="156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0" name="文字：农业科技服务机构"/>
          <p:cNvSpPr txBox="1"/>
          <p:nvPr/>
        </p:nvSpPr>
        <p:spPr>
          <a:xfrm>
            <a:off x="4924425" y="4705350"/>
            <a:ext cx="187642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75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农业科技服务机构</a:t>
            </a:r>
            <a:endParaRPr sz="175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1" name="文字：软件订阅"/>
          <p:cNvSpPr txBox="1"/>
          <p:nvPr/>
        </p:nvSpPr>
        <p:spPr>
          <a:xfrm>
            <a:off x="12925425" y="4695825"/>
            <a:ext cx="100012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软件订阅</a:t>
            </a:r>
            <a:endParaRPr sz="18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2" name="文字：推广与技术服务"/>
          <p:cNvSpPr txBox="1"/>
          <p:nvPr/>
        </p:nvSpPr>
        <p:spPr>
          <a:xfrm>
            <a:off x="4905375" y="4991100"/>
            <a:ext cx="145732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40"/>
              </a:lnSpc>
              <a:spcBef>
                <a:spcPts val="0"/>
              </a:spcBef>
              <a:spcAft>
                <a:spcPts val="0"/>
              </a:spcAft>
            </a:pPr>
            <a:r>
              <a:rPr sz="154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推广与技术服务</a:t>
            </a:r>
            <a:endParaRPr sz="154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3" name="文字：智能决策系统、数据平台"/>
          <p:cNvSpPr txBox="1"/>
          <p:nvPr/>
        </p:nvSpPr>
        <p:spPr>
          <a:xfrm>
            <a:off x="12944475" y="5019675"/>
            <a:ext cx="2095500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智能决策系统、数据平台</a:t>
            </a:r>
            <a:endParaRPr sz="13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4" name="文字：新建智能化"/>
          <p:cNvSpPr txBox="1"/>
          <p:nvPr/>
        </p:nvSpPr>
        <p:spPr>
          <a:xfrm>
            <a:off x="9763125" y="5229225"/>
            <a:ext cx="1085850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75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新建智能化</a:t>
            </a:r>
            <a:endParaRPr sz="157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5" name="文字：政府与产业园区"/>
          <p:cNvSpPr txBox="1"/>
          <p:nvPr/>
        </p:nvSpPr>
        <p:spPr>
          <a:xfrm>
            <a:off x="4914900" y="5486400"/>
            <a:ext cx="1657350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75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政府与产业园区</a:t>
            </a:r>
            <a:endParaRPr sz="175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6" name="文字：做青示范线"/>
          <p:cNvSpPr txBox="1"/>
          <p:nvPr/>
        </p:nvSpPr>
        <p:spPr>
          <a:xfrm>
            <a:off x="9763125" y="5495925"/>
            <a:ext cx="1095375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做青示范线</a:t>
            </a:r>
            <a:endParaRPr sz="15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7" name="文字：定制化解决方案"/>
          <p:cNvSpPr txBox="1"/>
          <p:nvPr/>
        </p:nvSpPr>
        <p:spPr>
          <a:xfrm>
            <a:off x="12925425" y="5505450"/>
            <a:ext cx="166687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78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定制化解决方案</a:t>
            </a:r>
            <a:endParaRPr sz="178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8" name="文字：乡村振兴、产业升级"/>
          <p:cNvSpPr txBox="1"/>
          <p:nvPr/>
        </p:nvSpPr>
        <p:spPr>
          <a:xfrm>
            <a:off x="4905375" y="5800725"/>
            <a:ext cx="1809750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10"/>
              </a:lnSpc>
              <a:spcBef>
                <a:spcPts val="0"/>
              </a:spcBef>
              <a:spcAft>
                <a:spcPts val="0"/>
              </a:spcAft>
            </a:pPr>
            <a:r>
              <a:rPr sz="151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乡村振兴、产业升级</a:t>
            </a:r>
            <a:endParaRPr sz="151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9" name="文字：按产线需求提供整体方案"/>
          <p:cNvSpPr txBox="1"/>
          <p:nvPr/>
        </p:nvSpPr>
        <p:spPr>
          <a:xfrm>
            <a:off x="12934950" y="5838825"/>
            <a:ext cx="2114550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15"/>
              </a:lnSpc>
              <a:spcBef>
                <a:spcPts val="0"/>
              </a:spcBef>
              <a:spcAft>
                <a:spcPts val="0"/>
              </a:spcAft>
            </a:pPr>
            <a:r>
              <a:rPr sz="141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按产线需求提供整体方案</a:t>
            </a:r>
            <a:endParaRPr sz="141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0" name="文字：发展路径"/>
          <p:cNvSpPr txBox="1"/>
          <p:nvPr/>
        </p:nvSpPr>
        <p:spPr>
          <a:xfrm>
            <a:off x="3867150" y="6238875"/>
            <a:ext cx="1276350" cy="3714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295"/>
              </a:lnSpc>
              <a:spcBef>
                <a:spcPts val="0"/>
              </a:spcBef>
              <a:spcAft>
                <a:spcPts val="0"/>
              </a:spcAft>
            </a:pPr>
            <a:r>
              <a:rPr sz="2295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发展路径</a:t>
            </a:r>
            <a:endParaRPr sz="2295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1" name="文字：短期 (1-2年)"/>
          <p:cNvSpPr txBox="1"/>
          <p:nvPr/>
        </p:nvSpPr>
        <p:spPr>
          <a:xfrm>
            <a:off x="4943475" y="6762750"/>
            <a:ext cx="141922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短期 (1-2年)</a:t>
            </a:r>
            <a:endParaRPr sz="17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2" name="文字：中期 (3-5年)"/>
          <p:cNvSpPr txBox="1"/>
          <p:nvPr/>
        </p:nvSpPr>
        <p:spPr>
          <a:xfrm>
            <a:off x="8810625" y="6762750"/>
            <a:ext cx="141922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中期 (3-5年)</a:t>
            </a:r>
            <a:endParaRPr sz="17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3" name="文字：长期 (5年以上)"/>
          <p:cNvSpPr txBox="1"/>
          <p:nvPr/>
        </p:nvSpPr>
        <p:spPr>
          <a:xfrm>
            <a:off x="12877800" y="6762750"/>
            <a:ext cx="1581150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68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长期 (5年以上)</a:t>
            </a:r>
            <a:endParaRPr sz="168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4" name="文字：打磨产品，试点推广"/>
          <p:cNvSpPr txBox="1"/>
          <p:nvPr/>
        </p:nvSpPr>
        <p:spPr>
          <a:xfrm>
            <a:off x="4962525" y="7153275"/>
            <a:ext cx="1819275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15"/>
              </a:lnSpc>
              <a:spcBef>
                <a:spcPts val="0"/>
              </a:spcBef>
              <a:spcAft>
                <a:spcPts val="0"/>
              </a:spcAft>
            </a:pPr>
            <a:r>
              <a:rPr sz="151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打磨产品，试点推广</a:t>
            </a:r>
            <a:endParaRPr sz="151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5" name="文字：扩大应用，形成标准化方案"/>
          <p:cNvSpPr txBox="1"/>
          <p:nvPr/>
        </p:nvSpPr>
        <p:spPr>
          <a:xfrm>
            <a:off x="8810625" y="7134225"/>
            <a:ext cx="2409825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25"/>
              </a:lnSpc>
              <a:spcBef>
                <a:spcPts val="0"/>
              </a:spcBef>
              <a:spcAft>
                <a:spcPts val="0"/>
              </a:spcAft>
            </a:pPr>
            <a:r>
              <a:rPr sz="152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扩大应用，形成标准化方案</a:t>
            </a:r>
            <a:endParaRPr sz="152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6" name="文字：拓展茶类与区域，打造行业标杆"/>
          <p:cNvSpPr txBox="1"/>
          <p:nvPr/>
        </p:nvSpPr>
        <p:spPr>
          <a:xfrm>
            <a:off x="12868275" y="7153275"/>
            <a:ext cx="2714625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80"/>
              </a:lnSpc>
              <a:spcBef>
                <a:spcPts val="0"/>
              </a:spcBef>
              <a:spcAft>
                <a:spcPts val="0"/>
              </a:spcAft>
            </a:pPr>
            <a:r>
              <a:rPr sz="148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拓展茶类与区域，打造行业标杆</a:t>
            </a:r>
            <a:endParaRPr sz="148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7" name="文字：先在产区验证价值，再把智能做青推向更广阔的茶产业场景"/>
          <p:cNvSpPr txBox="1"/>
          <p:nvPr/>
        </p:nvSpPr>
        <p:spPr>
          <a:xfrm>
            <a:off x="6429375" y="7836327"/>
            <a:ext cx="609600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先在产区验证价值，再把智能做青推向更广阔的茶产业场景</a:t>
            </a:r>
            <a:endParaRPr sz="1550" b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共享背景：原图茶园风景（无内容组件）" descr="landscap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5925800" cy="8963025"/>
          </a:xfrm>
          <a:prstGeom prst="rect">
            <a:avLst/>
          </a:prstGeom>
        </p:spPr>
      </p:pic>
      <p:sp>
        <p:nvSpPr>
          <p:cNvPr id="3" name="可编辑框架"/>
          <p:cNvSpPr/>
          <p:nvPr/>
        </p:nvSpPr>
        <p:spPr>
          <a:xfrm>
            <a:off x="0" y="0"/>
            <a:ext cx="15925800" cy="723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：青韵智控"/>
          <p:cNvSpPr txBox="1"/>
          <p:nvPr/>
        </p:nvSpPr>
        <p:spPr>
          <a:xfrm>
            <a:off x="361950" y="190500"/>
            <a:ext cx="13335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73F32"/>
                </a:solidFill>
                <a:latin typeface="微软雅黑" panose="020B0503020204020204" charset="-122"/>
                <a:ea typeface="微软雅黑" panose="020B0503020204020204" charset="-122"/>
              </a:rPr>
              <a:t>青韵智控</a:t>
            </a:r>
            <a:endParaRPr sz="2400" b="1">
              <a:solidFill>
                <a:srgbClr val="073F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1819275" y="257175"/>
            <a:ext cx="0" cy="2762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字：让传统制茶更可控"/>
          <p:cNvSpPr txBox="1"/>
          <p:nvPr/>
        </p:nvSpPr>
        <p:spPr>
          <a:xfrm>
            <a:off x="2076450" y="238125"/>
            <a:ext cx="2190750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让传统制茶更可控</a:t>
            </a:r>
            <a:endParaRPr sz="18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文字：项目背景"/>
          <p:cNvSpPr txBox="1"/>
          <p:nvPr/>
        </p:nvSpPr>
        <p:spPr>
          <a:xfrm>
            <a:off x="8515350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项目背景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9486900" y="323850"/>
            <a:ext cx="0" cy="1619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字：项目概述"/>
          <p:cNvSpPr txBox="1"/>
          <p:nvPr/>
        </p:nvSpPr>
        <p:spPr>
          <a:xfrm>
            <a:off x="9648825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项目概述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10620375" y="323850"/>
            <a:ext cx="0" cy="1619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字：关键技术"/>
          <p:cNvSpPr txBox="1"/>
          <p:nvPr/>
        </p:nvSpPr>
        <p:spPr>
          <a:xfrm>
            <a:off x="10782300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关键技术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11753850" y="323850"/>
            <a:ext cx="0" cy="1619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字：实施与验证"/>
          <p:cNvSpPr txBox="1"/>
          <p:nvPr/>
        </p:nvSpPr>
        <p:spPr>
          <a:xfrm>
            <a:off x="11915775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实施与验证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4" name="Connector 13"/>
          <p:cNvCxnSpPr/>
          <p:nvPr/>
        </p:nvCxnSpPr>
        <p:spPr>
          <a:xfrm>
            <a:off x="12887325" y="323850"/>
            <a:ext cx="0" cy="1619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字：商业模式"/>
          <p:cNvSpPr txBox="1"/>
          <p:nvPr/>
        </p:nvSpPr>
        <p:spPr>
          <a:xfrm>
            <a:off x="13049250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商业模式</a:t>
            </a:r>
            <a:endParaRPr sz="150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14020800" y="323850"/>
            <a:ext cx="0" cy="1619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3287375" y="628650"/>
            <a:ext cx="381000" cy="0"/>
          </a:xfrm>
          <a:prstGeom prst="line">
            <a:avLst/>
          </a:prstGeom>
          <a:ln w="19050">
            <a:solidFill>
              <a:srgbClr val="073F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字：未来展望"/>
          <p:cNvSpPr txBox="1"/>
          <p:nvPr/>
        </p:nvSpPr>
        <p:spPr>
          <a:xfrm>
            <a:off x="14182725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未来展望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9" name="文字：15"/>
          <p:cNvSpPr txBox="1"/>
          <p:nvPr/>
        </p:nvSpPr>
        <p:spPr>
          <a:xfrm>
            <a:off x="15163800" y="257175"/>
            <a:ext cx="428625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950" b="0">
                <a:solidFill>
                  <a:srgbClr val="073F32"/>
                </a:solidFill>
                <a:latin typeface="Times New Roman" panose="02020603050405020304"/>
                <a:ea typeface="Times New Roman" panose="02020603050405020304"/>
              </a:rPr>
              <a:t>15</a:t>
            </a:r>
            <a:endParaRPr sz="1950" b="0">
              <a:solidFill>
                <a:srgbClr val="073F32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cxnSp>
        <p:nvCxnSpPr>
          <p:cNvPr id="20" name="Connector 19"/>
          <p:cNvCxnSpPr/>
          <p:nvPr/>
        </p:nvCxnSpPr>
        <p:spPr>
          <a:xfrm>
            <a:off x="0" y="723900"/>
            <a:ext cx="15725775" cy="0"/>
          </a:xfrm>
          <a:prstGeom prst="line">
            <a:avLst/>
          </a:prstGeom>
          <a:ln w="9525">
            <a:solidFill>
              <a:srgbClr val="C7D8D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571875" y="990600"/>
            <a:ext cx="0" cy="6896100"/>
          </a:xfrm>
          <a:prstGeom prst="line">
            <a:avLst/>
          </a:prstGeom>
          <a:ln w="9525">
            <a:solidFill>
              <a:srgbClr val="A4BCB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字：05"/>
          <p:cNvSpPr txBox="1"/>
          <p:nvPr/>
        </p:nvSpPr>
        <p:spPr>
          <a:xfrm>
            <a:off x="457200" y="1409700"/>
            <a:ext cx="2286000" cy="1666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500"/>
              </a:lnSpc>
              <a:spcBef>
                <a:spcPts val="0"/>
              </a:spcBef>
              <a:spcAft>
                <a:spcPts val="0"/>
              </a:spcAft>
            </a:pPr>
            <a:r>
              <a:rPr sz="13500" b="1" i="1">
                <a:solidFill>
                  <a:srgbClr val="073F32"/>
                </a:solidFill>
                <a:latin typeface="Times New Roman" panose="02020603050405020304"/>
                <a:ea typeface="Times New Roman" panose="02020603050405020304"/>
              </a:rPr>
              <a:t>05</a:t>
            </a:r>
            <a:endParaRPr sz="13500" b="1" i="1">
              <a:solidFill>
                <a:srgbClr val="073F32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cxnSp>
        <p:nvCxnSpPr>
          <p:cNvPr id="23" name="Connector 22"/>
          <p:cNvCxnSpPr/>
          <p:nvPr/>
        </p:nvCxnSpPr>
        <p:spPr>
          <a:xfrm flipV="1">
            <a:off x="2619375" y="1704975"/>
            <a:ext cx="514350" cy="1190625"/>
          </a:xfrm>
          <a:prstGeom prst="line">
            <a:avLst/>
          </a:prstGeom>
          <a:ln w="11429">
            <a:solidFill>
              <a:srgbClr val="073F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字：商业模式"/>
          <p:cNvSpPr txBox="1"/>
          <p:nvPr/>
        </p:nvSpPr>
        <p:spPr>
          <a:xfrm>
            <a:off x="485775" y="3114675"/>
            <a:ext cx="3000375" cy="838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5250"/>
              </a:lnSpc>
              <a:spcBef>
                <a:spcPts val="0"/>
              </a:spcBef>
              <a:spcAft>
                <a:spcPts val="0"/>
              </a:spcAft>
            </a:pPr>
            <a:r>
              <a:rPr sz="525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商业模式</a:t>
            </a:r>
            <a:endParaRPr sz="525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5" name="文字：应用场景、目标客户&#10;与商业路径"/>
          <p:cNvSpPr txBox="1"/>
          <p:nvPr/>
        </p:nvSpPr>
        <p:spPr>
          <a:xfrm>
            <a:off x="552450" y="4076700"/>
            <a:ext cx="2905125" cy="838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sz="217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应用场景、目标客户</a:t>
            </a:r>
            <a:br>
              <a:rPr sz="217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sz="217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与商业路径</a:t>
            </a:r>
            <a:endParaRPr sz="217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26" name="Connector 25"/>
          <p:cNvCxnSpPr/>
          <p:nvPr/>
        </p:nvCxnSpPr>
        <p:spPr>
          <a:xfrm>
            <a:off x="552450" y="5076825"/>
            <a:ext cx="400050" cy="0"/>
          </a:xfrm>
          <a:prstGeom prst="line">
            <a:avLst/>
          </a:prstGeom>
          <a:ln w="9525">
            <a:solidFill>
              <a:srgbClr val="073F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字：“让好技术真正走进产区。”"/>
          <p:cNvSpPr txBox="1"/>
          <p:nvPr/>
        </p:nvSpPr>
        <p:spPr>
          <a:xfrm>
            <a:off x="457200" y="5314950"/>
            <a:ext cx="2990850" cy="1095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780" b="0">
                <a:solidFill>
                  <a:srgbClr val="073F32"/>
                </a:solidFill>
                <a:latin typeface="楷体" panose="02010609060101010101" charset="-122"/>
                <a:ea typeface="楷体" panose="02010609060101010101" charset="-122"/>
              </a:rPr>
              <a:t>“让好技术真正走进产区。”</a:t>
            </a:r>
            <a:endParaRPr sz="1780" b="0">
              <a:solidFill>
                <a:srgbClr val="073F32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28" name="文字：中 国 茶 · 产 业 智 造 · 中 国 未 来"/>
          <p:cNvSpPr txBox="1"/>
          <p:nvPr/>
        </p:nvSpPr>
        <p:spPr>
          <a:xfrm>
            <a:off x="11791950" y="8439150"/>
            <a:ext cx="3619500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 国 茶 · 产 业 智 造 · 中 国 未 来</a:t>
            </a:r>
            <a:endParaRPr sz="13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9" name="文字：5.2 商业落地策略"/>
          <p:cNvSpPr txBox="1"/>
          <p:nvPr/>
        </p:nvSpPr>
        <p:spPr>
          <a:xfrm>
            <a:off x="3867150" y="981075"/>
            <a:ext cx="3248025" cy="514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3150"/>
              </a:lnSpc>
              <a:spcBef>
                <a:spcPts val="0"/>
              </a:spcBef>
              <a:spcAft>
                <a:spcPts val="0"/>
              </a:spcAft>
            </a:pPr>
            <a:r>
              <a:rPr sz="315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5.2 商业落地策略</a:t>
            </a:r>
            <a:endParaRPr sz="315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30" name="Connector 29"/>
          <p:cNvCxnSpPr/>
          <p:nvPr/>
        </p:nvCxnSpPr>
        <p:spPr>
          <a:xfrm>
            <a:off x="7200900" y="1085850"/>
            <a:ext cx="0" cy="304800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字：优先从低侵入、低风险的感知辅助与设备改造切入"/>
          <p:cNvSpPr txBox="1"/>
          <p:nvPr/>
        </p:nvSpPr>
        <p:spPr>
          <a:xfrm>
            <a:off x="7372350" y="1038225"/>
            <a:ext cx="8134350" cy="4476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优先从低侵入、低风险的感知辅助与设备改造切入</a:t>
            </a:r>
            <a:endParaRPr sz="210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2" name="可编辑框架"/>
          <p:cNvSpPr/>
          <p:nvPr/>
        </p:nvSpPr>
        <p:spPr>
          <a:xfrm>
            <a:off x="7924800" y="2638425"/>
            <a:ext cx="2009775" cy="2952750"/>
          </a:xfrm>
          <a:prstGeom prst="roundRect">
            <a:avLst>
              <a:gd name="adj" fmla="val 2500"/>
            </a:avLst>
          </a:prstGeom>
          <a:solidFill>
            <a:srgbClr val="F2F9F6"/>
          </a:solidFill>
          <a:ln>
            <a:solidFill>
              <a:srgbClr val="C8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可编辑框架"/>
          <p:cNvSpPr/>
          <p:nvPr/>
        </p:nvSpPr>
        <p:spPr>
          <a:xfrm>
            <a:off x="10553700" y="2638425"/>
            <a:ext cx="2200275" cy="2952750"/>
          </a:xfrm>
          <a:prstGeom prst="roundRect">
            <a:avLst>
              <a:gd name="adj" fmla="val 2500"/>
            </a:avLst>
          </a:prstGeom>
          <a:solidFill>
            <a:srgbClr val="F2F9F6"/>
          </a:solidFill>
          <a:ln>
            <a:solidFill>
              <a:srgbClr val="C8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可编辑框架"/>
          <p:cNvSpPr/>
          <p:nvPr/>
        </p:nvSpPr>
        <p:spPr>
          <a:xfrm>
            <a:off x="13382625" y="2638425"/>
            <a:ext cx="2152650" cy="2952750"/>
          </a:xfrm>
          <a:prstGeom prst="roundRect">
            <a:avLst>
              <a:gd name="adj" fmla="val 2500"/>
            </a:avLst>
          </a:prstGeom>
          <a:solidFill>
            <a:srgbClr val="F2F9F6"/>
          </a:solidFill>
          <a:ln>
            <a:solidFill>
              <a:srgbClr val="C8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可编辑框架"/>
          <p:cNvSpPr/>
          <p:nvPr/>
        </p:nvSpPr>
        <p:spPr>
          <a:xfrm>
            <a:off x="3876675" y="1628775"/>
            <a:ext cx="3638550" cy="447675"/>
          </a:xfrm>
          <a:prstGeom prst="rect">
            <a:avLst/>
          </a:prstGeom>
          <a:solidFill>
            <a:srgbClr val="E2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可编辑框架"/>
          <p:cNvSpPr/>
          <p:nvPr/>
        </p:nvSpPr>
        <p:spPr>
          <a:xfrm>
            <a:off x="7924800" y="1628775"/>
            <a:ext cx="7620000" cy="447675"/>
          </a:xfrm>
          <a:prstGeom prst="rect">
            <a:avLst/>
          </a:prstGeom>
          <a:solidFill>
            <a:srgbClr val="E2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可编辑框架"/>
          <p:cNvSpPr/>
          <p:nvPr/>
        </p:nvSpPr>
        <p:spPr>
          <a:xfrm>
            <a:off x="3867150" y="7715250"/>
            <a:ext cx="11677650" cy="428625"/>
          </a:xfrm>
          <a:prstGeom prst="roundRect">
            <a:avLst>
              <a:gd name="adj" fmla="val 2500"/>
            </a:avLst>
          </a:prstGeom>
          <a:solidFill>
            <a:srgbClr val="095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独立照片或曲线图（内部为像素）" descr="p15_photo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8650" y="3829050"/>
            <a:ext cx="1466850" cy="1743075"/>
          </a:xfrm>
          <a:prstGeom prst="rect">
            <a:avLst/>
          </a:prstGeom>
        </p:spPr>
      </p:pic>
      <p:pic>
        <p:nvPicPr>
          <p:cNvPr id="39" name="独立照片或曲线图（内部为像素）" descr="p15_photo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5625" y="3810000"/>
            <a:ext cx="1924049" cy="1762125"/>
          </a:xfrm>
          <a:prstGeom prst="rect">
            <a:avLst/>
          </a:prstGeom>
        </p:spPr>
      </p:pic>
      <p:pic>
        <p:nvPicPr>
          <p:cNvPr id="40" name="独立照片或曲线图（内部为像素）" descr="p15_photo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35050" y="3581400"/>
            <a:ext cx="1504950" cy="2000250"/>
          </a:xfrm>
          <a:prstGeom prst="rect">
            <a:avLst/>
          </a:prstGeom>
        </p:spPr>
      </p:pic>
      <p:pic>
        <p:nvPicPr>
          <p:cNvPr id="41" name="独立图标或流程线" descr="p15_icon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48575" y="2105025"/>
            <a:ext cx="85725" cy="419100"/>
          </a:xfrm>
          <a:prstGeom prst="rect">
            <a:avLst/>
          </a:prstGeom>
        </p:spPr>
      </p:pic>
      <p:pic>
        <p:nvPicPr>
          <p:cNvPr id="42" name="独立图标或流程线" descr="p15_icon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487400" y="2105025"/>
            <a:ext cx="1685925" cy="466724"/>
          </a:xfrm>
          <a:prstGeom prst="rect">
            <a:avLst/>
          </a:prstGeom>
        </p:spPr>
      </p:pic>
      <p:pic>
        <p:nvPicPr>
          <p:cNvPr id="43" name="独立图标或流程线" descr="p15_icon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67175" y="2247900"/>
            <a:ext cx="400050" cy="419100"/>
          </a:xfrm>
          <a:prstGeom prst="rect">
            <a:avLst/>
          </a:prstGeom>
        </p:spPr>
      </p:pic>
      <p:pic>
        <p:nvPicPr>
          <p:cNvPr id="44" name="独立图标或流程线" descr="p15_icon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48124" y="2990850"/>
            <a:ext cx="438150" cy="390525"/>
          </a:xfrm>
          <a:prstGeom prst="rect">
            <a:avLst/>
          </a:prstGeom>
        </p:spPr>
      </p:pic>
      <p:pic>
        <p:nvPicPr>
          <p:cNvPr id="45" name="独立图标或流程线" descr="p15_icon4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34600" y="3667125"/>
            <a:ext cx="219075" cy="352425"/>
          </a:xfrm>
          <a:prstGeom prst="rect">
            <a:avLst/>
          </a:prstGeom>
        </p:spPr>
      </p:pic>
      <p:pic>
        <p:nvPicPr>
          <p:cNvPr id="46" name="独立图标或流程线" descr="p15_icon5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973050" y="3667125"/>
            <a:ext cx="219075" cy="352425"/>
          </a:xfrm>
          <a:prstGeom prst="rect">
            <a:avLst/>
          </a:prstGeom>
        </p:spPr>
      </p:pic>
      <p:pic>
        <p:nvPicPr>
          <p:cNvPr id="47" name="独立图标或流程线" descr="p15_icon6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048124" y="3714750"/>
            <a:ext cx="419100" cy="457200"/>
          </a:xfrm>
          <a:prstGeom prst="rect">
            <a:avLst/>
          </a:prstGeom>
        </p:spPr>
      </p:pic>
      <p:pic>
        <p:nvPicPr>
          <p:cNvPr id="48" name="独立图标或流程线" descr="p15_icon7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39049" y="3990974"/>
            <a:ext cx="85725" cy="133350"/>
          </a:xfrm>
          <a:prstGeom prst="rect">
            <a:avLst/>
          </a:prstGeom>
        </p:spPr>
      </p:pic>
      <p:pic>
        <p:nvPicPr>
          <p:cNvPr id="49" name="独立图标或流程线" descr="p15_icon8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39049" y="4286250"/>
            <a:ext cx="85725" cy="638175"/>
          </a:xfrm>
          <a:prstGeom prst="rect">
            <a:avLst/>
          </a:prstGeom>
        </p:spPr>
      </p:pic>
      <p:pic>
        <p:nvPicPr>
          <p:cNvPr id="50" name="独立图标或流程线" descr="p15_icon9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048124" y="4505325"/>
            <a:ext cx="419100" cy="419100"/>
          </a:xfrm>
          <a:prstGeom prst="rect">
            <a:avLst/>
          </a:prstGeom>
        </p:spPr>
      </p:pic>
      <p:pic>
        <p:nvPicPr>
          <p:cNvPr id="51" name="独立图标或流程线" descr="p15_icon10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639049" y="5210175"/>
            <a:ext cx="85725" cy="600075"/>
          </a:xfrm>
          <a:prstGeom prst="rect">
            <a:avLst/>
          </a:prstGeom>
        </p:spPr>
      </p:pic>
      <p:pic>
        <p:nvPicPr>
          <p:cNvPr id="52" name="独立图标或流程线" descr="p15_icon11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029075" y="5238750"/>
            <a:ext cx="485775" cy="400050"/>
          </a:xfrm>
          <a:prstGeom prst="rect">
            <a:avLst/>
          </a:prstGeom>
        </p:spPr>
      </p:pic>
      <p:cxnSp>
        <p:nvCxnSpPr>
          <p:cNvPr id="53" name="Connector 52"/>
          <p:cNvCxnSpPr/>
          <p:nvPr/>
        </p:nvCxnSpPr>
        <p:spPr>
          <a:xfrm>
            <a:off x="10434638" y="5915025"/>
            <a:ext cx="0" cy="1638300"/>
          </a:xfrm>
          <a:prstGeom prst="line">
            <a:avLst/>
          </a:prstGeom>
          <a:ln w="9525">
            <a:solidFill>
              <a:srgbClr val="A6C5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5715000" y="6115050"/>
            <a:ext cx="4533900" cy="0"/>
          </a:xfrm>
          <a:prstGeom prst="line">
            <a:avLst/>
          </a:prstGeom>
          <a:ln w="9525">
            <a:solidFill>
              <a:srgbClr val="86AA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3306425" y="6124575"/>
            <a:ext cx="2247900" cy="0"/>
          </a:xfrm>
          <a:prstGeom prst="line">
            <a:avLst/>
          </a:prstGeom>
          <a:ln w="9525">
            <a:solidFill>
              <a:srgbClr val="86AA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6" name="独立图标或流程线" descr="p15_icon12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753725" y="6362700"/>
            <a:ext cx="314325" cy="304800"/>
          </a:xfrm>
          <a:prstGeom prst="rect">
            <a:avLst/>
          </a:prstGeom>
        </p:spPr>
      </p:pic>
      <p:pic>
        <p:nvPicPr>
          <p:cNvPr id="57" name="独立图标或流程线" descr="p15_icon13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3258800" y="6353175"/>
            <a:ext cx="295275" cy="295275"/>
          </a:xfrm>
          <a:prstGeom prst="rect">
            <a:avLst/>
          </a:prstGeom>
        </p:spPr>
      </p:pic>
      <p:pic>
        <p:nvPicPr>
          <p:cNvPr id="58" name="独立图标或流程线" descr="p15_icon14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962900" y="6496050"/>
            <a:ext cx="85725" cy="476250"/>
          </a:xfrm>
          <a:prstGeom prst="rect">
            <a:avLst/>
          </a:prstGeom>
        </p:spPr>
      </p:pic>
      <p:pic>
        <p:nvPicPr>
          <p:cNvPr id="59" name="独立图标或流程线" descr="p15_icon15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962399" y="6505575"/>
            <a:ext cx="381000" cy="409575"/>
          </a:xfrm>
          <a:prstGeom prst="rect">
            <a:avLst/>
          </a:prstGeom>
        </p:spPr>
      </p:pic>
      <p:pic>
        <p:nvPicPr>
          <p:cNvPr id="60" name="独立图标或流程线" descr="p15_icon16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743575" y="6505575"/>
            <a:ext cx="85725" cy="285750"/>
          </a:xfrm>
          <a:prstGeom prst="rect">
            <a:avLst/>
          </a:prstGeom>
        </p:spPr>
      </p:pic>
      <p:pic>
        <p:nvPicPr>
          <p:cNvPr id="61" name="独立图标或流程线" descr="p15_icon17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019800" y="6515100"/>
            <a:ext cx="390525" cy="390525"/>
          </a:xfrm>
          <a:prstGeom prst="rect">
            <a:avLst/>
          </a:prstGeom>
        </p:spPr>
      </p:pic>
      <p:pic>
        <p:nvPicPr>
          <p:cNvPr id="62" name="独立图标或流程线" descr="p15_icon18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286750" y="6515100"/>
            <a:ext cx="352425" cy="390525"/>
          </a:xfrm>
          <a:prstGeom prst="rect">
            <a:avLst/>
          </a:prstGeom>
        </p:spPr>
      </p:pic>
      <p:pic>
        <p:nvPicPr>
          <p:cNvPr id="63" name="独立图标或流程线" descr="p15_icon19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3258800" y="6715125"/>
            <a:ext cx="285750" cy="295275"/>
          </a:xfrm>
          <a:prstGeom prst="rect">
            <a:avLst/>
          </a:prstGeom>
        </p:spPr>
      </p:pic>
      <p:pic>
        <p:nvPicPr>
          <p:cNvPr id="64" name="独立图标或流程线" descr="p15_icon20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753725" y="6753225"/>
            <a:ext cx="314325" cy="276225"/>
          </a:xfrm>
          <a:prstGeom prst="rect">
            <a:avLst/>
          </a:prstGeom>
        </p:spPr>
      </p:pic>
      <p:pic>
        <p:nvPicPr>
          <p:cNvPr id="65" name="独立图标或流程线" descr="p15_icon21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0763250" y="7124700"/>
            <a:ext cx="304800" cy="314325"/>
          </a:xfrm>
          <a:prstGeom prst="rect">
            <a:avLst/>
          </a:prstGeom>
        </p:spPr>
      </p:pic>
      <p:pic>
        <p:nvPicPr>
          <p:cNvPr id="66" name="独立图标或流程线" descr="p15_icon22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5753100" y="7162800"/>
            <a:ext cx="85725" cy="285750"/>
          </a:xfrm>
          <a:prstGeom prst="rect">
            <a:avLst/>
          </a:prstGeom>
        </p:spPr>
      </p:pic>
      <p:pic>
        <p:nvPicPr>
          <p:cNvPr id="67" name="独立图标或流程线" descr="p15_icon23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7962900" y="7153275"/>
            <a:ext cx="85725" cy="295275"/>
          </a:xfrm>
          <a:prstGeom prst="rect">
            <a:avLst/>
          </a:prstGeom>
        </p:spPr>
      </p:pic>
      <p:pic>
        <p:nvPicPr>
          <p:cNvPr id="68" name="独立图标或流程线" descr="p15_icon24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3781425" y="7400925"/>
            <a:ext cx="200025" cy="161925"/>
          </a:xfrm>
          <a:prstGeom prst="rect">
            <a:avLst/>
          </a:prstGeom>
        </p:spPr>
      </p:pic>
      <p:pic>
        <p:nvPicPr>
          <p:cNvPr id="69" name="独立图标或流程线" descr="p15_icon25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5420974" y="7439024"/>
            <a:ext cx="238125" cy="123824"/>
          </a:xfrm>
          <a:prstGeom prst="rect">
            <a:avLst/>
          </a:prstGeom>
        </p:spPr>
      </p:pic>
      <p:sp>
        <p:nvSpPr>
          <p:cNvPr id="70" name="文字：目标客户"/>
          <p:cNvSpPr txBox="1"/>
          <p:nvPr/>
        </p:nvSpPr>
        <p:spPr>
          <a:xfrm>
            <a:off x="4114800" y="1647825"/>
            <a:ext cx="1285875" cy="4286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360"/>
              </a:lnSpc>
              <a:spcBef>
                <a:spcPts val="0"/>
              </a:spcBef>
              <a:spcAft>
                <a:spcPts val="0"/>
              </a:spcAft>
            </a:pPr>
            <a:r>
              <a:rPr sz="236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目标客户</a:t>
            </a:r>
            <a:endParaRPr sz="236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1" name="文字：产品假设"/>
          <p:cNvSpPr txBox="1"/>
          <p:nvPr/>
        </p:nvSpPr>
        <p:spPr>
          <a:xfrm>
            <a:off x="8134350" y="1647825"/>
            <a:ext cx="1304925" cy="4286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产品假设</a:t>
            </a:r>
            <a:endParaRPr sz="240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2" name="文字：凤凰单丛中小茶企"/>
          <p:cNvSpPr txBox="1"/>
          <p:nvPr/>
        </p:nvSpPr>
        <p:spPr>
          <a:xfrm>
            <a:off x="4876800" y="2219325"/>
            <a:ext cx="173355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凤凰单丛中小茶企</a:t>
            </a:r>
            <a:endParaRPr sz="15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3" name="文字：从低到高"/>
          <p:cNvSpPr txBox="1"/>
          <p:nvPr/>
        </p:nvSpPr>
        <p:spPr>
          <a:xfrm>
            <a:off x="9972675" y="2209800"/>
            <a:ext cx="857250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20"/>
              </a:lnSpc>
              <a:spcBef>
                <a:spcPts val="0"/>
              </a:spcBef>
              <a:spcAft>
                <a:spcPts val="0"/>
              </a:spcAft>
            </a:pPr>
            <a:r>
              <a:rPr sz="152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从低到高</a:t>
            </a:r>
            <a:endParaRPr sz="152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4" name="文字：逐步深入"/>
          <p:cNvSpPr txBox="1"/>
          <p:nvPr/>
        </p:nvSpPr>
        <p:spPr>
          <a:xfrm>
            <a:off x="10972800" y="2209800"/>
            <a:ext cx="857250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85"/>
              </a:lnSpc>
              <a:spcBef>
                <a:spcPts val="0"/>
              </a:spcBef>
              <a:spcAft>
                <a:spcPts val="0"/>
              </a:spcAft>
            </a:pPr>
            <a:r>
              <a:rPr sz="148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逐步深入</a:t>
            </a:r>
            <a:endParaRPr sz="148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5" name="文字：持续创造价值"/>
          <p:cNvSpPr txBox="1"/>
          <p:nvPr/>
        </p:nvSpPr>
        <p:spPr>
          <a:xfrm>
            <a:off x="12001500" y="2209800"/>
            <a:ext cx="1200150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15"/>
              </a:lnSpc>
              <a:spcBef>
                <a:spcPts val="0"/>
              </a:spcBef>
              <a:spcAft>
                <a:spcPts val="0"/>
              </a:spcAft>
            </a:pPr>
            <a:r>
              <a:rPr sz="141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持续创造价值</a:t>
            </a:r>
            <a:endParaRPr sz="141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6" name="文字：传统工艺、提质增效需求"/>
          <p:cNvSpPr txBox="1"/>
          <p:nvPr/>
        </p:nvSpPr>
        <p:spPr>
          <a:xfrm>
            <a:off x="4876800" y="2505075"/>
            <a:ext cx="2038350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95"/>
              </a:lnSpc>
              <a:spcBef>
                <a:spcPts val="0"/>
              </a:spcBef>
              <a:spcAft>
                <a:spcPts val="0"/>
              </a:spcAft>
            </a:pPr>
            <a:r>
              <a:rPr sz="139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传统工艺、提质增效需求</a:t>
            </a:r>
            <a:endParaRPr sz="139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7" name="文字：感知辅助版"/>
          <p:cNvSpPr txBox="1"/>
          <p:nvPr/>
        </p:nvSpPr>
        <p:spPr>
          <a:xfrm>
            <a:off x="8286750" y="2695575"/>
            <a:ext cx="1304925" cy="3143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89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感知辅助版</a:t>
            </a:r>
            <a:endParaRPr sz="189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8" name="文字：设备改造版"/>
          <p:cNvSpPr txBox="1"/>
          <p:nvPr/>
        </p:nvSpPr>
        <p:spPr>
          <a:xfrm>
            <a:off x="11049000" y="2686050"/>
            <a:ext cx="1314450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935"/>
              </a:lnSpc>
              <a:spcBef>
                <a:spcPts val="0"/>
              </a:spcBef>
              <a:spcAft>
                <a:spcPts val="0"/>
              </a:spcAft>
            </a:pPr>
            <a:r>
              <a:rPr sz="1935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设备改造版</a:t>
            </a:r>
            <a:endParaRPr sz="1935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9" name="文字：闭环控制版"/>
          <p:cNvSpPr txBox="1"/>
          <p:nvPr/>
        </p:nvSpPr>
        <p:spPr>
          <a:xfrm>
            <a:off x="13868400" y="2695575"/>
            <a:ext cx="1314450" cy="3143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89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闭环控制版</a:t>
            </a:r>
            <a:endParaRPr sz="189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0" name="文字：茶叶合作社"/>
          <p:cNvSpPr txBox="1"/>
          <p:nvPr/>
        </p:nvSpPr>
        <p:spPr>
          <a:xfrm>
            <a:off x="4876800" y="2962275"/>
            <a:ext cx="1171575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茶叶合作社</a:t>
            </a:r>
            <a:endParaRPr sz="162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1" name="文字：旁路在线监测+"/>
          <p:cNvSpPr txBox="1"/>
          <p:nvPr/>
        </p:nvSpPr>
        <p:spPr>
          <a:xfrm>
            <a:off x="8181975" y="3086100"/>
            <a:ext cx="1362075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45"/>
              </a:lnSpc>
              <a:spcBef>
                <a:spcPts val="0"/>
              </a:spcBef>
              <a:spcAft>
                <a:spcPts val="0"/>
              </a:spcAft>
            </a:pPr>
            <a:r>
              <a:rPr sz="154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旁路在线监测+</a:t>
            </a:r>
            <a:endParaRPr sz="154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2" name="文字：在现有做青设备上"/>
          <p:cNvSpPr txBox="1"/>
          <p:nvPr/>
        </p:nvSpPr>
        <p:spPr>
          <a:xfrm>
            <a:off x="10848975" y="3114675"/>
            <a:ext cx="1562100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15"/>
              </a:lnSpc>
              <a:spcBef>
                <a:spcPts val="0"/>
              </a:spcBef>
              <a:spcAft>
                <a:spcPts val="0"/>
              </a:spcAft>
            </a:pPr>
            <a:r>
              <a:rPr sz="141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在现有做青设备上</a:t>
            </a:r>
            <a:endParaRPr sz="141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3" name="文字：状态驱动的感知一"/>
          <p:cNvSpPr txBox="1"/>
          <p:nvPr/>
        </p:nvSpPr>
        <p:spPr>
          <a:xfrm>
            <a:off x="13649325" y="3114675"/>
            <a:ext cx="1552575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15"/>
              </a:lnSpc>
              <a:spcBef>
                <a:spcPts val="0"/>
              </a:spcBef>
              <a:spcAft>
                <a:spcPts val="0"/>
              </a:spcAft>
            </a:pPr>
            <a:r>
              <a:rPr sz="141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状态驱动的感知一</a:t>
            </a:r>
            <a:endParaRPr sz="141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4" name="文字：标准化生产、统一管理"/>
          <p:cNvSpPr txBox="1"/>
          <p:nvPr/>
        </p:nvSpPr>
        <p:spPr>
          <a:xfrm>
            <a:off x="4876800" y="3257550"/>
            <a:ext cx="1943100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标准化生产、统一管理</a:t>
            </a:r>
            <a:endParaRPr sz="13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5" name="文字：状态评估"/>
          <p:cNvSpPr txBox="1"/>
          <p:nvPr/>
        </p:nvSpPr>
        <p:spPr>
          <a:xfrm>
            <a:off x="8181975" y="3324225"/>
            <a:ext cx="866775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35"/>
              </a:lnSpc>
              <a:spcBef>
                <a:spcPts val="0"/>
              </a:spcBef>
              <a:spcAft>
                <a:spcPts val="0"/>
              </a:spcAft>
            </a:pPr>
            <a:r>
              <a:rPr sz="153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状态评估</a:t>
            </a:r>
            <a:endParaRPr sz="153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6" name="文字：加装感知与控制模块"/>
          <p:cNvSpPr txBox="1"/>
          <p:nvPr/>
        </p:nvSpPr>
        <p:spPr>
          <a:xfrm>
            <a:off x="10839450" y="3352800"/>
            <a:ext cx="1752600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15"/>
              </a:lnSpc>
              <a:spcBef>
                <a:spcPts val="0"/>
              </a:spcBef>
              <a:spcAft>
                <a:spcPts val="0"/>
              </a:spcAft>
            </a:pPr>
            <a:r>
              <a:rPr sz="141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加装感知与控制模块</a:t>
            </a:r>
            <a:endParaRPr sz="141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7" name="文字：决策一执行一体化系统"/>
          <p:cNvSpPr txBox="1"/>
          <p:nvPr/>
        </p:nvSpPr>
        <p:spPr>
          <a:xfrm>
            <a:off x="13649325" y="3352800"/>
            <a:ext cx="1905000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15"/>
              </a:lnSpc>
              <a:spcBef>
                <a:spcPts val="0"/>
              </a:spcBef>
              <a:spcAft>
                <a:spcPts val="0"/>
              </a:spcAft>
            </a:pPr>
            <a:r>
              <a:rPr sz="141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决策一执行一体化系统</a:t>
            </a:r>
            <a:endParaRPr sz="141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8" name="文字：不直接接管生产"/>
          <p:cNvSpPr txBox="1"/>
          <p:nvPr/>
        </p:nvSpPr>
        <p:spPr>
          <a:xfrm>
            <a:off x="8172450" y="3562350"/>
            <a:ext cx="1409700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49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不直接接管生产</a:t>
            </a:r>
            <a:endParaRPr sz="149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9" name="文字：规模化茶企"/>
          <p:cNvSpPr txBox="1"/>
          <p:nvPr/>
        </p:nvSpPr>
        <p:spPr>
          <a:xfrm>
            <a:off x="4867275" y="3714750"/>
            <a:ext cx="1181100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规模化茶企</a:t>
            </a:r>
            <a:endParaRPr sz="172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0" name="文字：多基地、多产线智能化升级"/>
          <p:cNvSpPr txBox="1"/>
          <p:nvPr/>
        </p:nvSpPr>
        <p:spPr>
          <a:xfrm>
            <a:off x="4867275" y="4000500"/>
            <a:ext cx="23241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70"/>
              </a:lnSpc>
              <a:spcBef>
                <a:spcPts val="0"/>
              </a:spcBef>
              <a:spcAft>
                <a:spcPts val="0"/>
              </a:spcAft>
            </a:pPr>
            <a:r>
              <a:rPr sz="147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多基地、多产线智能化升级</a:t>
            </a:r>
            <a:endParaRPr sz="147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1" name="文字：茶叶加工设备企业"/>
          <p:cNvSpPr txBox="1"/>
          <p:nvPr/>
        </p:nvSpPr>
        <p:spPr>
          <a:xfrm>
            <a:off x="4876800" y="4514850"/>
            <a:ext cx="177165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茶叶加工设备企业</a:t>
            </a:r>
            <a:endParaRPr sz="15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2" name="文字：设备智能化、产品差异化"/>
          <p:cNvSpPr txBox="1"/>
          <p:nvPr/>
        </p:nvSpPr>
        <p:spPr>
          <a:xfrm>
            <a:off x="4876800" y="4819650"/>
            <a:ext cx="2105025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15"/>
              </a:lnSpc>
              <a:spcBef>
                <a:spcPts val="0"/>
              </a:spcBef>
              <a:spcAft>
                <a:spcPts val="0"/>
              </a:spcAft>
            </a:pPr>
            <a:r>
              <a:rPr sz="141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设备智能化、产品差异化</a:t>
            </a:r>
            <a:endParaRPr sz="141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3" name="文字：高校/科研机构"/>
          <p:cNvSpPr txBox="1"/>
          <p:nvPr/>
        </p:nvSpPr>
        <p:spPr>
          <a:xfrm>
            <a:off x="4876800" y="5257800"/>
            <a:ext cx="1628775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高校/科研机构</a:t>
            </a:r>
            <a:endParaRPr sz="15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4" name="文字：工艺研究、技术验证与成果转化"/>
          <p:cNvSpPr txBox="1"/>
          <p:nvPr/>
        </p:nvSpPr>
        <p:spPr>
          <a:xfrm>
            <a:off x="4876800" y="5553075"/>
            <a:ext cx="2667000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工艺研究、技术验证与成果转化</a:t>
            </a:r>
            <a:endParaRPr sz="14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5" name="文字：商业模式假设"/>
          <p:cNvSpPr txBox="1"/>
          <p:nvPr/>
        </p:nvSpPr>
        <p:spPr>
          <a:xfrm>
            <a:off x="3905250" y="5962650"/>
            <a:ext cx="1790700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955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商业模式假设</a:t>
            </a:r>
            <a:endParaRPr sz="1955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6" name="文字：证据状态与商业边界"/>
          <p:cNvSpPr txBox="1"/>
          <p:nvPr/>
        </p:nvSpPr>
        <p:spPr>
          <a:xfrm>
            <a:off x="10715625" y="5962650"/>
            <a:ext cx="2590800" cy="3143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89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证据状态与商业边界</a:t>
            </a:r>
            <a:endParaRPr sz="189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7" name="文字：客户访谈：待开展"/>
          <p:cNvSpPr txBox="1"/>
          <p:nvPr/>
        </p:nvSpPr>
        <p:spPr>
          <a:xfrm>
            <a:off x="11182350" y="6400800"/>
            <a:ext cx="1504950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95"/>
              </a:lnSpc>
              <a:spcBef>
                <a:spcPts val="0"/>
              </a:spcBef>
              <a:spcAft>
                <a:spcPts val="0"/>
              </a:spcAft>
            </a:pPr>
            <a:r>
              <a:rPr sz="139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客户访谈：待开展</a:t>
            </a:r>
            <a:endParaRPr sz="139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8" name="文字：BOM：预研估算"/>
          <p:cNvSpPr txBox="1"/>
          <p:nvPr/>
        </p:nvSpPr>
        <p:spPr>
          <a:xfrm>
            <a:off x="13668375" y="6372225"/>
            <a:ext cx="1400175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BOM：预研估算</a:t>
            </a:r>
            <a:endParaRPr sz="15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9" name="文字：设备销售"/>
          <p:cNvSpPr txBox="1"/>
          <p:nvPr/>
        </p:nvSpPr>
        <p:spPr>
          <a:xfrm>
            <a:off x="4533900" y="6515100"/>
            <a:ext cx="88582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75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设备销售</a:t>
            </a:r>
            <a:endParaRPr sz="157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0" name="文字：改造与技术服务"/>
          <p:cNvSpPr txBox="1"/>
          <p:nvPr/>
        </p:nvSpPr>
        <p:spPr>
          <a:xfrm>
            <a:off x="6591300" y="6534150"/>
            <a:ext cx="1400175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80"/>
              </a:lnSpc>
              <a:spcBef>
                <a:spcPts val="0"/>
              </a:spcBef>
              <a:spcAft>
                <a:spcPts val="0"/>
              </a:spcAft>
            </a:pPr>
            <a:r>
              <a:rPr sz="148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改造与技术服务</a:t>
            </a:r>
            <a:endParaRPr sz="148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1" name="文字：软件/数据服务"/>
          <p:cNvSpPr txBox="1"/>
          <p:nvPr/>
        </p:nvSpPr>
        <p:spPr>
          <a:xfrm>
            <a:off x="8858250" y="6524625"/>
            <a:ext cx="145732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660"/>
              </a:lnSpc>
              <a:spcBef>
                <a:spcPts val="0"/>
              </a:spcBef>
              <a:spcAft>
                <a:spcPts val="0"/>
              </a:spcAft>
            </a:pPr>
            <a:r>
              <a:rPr sz="166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软件/数据服务</a:t>
            </a:r>
            <a:endParaRPr sz="166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2" name="文字：付费意愿：待验证"/>
          <p:cNvSpPr txBox="1"/>
          <p:nvPr/>
        </p:nvSpPr>
        <p:spPr>
          <a:xfrm>
            <a:off x="11201400" y="6772275"/>
            <a:ext cx="1485900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</a:pPr>
            <a:r>
              <a:rPr sz="138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付费意愿：待验证</a:t>
            </a:r>
            <a:endParaRPr sz="138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3" name="文字：MVP感知系统预算："/>
          <p:cNvSpPr txBox="1"/>
          <p:nvPr/>
        </p:nvSpPr>
        <p:spPr>
          <a:xfrm>
            <a:off x="13668375" y="6696075"/>
            <a:ext cx="1695450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85"/>
              </a:lnSpc>
              <a:spcBef>
                <a:spcPts val="0"/>
              </a:spcBef>
              <a:spcAft>
                <a:spcPts val="0"/>
              </a:spcAft>
            </a:pPr>
            <a:r>
              <a:rPr sz="148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MVP感知系统预算：</a:t>
            </a:r>
            <a:endParaRPr sz="148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4" name="文字：标准化产品销售"/>
          <p:cNvSpPr txBox="1"/>
          <p:nvPr/>
        </p:nvSpPr>
        <p:spPr>
          <a:xfrm>
            <a:off x="4533900" y="6943725"/>
            <a:ext cx="12573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280"/>
              </a:lnSpc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标准化产品销售</a:t>
            </a:r>
            <a:endParaRPr sz="128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5" name="文字：设备改造、安装调试"/>
          <p:cNvSpPr txBox="1"/>
          <p:nvPr/>
        </p:nvSpPr>
        <p:spPr>
          <a:xfrm>
            <a:off x="6581775" y="6943725"/>
            <a:ext cx="1504950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240"/>
              </a:lnSpc>
              <a:spcBef>
                <a:spcPts val="0"/>
              </a:spcBef>
              <a:spcAft>
                <a:spcPts val="0"/>
              </a:spcAft>
            </a:pPr>
            <a:r>
              <a:rPr sz="124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设备改造、安装调试</a:t>
            </a:r>
            <a:endParaRPr sz="124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6" name="文字：智能决策系统"/>
          <p:cNvSpPr txBox="1"/>
          <p:nvPr/>
        </p:nvSpPr>
        <p:spPr>
          <a:xfrm>
            <a:off x="8839200" y="6934200"/>
            <a:ext cx="1114425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智能决策系统</a:t>
            </a:r>
            <a:endParaRPr sz="13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7" name="文字：约1000-3000元"/>
          <p:cNvSpPr txBox="1"/>
          <p:nvPr/>
        </p:nvSpPr>
        <p:spPr>
          <a:xfrm>
            <a:off x="13677900" y="6943725"/>
            <a:ext cx="1466850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15"/>
              </a:lnSpc>
              <a:spcBef>
                <a:spcPts val="0"/>
              </a:spcBef>
              <a:spcAft>
                <a:spcPts val="0"/>
              </a:spcAft>
            </a:pPr>
            <a:r>
              <a:rPr sz="141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约1000-3000元</a:t>
            </a:r>
            <a:endParaRPr sz="141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8" name="文字：获取初始收益"/>
          <p:cNvSpPr txBox="1"/>
          <p:nvPr/>
        </p:nvSpPr>
        <p:spPr>
          <a:xfrm>
            <a:off x="4514850" y="7181850"/>
            <a:ext cx="1114425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获取初始收益</a:t>
            </a:r>
            <a:endParaRPr sz="13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9" name="文字：与持续运维服务"/>
          <p:cNvSpPr txBox="1"/>
          <p:nvPr/>
        </p:nvSpPr>
        <p:spPr>
          <a:xfrm>
            <a:off x="6600825" y="7181850"/>
            <a:ext cx="1238250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295"/>
              </a:lnSpc>
              <a:spcBef>
                <a:spcPts val="0"/>
              </a:spcBef>
              <a:spcAft>
                <a:spcPts val="0"/>
              </a:spcAft>
            </a:pPr>
            <a:r>
              <a:rPr sz="129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与持续运维服务</a:t>
            </a:r>
            <a:endParaRPr sz="129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0" name="文字：数据平台与订阅服务"/>
          <p:cNvSpPr txBox="1"/>
          <p:nvPr/>
        </p:nvSpPr>
        <p:spPr>
          <a:xfrm>
            <a:off x="8858250" y="7181850"/>
            <a:ext cx="1571625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数据平台与订阅服务</a:t>
            </a:r>
            <a:endParaRPr sz="13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1" name="文字：市场规模：待核验"/>
          <p:cNvSpPr txBox="1"/>
          <p:nvPr/>
        </p:nvSpPr>
        <p:spPr>
          <a:xfrm>
            <a:off x="11201400" y="7153275"/>
            <a:ext cx="148590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</a:pPr>
            <a:r>
              <a:rPr sz="138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市场规模：待核验</a:t>
            </a:r>
            <a:endParaRPr sz="138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2" name="文字：正式材料以真实采购记录替换。"/>
          <p:cNvSpPr txBox="1"/>
          <p:nvPr/>
        </p:nvSpPr>
        <p:spPr>
          <a:xfrm>
            <a:off x="13211175" y="7305675"/>
            <a:ext cx="2247900" cy="2190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121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正式材料以真实采购记录替换。</a:t>
            </a:r>
            <a:endParaRPr sz="121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3" name="文字：先以感知辅助切入，再逐步走向设备改造与闭环控制"/>
          <p:cNvSpPr txBox="1"/>
          <p:nvPr/>
        </p:nvSpPr>
        <p:spPr>
          <a:xfrm>
            <a:off x="6772275" y="7818664"/>
            <a:ext cx="5343525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先以感知辅助切入，再逐步走向设备改造与闭环控制</a:t>
            </a:r>
            <a:endParaRPr sz="1550" b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共享背景：原图茶园风景（无内容组件）" descr="landscap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5925800" cy="8963025"/>
          </a:xfrm>
          <a:prstGeom prst="rect">
            <a:avLst/>
          </a:prstGeom>
        </p:spPr>
      </p:pic>
      <p:sp>
        <p:nvSpPr>
          <p:cNvPr id="3" name="可编辑框架"/>
          <p:cNvSpPr/>
          <p:nvPr/>
        </p:nvSpPr>
        <p:spPr>
          <a:xfrm>
            <a:off x="0" y="0"/>
            <a:ext cx="15925800" cy="723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：青韵智控"/>
          <p:cNvSpPr txBox="1"/>
          <p:nvPr/>
        </p:nvSpPr>
        <p:spPr>
          <a:xfrm>
            <a:off x="361950" y="190500"/>
            <a:ext cx="13335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73F32"/>
                </a:solidFill>
                <a:latin typeface="微软雅黑" panose="020B0503020204020204" charset="-122"/>
                <a:ea typeface="微软雅黑" panose="020B0503020204020204" charset="-122"/>
              </a:rPr>
              <a:t>青韵智控</a:t>
            </a:r>
            <a:endParaRPr sz="2400" b="1">
              <a:solidFill>
                <a:srgbClr val="073F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1819275" y="257175"/>
            <a:ext cx="0" cy="2762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字：让传统制茶更可控"/>
          <p:cNvSpPr txBox="1"/>
          <p:nvPr/>
        </p:nvSpPr>
        <p:spPr>
          <a:xfrm>
            <a:off x="2076450" y="238125"/>
            <a:ext cx="2190750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让传统制茶更可控</a:t>
            </a:r>
            <a:endParaRPr sz="18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文字：项目背景"/>
          <p:cNvSpPr txBox="1"/>
          <p:nvPr/>
        </p:nvSpPr>
        <p:spPr>
          <a:xfrm>
            <a:off x="8515350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项目背景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9486900" y="323850"/>
            <a:ext cx="0" cy="1619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字：项目概述"/>
          <p:cNvSpPr txBox="1"/>
          <p:nvPr/>
        </p:nvSpPr>
        <p:spPr>
          <a:xfrm>
            <a:off x="9648825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项目概述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10620375" y="323850"/>
            <a:ext cx="0" cy="1619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字：关键技术"/>
          <p:cNvSpPr txBox="1"/>
          <p:nvPr/>
        </p:nvSpPr>
        <p:spPr>
          <a:xfrm>
            <a:off x="10782300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关键技术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11753850" y="323850"/>
            <a:ext cx="0" cy="1619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字：实施与验证"/>
          <p:cNvSpPr txBox="1"/>
          <p:nvPr/>
        </p:nvSpPr>
        <p:spPr>
          <a:xfrm>
            <a:off x="11915775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实施与验证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4" name="Connector 13"/>
          <p:cNvCxnSpPr/>
          <p:nvPr/>
        </p:nvCxnSpPr>
        <p:spPr>
          <a:xfrm>
            <a:off x="12887325" y="323850"/>
            <a:ext cx="0" cy="1619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字：商业模式"/>
          <p:cNvSpPr txBox="1"/>
          <p:nvPr/>
        </p:nvSpPr>
        <p:spPr>
          <a:xfrm>
            <a:off x="13049250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商业模式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14020800" y="323850"/>
            <a:ext cx="0" cy="1619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字：未来展望"/>
          <p:cNvSpPr txBox="1"/>
          <p:nvPr/>
        </p:nvSpPr>
        <p:spPr>
          <a:xfrm>
            <a:off x="14182725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未来展望</a:t>
            </a:r>
            <a:endParaRPr sz="150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8" name="Connector 17"/>
          <p:cNvCxnSpPr/>
          <p:nvPr/>
        </p:nvCxnSpPr>
        <p:spPr>
          <a:xfrm>
            <a:off x="14420850" y="628650"/>
            <a:ext cx="381000" cy="0"/>
          </a:xfrm>
          <a:prstGeom prst="line">
            <a:avLst/>
          </a:prstGeom>
          <a:ln w="19050">
            <a:solidFill>
              <a:srgbClr val="073F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字：16"/>
          <p:cNvSpPr txBox="1"/>
          <p:nvPr/>
        </p:nvSpPr>
        <p:spPr>
          <a:xfrm>
            <a:off x="15163800" y="257175"/>
            <a:ext cx="428625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950" b="0">
                <a:solidFill>
                  <a:srgbClr val="073F32"/>
                </a:solidFill>
                <a:latin typeface="Times New Roman" panose="02020603050405020304"/>
                <a:ea typeface="Times New Roman" panose="02020603050405020304"/>
              </a:rPr>
              <a:t>16</a:t>
            </a:r>
            <a:endParaRPr sz="1950" b="0">
              <a:solidFill>
                <a:srgbClr val="073F32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cxnSp>
        <p:nvCxnSpPr>
          <p:cNvPr id="20" name="Connector 19"/>
          <p:cNvCxnSpPr/>
          <p:nvPr/>
        </p:nvCxnSpPr>
        <p:spPr>
          <a:xfrm>
            <a:off x="0" y="723900"/>
            <a:ext cx="15725775" cy="0"/>
          </a:xfrm>
          <a:prstGeom prst="line">
            <a:avLst/>
          </a:prstGeom>
          <a:ln w="9525">
            <a:solidFill>
              <a:srgbClr val="C7D8D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571875" y="990600"/>
            <a:ext cx="0" cy="6896100"/>
          </a:xfrm>
          <a:prstGeom prst="line">
            <a:avLst/>
          </a:prstGeom>
          <a:ln w="9525">
            <a:solidFill>
              <a:srgbClr val="A4BCB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字：06"/>
          <p:cNvSpPr txBox="1"/>
          <p:nvPr/>
        </p:nvSpPr>
        <p:spPr>
          <a:xfrm>
            <a:off x="457200" y="1409700"/>
            <a:ext cx="2286000" cy="1666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500"/>
              </a:lnSpc>
              <a:spcBef>
                <a:spcPts val="0"/>
              </a:spcBef>
              <a:spcAft>
                <a:spcPts val="0"/>
              </a:spcAft>
            </a:pPr>
            <a:r>
              <a:rPr sz="13500" b="1" i="1">
                <a:solidFill>
                  <a:srgbClr val="073F32"/>
                </a:solidFill>
                <a:latin typeface="Times New Roman" panose="02020603050405020304"/>
                <a:ea typeface="Times New Roman" panose="02020603050405020304"/>
              </a:rPr>
              <a:t>06</a:t>
            </a:r>
            <a:endParaRPr sz="13500" b="1" i="1">
              <a:solidFill>
                <a:srgbClr val="073F32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cxnSp>
        <p:nvCxnSpPr>
          <p:cNvPr id="23" name="Connector 22"/>
          <p:cNvCxnSpPr/>
          <p:nvPr/>
        </p:nvCxnSpPr>
        <p:spPr>
          <a:xfrm flipV="1">
            <a:off x="2619375" y="1704975"/>
            <a:ext cx="514350" cy="1190625"/>
          </a:xfrm>
          <a:prstGeom prst="line">
            <a:avLst/>
          </a:prstGeom>
          <a:ln w="11429">
            <a:solidFill>
              <a:srgbClr val="073F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字：未来展望"/>
          <p:cNvSpPr txBox="1"/>
          <p:nvPr/>
        </p:nvSpPr>
        <p:spPr>
          <a:xfrm>
            <a:off x="485775" y="3114675"/>
            <a:ext cx="3000375" cy="838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5250"/>
              </a:lnSpc>
              <a:spcBef>
                <a:spcPts val="0"/>
              </a:spcBef>
              <a:spcAft>
                <a:spcPts val="0"/>
              </a:spcAft>
            </a:pPr>
            <a:r>
              <a:rPr sz="525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未来展望</a:t>
            </a:r>
            <a:endParaRPr sz="525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5" name="文字：发展规划、风险控制&#10;与产业延展"/>
          <p:cNvSpPr txBox="1"/>
          <p:nvPr/>
        </p:nvSpPr>
        <p:spPr>
          <a:xfrm>
            <a:off x="552450" y="4076700"/>
            <a:ext cx="2905125" cy="838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sz="217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发展规划、风险控制</a:t>
            </a:r>
            <a:br>
              <a:rPr sz="217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sz="217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与产业延展</a:t>
            </a:r>
            <a:endParaRPr sz="217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26" name="Connector 25"/>
          <p:cNvCxnSpPr/>
          <p:nvPr/>
        </p:nvCxnSpPr>
        <p:spPr>
          <a:xfrm>
            <a:off x="552450" y="5076825"/>
            <a:ext cx="400050" cy="0"/>
          </a:xfrm>
          <a:prstGeom prst="line">
            <a:avLst/>
          </a:prstGeom>
          <a:ln w="9525">
            <a:solidFill>
              <a:srgbClr val="073F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字：“先做出可信样机，再逐步&#10; 走向真实茶季&#10; 与真实产线。”"/>
          <p:cNvSpPr txBox="1"/>
          <p:nvPr/>
        </p:nvSpPr>
        <p:spPr>
          <a:xfrm>
            <a:off x="457200" y="5314950"/>
            <a:ext cx="2990850" cy="1095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75" b="0">
                <a:solidFill>
                  <a:srgbClr val="073F32"/>
                </a:solidFill>
                <a:latin typeface="楷体" panose="02010609060101010101" charset="-122"/>
                <a:ea typeface="楷体" panose="02010609060101010101" charset="-122"/>
              </a:rPr>
              <a:t>“先做出可信样机，再逐步</a:t>
            </a:r>
            <a:br>
              <a:rPr sz="1875" b="0">
                <a:solidFill>
                  <a:srgbClr val="073F32"/>
                </a:solidFill>
                <a:latin typeface="楷体" panose="02010609060101010101" charset="-122"/>
                <a:ea typeface="楷体" panose="02010609060101010101" charset="-122"/>
              </a:rPr>
            </a:br>
            <a:r>
              <a:rPr sz="1875" b="0">
                <a:solidFill>
                  <a:srgbClr val="073F32"/>
                </a:solidFill>
                <a:latin typeface="楷体" panose="02010609060101010101" charset="-122"/>
                <a:ea typeface="楷体" panose="02010609060101010101" charset="-122"/>
              </a:rPr>
              <a:t> 走向真实茶季</a:t>
            </a:r>
            <a:br>
              <a:rPr sz="1875" b="0">
                <a:solidFill>
                  <a:srgbClr val="073F32"/>
                </a:solidFill>
                <a:latin typeface="楷体" panose="02010609060101010101" charset="-122"/>
                <a:ea typeface="楷体" panose="02010609060101010101" charset="-122"/>
              </a:rPr>
            </a:br>
            <a:r>
              <a:rPr sz="1875" b="0">
                <a:solidFill>
                  <a:srgbClr val="073F32"/>
                </a:solidFill>
                <a:latin typeface="楷体" panose="02010609060101010101" charset="-122"/>
                <a:ea typeface="楷体" panose="02010609060101010101" charset="-122"/>
              </a:rPr>
              <a:t> 与真实产线。”</a:t>
            </a:r>
            <a:endParaRPr sz="1875" b="0">
              <a:solidFill>
                <a:srgbClr val="073F32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28" name="文字：中 国 茶 · 产 业 智 造 · 中 国 未 来"/>
          <p:cNvSpPr txBox="1"/>
          <p:nvPr/>
        </p:nvSpPr>
        <p:spPr>
          <a:xfrm>
            <a:off x="11791950" y="8439150"/>
            <a:ext cx="3619500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 国 茶 · 产 业 智 造 · 中 国 未 来</a:t>
            </a:r>
            <a:endParaRPr sz="13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9" name="文字：6.1 未来展望与风险"/>
          <p:cNvSpPr txBox="1"/>
          <p:nvPr/>
        </p:nvSpPr>
        <p:spPr>
          <a:xfrm>
            <a:off x="3867150" y="981075"/>
            <a:ext cx="3648075" cy="514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3150"/>
              </a:lnSpc>
              <a:spcBef>
                <a:spcPts val="0"/>
              </a:spcBef>
              <a:spcAft>
                <a:spcPts val="0"/>
              </a:spcAft>
            </a:pPr>
            <a:r>
              <a:rPr sz="315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6.1 未来展望与风险</a:t>
            </a:r>
            <a:endParaRPr sz="315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30" name="Connector 29"/>
          <p:cNvCxnSpPr/>
          <p:nvPr/>
        </p:nvCxnSpPr>
        <p:spPr>
          <a:xfrm>
            <a:off x="7600950" y="1085850"/>
            <a:ext cx="0" cy="304800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字：先完成可信样机和真实证据，再扩展茶季、茶企和茶类"/>
          <p:cNvSpPr txBox="1"/>
          <p:nvPr/>
        </p:nvSpPr>
        <p:spPr>
          <a:xfrm>
            <a:off x="7772400" y="1038225"/>
            <a:ext cx="7734300" cy="4476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先完成可信样机和真实证据，再扩展茶季、茶企和茶类</a:t>
            </a:r>
            <a:endParaRPr sz="210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2" name="可编辑框架"/>
          <p:cNvSpPr/>
          <p:nvPr/>
        </p:nvSpPr>
        <p:spPr>
          <a:xfrm>
            <a:off x="3867150" y="1628775"/>
            <a:ext cx="6781800" cy="447675"/>
          </a:xfrm>
          <a:prstGeom prst="rect">
            <a:avLst/>
          </a:prstGeom>
          <a:solidFill>
            <a:srgbClr val="E2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可编辑框架"/>
          <p:cNvSpPr/>
          <p:nvPr/>
        </p:nvSpPr>
        <p:spPr>
          <a:xfrm>
            <a:off x="11029950" y="1628775"/>
            <a:ext cx="4505325" cy="447675"/>
          </a:xfrm>
          <a:prstGeom prst="rect">
            <a:avLst/>
          </a:prstGeom>
          <a:solidFill>
            <a:srgbClr val="E2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可编辑框架"/>
          <p:cNvSpPr/>
          <p:nvPr/>
        </p:nvSpPr>
        <p:spPr>
          <a:xfrm>
            <a:off x="3867150" y="2400300"/>
            <a:ext cx="1600200" cy="361950"/>
          </a:xfrm>
          <a:prstGeom prst="rect">
            <a:avLst/>
          </a:prstGeom>
          <a:solidFill>
            <a:srgbClr val="E2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可编辑框架"/>
          <p:cNvSpPr/>
          <p:nvPr/>
        </p:nvSpPr>
        <p:spPr>
          <a:xfrm>
            <a:off x="5581650" y="2400300"/>
            <a:ext cx="1600200" cy="361950"/>
          </a:xfrm>
          <a:prstGeom prst="rect">
            <a:avLst/>
          </a:prstGeom>
          <a:solidFill>
            <a:srgbClr val="E2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可编辑框架"/>
          <p:cNvSpPr/>
          <p:nvPr/>
        </p:nvSpPr>
        <p:spPr>
          <a:xfrm>
            <a:off x="7296150" y="2400300"/>
            <a:ext cx="1600200" cy="361950"/>
          </a:xfrm>
          <a:prstGeom prst="rect">
            <a:avLst/>
          </a:prstGeom>
          <a:solidFill>
            <a:srgbClr val="E2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可编辑框架"/>
          <p:cNvSpPr/>
          <p:nvPr/>
        </p:nvSpPr>
        <p:spPr>
          <a:xfrm>
            <a:off x="9010650" y="2400300"/>
            <a:ext cx="1600200" cy="361950"/>
          </a:xfrm>
          <a:prstGeom prst="rect">
            <a:avLst/>
          </a:prstGeom>
          <a:solidFill>
            <a:srgbClr val="E2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可编辑框架"/>
          <p:cNvSpPr/>
          <p:nvPr/>
        </p:nvSpPr>
        <p:spPr>
          <a:xfrm>
            <a:off x="11029950" y="5715000"/>
            <a:ext cx="1866900" cy="295275"/>
          </a:xfrm>
          <a:prstGeom prst="rect">
            <a:avLst/>
          </a:prstGeom>
          <a:solidFill>
            <a:srgbClr val="E2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可编辑框架"/>
          <p:cNvSpPr/>
          <p:nvPr/>
        </p:nvSpPr>
        <p:spPr>
          <a:xfrm>
            <a:off x="13173075" y="5715000"/>
            <a:ext cx="2352675" cy="295275"/>
          </a:xfrm>
          <a:prstGeom prst="rect">
            <a:avLst/>
          </a:prstGeom>
          <a:solidFill>
            <a:srgbClr val="E2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可编辑框架"/>
          <p:cNvSpPr/>
          <p:nvPr/>
        </p:nvSpPr>
        <p:spPr>
          <a:xfrm>
            <a:off x="3867150" y="7715250"/>
            <a:ext cx="11677650" cy="428625"/>
          </a:xfrm>
          <a:prstGeom prst="roundRect">
            <a:avLst>
              <a:gd name="adj" fmla="val 2500"/>
            </a:avLst>
          </a:prstGeom>
          <a:solidFill>
            <a:srgbClr val="095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独立图标或流程线" descr="p16_icon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0950" y="2295525"/>
            <a:ext cx="438150" cy="371475"/>
          </a:xfrm>
          <a:prstGeom prst="rect">
            <a:avLst/>
          </a:prstGeom>
        </p:spPr>
      </p:pic>
      <p:pic>
        <p:nvPicPr>
          <p:cNvPr id="42" name="独立图标或流程线" descr="p16_icon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8175" y="2819400"/>
            <a:ext cx="5448300" cy="314325"/>
          </a:xfrm>
          <a:prstGeom prst="rect">
            <a:avLst/>
          </a:prstGeom>
        </p:spPr>
      </p:pic>
      <p:pic>
        <p:nvPicPr>
          <p:cNvPr id="43" name="独立图标或流程线" descr="p16_icon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20475" y="3000375"/>
            <a:ext cx="400050" cy="409575"/>
          </a:xfrm>
          <a:prstGeom prst="rect">
            <a:avLst/>
          </a:prstGeom>
        </p:spPr>
      </p:pic>
      <p:pic>
        <p:nvPicPr>
          <p:cNvPr id="44" name="独立图标或流程线" descr="p16_icon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00550" y="3371850"/>
            <a:ext cx="400050" cy="361950"/>
          </a:xfrm>
          <a:prstGeom prst="rect">
            <a:avLst/>
          </a:prstGeom>
        </p:spPr>
      </p:pic>
      <p:pic>
        <p:nvPicPr>
          <p:cNvPr id="45" name="独立图标或流程线" descr="p16_icon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15050" y="3362325"/>
            <a:ext cx="409575" cy="371475"/>
          </a:xfrm>
          <a:prstGeom prst="rect">
            <a:avLst/>
          </a:prstGeom>
        </p:spPr>
      </p:pic>
      <p:pic>
        <p:nvPicPr>
          <p:cNvPr id="46" name="独立图标或流程线" descr="p16_icon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48600" y="3362325"/>
            <a:ext cx="361950" cy="390525"/>
          </a:xfrm>
          <a:prstGeom prst="rect">
            <a:avLst/>
          </a:prstGeom>
        </p:spPr>
      </p:pic>
      <p:pic>
        <p:nvPicPr>
          <p:cNvPr id="47" name="独立图标或流程线" descr="p16_icon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72625" y="3362325"/>
            <a:ext cx="342900" cy="390525"/>
          </a:xfrm>
          <a:prstGeom prst="rect">
            <a:avLst/>
          </a:prstGeom>
        </p:spPr>
      </p:pic>
      <p:pic>
        <p:nvPicPr>
          <p:cNvPr id="48" name="独立图标或流程线" descr="p16_icon7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439525" y="3714750"/>
            <a:ext cx="371475" cy="428625"/>
          </a:xfrm>
          <a:prstGeom prst="rect">
            <a:avLst/>
          </a:prstGeom>
        </p:spPr>
      </p:pic>
      <p:pic>
        <p:nvPicPr>
          <p:cNvPr id="49" name="独立图标或流程线" descr="p16_icon8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439525" y="4476750"/>
            <a:ext cx="381000" cy="381000"/>
          </a:xfrm>
          <a:prstGeom prst="rect">
            <a:avLst/>
          </a:prstGeom>
        </p:spPr>
      </p:pic>
      <p:pic>
        <p:nvPicPr>
          <p:cNvPr id="50" name="独立图标或流程线" descr="p16_icon9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563100" y="4495800"/>
            <a:ext cx="342900" cy="381000"/>
          </a:xfrm>
          <a:prstGeom prst="rect">
            <a:avLst/>
          </a:prstGeom>
        </p:spPr>
      </p:pic>
      <p:pic>
        <p:nvPicPr>
          <p:cNvPr id="51" name="独立图标或流程线" descr="p16_icon10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829550" y="4552950"/>
            <a:ext cx="390525" cy="390525"/>
          </a:xfrm>
          <a:prstGeom prst="rect">
            <a:avLst/>
          </a:prstGeom>
        </p:spPr>
      </p:pic>
      <p:pic>
        <p:nvPicPr>
          <p:cNvPr id="52" name="独立图标或流程线" descr="p16_icon11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134100" y="4591050"/>
            <a:ext cx="371475" cy="371475"/>
          </a:xfrm>
          <a:prstGeom prst="rect">
            <a:avLst/>
          </a:prstGeom>
        </p:spPr>
      </p:pic>
      <p:pic>
        <p:nvPicPr>
          <p:cNvPr id="53" name="独立图标或流程线" descr="p16_icon12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429125" y="4724400"/>
            <a:ext cx="342900" cy="381000"/>
          </a:xfrm>
          <a:prstGeom prst="rect">
            <a:avLst/>
          </a:prstGeom>
        </p:spPr>
      </p:pic>
      <p:cxnSp>
        <p:nvCxnSpPr>
          <p:cNvPr id="54" name="Connector 53"/>
          <p:cNvCxnSpPr/>
          <p:nvPr/>
        </p:nvCxnSpPr>
        <p:spPr>
          <a:xfrm>
            <a:off x="13144500" y="5472112"/>
            <a:ext cx="2409825" cy="0"/>
          </a:xfrm>
          <a:prstGeom prst="line">
            <a:avLst/>
          </a:prstGeom>
          <a:ln w="9525">
            <a:solidFill>
              <a:srgbClr val="86AA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5" name="独立图标或流程线" descr="p16_icon13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515475" y="5638800"/>
            <a:ext cx="447675" cy="342900"/>
          </a:xfrm>
          <a:prstGeom prst="rect">
            <a:avLst/>
          </a:prstGeom>
        </p:spPr>
      </p:pic>
      <p:pic>
        <p:nvPicPr>
          <p:cNvPr id="56" name="独立图标或流程线" descr="p16_icon14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143625" y="5886450"/>
            <a:ext cx="342900" cy="371475"/>
          </a:xfrm>
          <a:prstGeom prst="rect">
            <a:avLst/>
          </a:prstGeom>
        </p:spPr>
      </p:pic>
      <p:pic>
        <p:nvPicPr>
          <p:cNvPr id="57" name="独立图标或流程线" descr="p16_icon15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829550" y="6019800"/>
            <a:ext cx="400050" cy="361950"/>
          </a:xfrm>
          <a:prstGeom prst="rect">
            <a:avLst/>
          </a:prstGeom>
        </p:spPr>
      </p:pic>
      <p:pic>
        <p:nvPicPr>
          <p:cNvPr id="58" name="独立图标或流程线" descr="p16_icon16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220450" y="6076950"/>
            <a:ext cx="285750" cy="295275"/>
          </a:xfrm>
          <a:prstGeom prst="rect">
            <a:avLst/>
          </a:prstGeom>
        </p:spPr>
      </p:pic>
      <p:pic>
        <p:nvPicPr>
          <p:cNvPr id="59" name="独立图标或流程线" descr="p16_icon17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2734925" y="6115050"/>
            <a:ext cx="152400" cy="219075"/>
          </a:xfrm>
          <a:prstGeom prst="rect">
            <a:avLst/>
          </a:prstGeom>
        </p:spPr>
      </p:pic>
      <p:pic>
        <p:nvPicPr>
          <p:cNvPr id="60" name="独立图标或流程线" descr="p16_icon18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419600" y="6124575"/>
            <a:ext cx="361950" cy="371475"/>
          </a:xfrm>
          <a:prstGeom prst="rect">
            <a:avLst/>
          </a:prstGeom>
        </p:spPr>
      </p:pic>
      <p:pic>
        <p:nvPicPr>
          <p:cNvPr id="61" name="独立图标或流程线" descr="p16_icon19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1220450" y="6477000"/>
            <a:ext cx="295275" cy="323850"/>
          </a:xfrm>
          <a:prstGeom prst="rect">
            <a:avLst/>
          </a:prstGeom>
        </p:spPr>
      </p:pic>
      <p:pic>
        <p:nvPicPr>
          <p:cNvPr id="62" name="独立图标或流程线" descr="p16_icon20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2734925" y="6524625"/>
            <a:ext cx="152400" cy="228600"/>
          </a:xfrm>
          <a:prstGeom prst="rect">
            <a:avLst/>
          </a:prstGeom>
        </p:spPr>
      </p:pic>
      <p:pic>
        <p:nvPicPr>
          <p:cNvPr id="63" name="独立图标或流程线" descr="p16_icon21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1229975" y="6886575"/>
            <a:ext cx="276225" cy="323850"/>
          </a:xfrm>
          <a:prstGeom prst="rect">
            <a:avLst/>
          </a:prstGeom>
        </p:spPr>
      </p:pic>
      <p:pic>
        <p:nvPicPr>
          <p:cNvPr id="64" name="独立图标或流程线" descr="p16_icon22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2734925" y="6943725"/>
            <a:ext cx="152400" cy="219075"/>
          </a:xfrm>
          <a:prstGeom prst="rect">
            <a:avLst/>
          </a:prstGeom>
        </p:spPr>
      </p:pic>
      <p:pic>
        <p:nvPicPr>
          <p:cNvPr id="65" name="独立图标或流程线" descr="p16_icon23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039225" y="6962775"/>
            <a:ext cx="381000" cy="438150"/>
          </a:xfrm>
          <a:prstGeom prst="rect">
            <a:avLst/>
          </a:prstGeom>
        </p:spPr>
      </p:pic>
      <p:pic>
        <p:nvPicPr>
          <p:cNvPr id="66" name="独立图标或流程线" descr="p16_icon24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1220450" y="7315200"/>
            <a:ext cx="295275" cy="247649"/>
          </a:xfrm>
          <a:prstGeom prst="rect">
            <a:avLst/>
          </a:prstGeom>
        </p:spPr>
      </p:pic>
      <p:pic>
        <p:nvPicPr>
          <p:cNvPr id="67" name="独立图标或流程线" descr="p16_icon25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2734925" y="7343775"/>
            <a:ext cx="152400" cy="219075"/>
          </a:xfrm>
          <a:prstGeom prst="rect">
            <a:avLst/>
          </a:prstGeom>
        </p:spPr>
      </p:pic>
      <p:pic>
        <p:nvPicPr>
          <p:cNvPr id="68" name="独立图标或流程线" descr="p16_icon26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3781425" y="7410449"/>
            <a:ext cx="190500" cy="152400"/>
          </a:xfrm>
          <a:prstGeom prst="rect">
            <a:avLst/>
          </a:prstGeom>
        </p:spPr>
      </p:pic>
      <p:pic>
        <p:nvPicPr>
          <p:cNvPr id="69" name="独立图标或流程线" descr="p16_icon27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5440025" y="7439024"/>
            <a:ext cx="219075" cy="123824"/>
          </a:xfrm>
          <a:prstGeom prst="rect">
            <a:avLst/>
          </a:prstGeom>
        </p:spPr>
      </p:pic>
      <p:sp>
        <p:nvSpPr>
          <p:cNvPr id="70" name="文字：未来1年"/>
          <p:cNvSpPr txBox="1"/>
          <p:nvPr/>
        </p:nvSpPr>
        <p:spPr>
          <a:xfrm>
            <a:off x="4086225" y="1676400"/>
            <a:ext cx="13716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360"/>
              </a:lnSpc>
              <a:spcBef>
                <a:spcPts val="0"/>
              </a:spcBef>
              <a:spcAft>
                <a:spcPts val="0"/>
              </a:spcAft>
            </a:pPr>
            <a:r>
              <a:rPr sz="236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未来1年</a:t>
            </a:r>
            <a:endParaRPr sz="236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1" name="文字：未来3年"/>
          <p:cNvSpPr txBox="1"/>
          <p:nvPr/>
        </p:nvSpPr>
        <p:spPr>
          <a:xfrm>
            <a:off x="11229975" y="1676400"/>
            <a:ext cx="1343025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360"/>
              </a:lnSpc>
              <a:spcBef>
                <a:spcPts val="0"/>
              </a:spcBef>
              <a:spcAft>
                <a:spcPts val="0"/>
              </a:spcAft>
            </a:pPr>
            <a:r>
              <a:rPr sz="236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未来3年</a:t>
            </a:r>
            <a:endParaRPr sz="236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2" name="文字：茶企/合作社试用"/>
          <p:cNvSpPr txBox="1"/>
          <p:nvPr/>
        </p:nvSpPr>
        <p:spPr>
          <a:xfrm>
            <a:off x="12201525" y="2238375"/>
            <a:ext cx="17145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</a:pPr>
            <a:r>
              <a:rPr sz="168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茶企/合作社试用</a:t>
            </a:r>
            <a:endParaRPr sz="168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3" name="文字：0-3个月"/>
          <p:cNvSpPr txBox="1"/>
          <p:nvPr/>
        </p:nvSpPr>
        <p:spPr>
          <a:xfrm>
            <a:off x="4238625" y="2428875"/>
            <a:ext cx="933450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75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0-3个月</a:t>
            </a:r>
            <a:endParaRPr sz="175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4" name="文字：4-6个月"/>
          <p:cNvSpPr txBox="1"/>
          <p:nvPr/>
        </p:nvSpPr>
        <p:spPr>
          <a:xfrm>
            <a:off x="5943600" y="2409825"/>
            <a:ext cx="942975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930"/>
              </a:lnSpc>
              <a:spcBef>
                <a:spcPts val="0"/>
              </a:spcBef>
              <a:spcAft>
                <a:spcPts val="0"/>
              </a:spcAft>
            </a:pPr>
            <a:r>
              <a:rPr sz="193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4-6个月</a:t>
            </a:r>
            <a:endParaRPr sz="193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5" name="文字：7-9个月"/>
          <p:cNvSpPr txBox="1"/>
          <p:nvPr/>
        </p:nvSpPr>
        <p:spPr>
          <a:xfrm>
            <a:off x="7667625" y="2409825"/>
            <a:ext cx="942975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930"/>
              </a:lnSpc>
              <a:spcBef>
                <a:spcPts val="0"/>
              </a:spcBef>
              <a:spcAft>
                <a:spcPts val="0"/>
              </a:spcAft>
            </a:pPr>
            <a:r>
              <a:rPr sz="193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7-9个月</a:t>
            </a:r>
            <a:endParaRPr sz="193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6" name="文字：10-12个月"/>
          <p:cNvSpPr txBox="1"/>
          <p:nvPr/>
        </p:nvSpPr>
        <p:spPr>
          <a:xfrm>
            <a:off x="9258300" y="2428875"/>
            <a:ext cx="11334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75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10-12个月</a:t>
            </a:r>
            <a:endParaRPr sz="175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7" name="文字：在更多产区推广应用，形成可复制模式"/>
          <p:cNvSpPr txBox="1"/>
          <p:nvPr/>
        </p:nvSpPr>
        <p:spPr>
          <a:xfrm>
            <a:off x="12201525" y="2524125"/>
            <a:ext cx="2943225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</a:pPr>
            <a:r>
              <a:rPr sz="132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在更多产区推广应用，形成可复制模式</a:t>
            </a:r>
            <a:endParaRPr sz="132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8" name="文字：完善外挂改造和闭环设备"/>
          <p:cNvSpPr txBox="1"/>
          <p:nvPr/>
        </p:nvSpPr>
        <p:spPr>
          <a:xfrm>
            <a:off x="12201525" y="2971800"/>
            <a:ext cx="2333625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610"/>
              </a:lnSpc>
              <a:spcBef>
                <a:spcPts val="0"/>
              </a:spcBef>
              <a:spcAft>
                <a:spcPts val="0"/>
              </a:spcAft>
            </a:pPr>
            <a:r>
              <a:rPr sz="161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完善外挂改造和闭环设备</a:t>
            </a:r>
            <a:endParaRPr sz="161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9" name="文字：适配不同规模与场景，提升通用性"/>
          <p:cNvSpPr txBox="1"/>
          <p:nvPr/>
        </p:nvSpPr>
        <p:spPr>
          <a:xfrm>
            <a:off x="12201525" y="3257550"/>
            <a:ext cx="2619375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33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适配不同规模与场景，提升通用性</a:t>
            </a:r>
            <a:endParaRPr sz="133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0" name="文字：建立工艺数据与知识库"/>
          <p:cNvSpPr txBox="1"/>
          <p:nvPr/>
        </p:nvSpPr>
        <p:spPr>
          <a:xfrm>
            <a:off x="12211050" y="3714750"/>
            <a:ext cx="2162175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建立工艺数据与知识库</a:t>
            </a:r>
            <a:endParaRPr sz="162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1" name="文字：完成多模态"/>
          <p:cNvSpPr txBox="1"/>
          <p:nvPr/>
        </p:nvSpPr>
        <p:spPr>
          <a:xfrm>
            <a:off x="3962400" y="3943350"/>
            <a:ext cx="106680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45"/>
              </a:lnSpc>
              <a:spcBef>
                <a:spcPts val="0"/>
              </a:spcBef>
              <a:spcAft>
                <a:spcPts val="0"/>
              </a:spcAft>
            </a:pPr>
            <a:r>
              <a:rPr sz="154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完成多模态</a:t>
            </a:r>
            <a:endParaRPr sz="154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2" name="文字：多批次状态模型"/>
          <p:cNvSpPr txBox="1"/>
          <p:nvPr/>
        </p:nvSpPr>
        <p:spPr>
          <a:xfrm>
            <a:off x="5676900" y="3943350"/>
            <a:ext cx="140970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49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多批次状态模型</a:t>
            </a:r>
            <a:endParaRPr sz="149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3" name="文字：人工确认半自动"/>
          <p:cNvSpPr txBox="1"/>
          <p:nvPr/>
        </p:nvSpPr>
        <p:spPr>
          <a:xfrm>
            <a:off x="7381875" y="3943350"/>
            <a:ext cx="1419225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人工确认半自动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4" name="文字：闭环验证"/>
          <p:cNvSpPr txBox="1"/>
          <p:nvPr/>
        </p:nvSpPr>
        <p:spPr>
          <a:xfrm>
            <a:off x="9067800" y="3943350"/>
            <a:ext cx="885825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75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闭环验证</a:t>
            </a:r>
            <a:endParaRPr sz="157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5" name="文字：沉淀工艺规律，支持持续优化"/>
          <p:cNvSpPr txBox="1"/>
          <p:nvPr/>
        </p:nvSpPr>
        <p:spPr>
          <a:xfrm>
            <a:off x="12201525" y="4010025"/>
            <a:ext cx="2295525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40"/>
              </a:lnSpc>
              <a:spcBef>
                <a:spcPts val="0"/>
              </a:spcBef>
              <a:spcAft>
                <a:spcPts val="0"/>
              </a:spcAft>
            </a:pPr>
            <a:r>
              <a:rPr sz="134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沉淀工艺规律，支持持续优化</a:t>
            </a:r>
            <a:endParaRPr sz="134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6" name="文字：采集平台"/>
          <p:cNvSpPr txBox="1"/>
          <p:nvPr/>
        </p:nvSpPr>
        <p:spPr>
          <a:xfrm>
            <a:off x="3962400" y="4200525"/>
            <a:ext cx="885825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75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采集平台</a:t>
            </a:r>
            <a:endParaRPr sz="157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7" name="文字：研究向其他乌龙茶迁移"/>
          <p:cNvSpPr txBox="1"/>
          <p:nvPr/>
        </p:nvSpPr>
        <p:spPr>
          <a:xfrm>
            <a:off x="12230100" y="4457700"/>
            <a:ext cx="2171700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15"/>
              </a:lnSpc>
              <a:spcBef>
                <a:spcPts val="0"/>
              </a:spcBef>
              <a:spcAft>
                <a:spcPts val="0"/>
              </a:spcAft>
            </a:pPr>
            <a:r>
              <a:rPr sz="141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研究向其他乌龙茶迁移</a:t>
            </a:r>
            <a:endParaRPr sz="141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8" name="文字：逐步扩展至不同乌龙茶类与工艺"/>
          <p:cNvSpPr txBox="1"/>
          <p:nvPr/>
        </p:nvSpPr>
        <p:spPr>
          <a:xfrm>
            <a:off x="12201525" y="4743450"/>
            <a:ext cx="2466975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40"/>
              </a:lnSpc>
              <a:spcBef>
                <a:spcPts val="0"/>
              </a:spcBef>
              <a:spcAft>
                <a:spcPts val="0"/>
              </a:spcAft>
            </a:pPr>
            <a:r>
              <a:rPr sz="134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逐步扩展至不同乌龙茶类与工艺</a:t>
            </a:r>
            <a:endParaRPr sz="134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9" name="文字：控制规则和"/>
          <p:cNvSpPr txBox="1"/>
          <p:nvPr/>
        </p:nvSpPr>
        <p:spPr>
          <a:xfrm>
            <a:off x="7372350" y="5124450"/>
            <a:ext cx="1076325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控制规则和</a:t>
            </a:r>
            <a:endParaRPr sz="15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0" name="文字：成茶品质评价"/>
          <p:cNvSpPr txBox="1"/>
          <p:nvPr/>
        </p:nvSpPr>
        <p:spPr>
          <a:xfrm>
            <a:off x="9077325" y="5048250"/>
            <a:ext cx="1228725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成茶品质评价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1" name="文字：稳定性/干扰/"/>
          <p:cNvSpPr txBox="1"/>
          <p:nvPr/>
        </p:nvSpPr>
        <p:spPr>
          <a:xfrm>
            <a:off x="3952875" y="5257800"/>
            <a:ext cx="14478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785"/>
              </a:lnSpc>
              <a:spcBef>
                <a:spcPts val="0"/>
              </a:spcBef>
              <a:spcAft>
                <a:spcPts val="0"/>
              </a:spcAft>
            </a:pPr>
            <a:r>
              <a:rPr sz="178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稳定性/干扰/</a:t>
            </a:r>
            <a:endParaRPr sz="178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2" name="文字：多模态消融"/>
          <p:cNvSpPr txBox="1"/>
          <p:nvPr/>
        </p:nvSpPr>
        <p:spPr>
          <a:xfrm>
            <a:off x="5676900" y="5172075"/>
            <a:ext cx="1066800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45"/>
              </a:lnSpc>
              <a:spcBef>
                <a:spcPts val="0"/>
              </a:spcBef>
              <a:spcAft>
                <a:spcPts val="0"/>
              </a:spcAft>
            </a:pPr>
            <a:r>
              <a:rPr sz="154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多模态消融</a:t>
            </a:r>
            <a:endParaRPr sz="154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3" name="文字：安全回退"/>
          <p:cNvSpPr txBox="1"/>
          <p:nvPr/>
        </p:nvSpPr>
        <p:spPr>
          <a:xfrm>
            <a:off x="7362825" y="5381625"/>
            <a:ext cx="895350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95"/>
              </a:lnSpc>
              <a:spcBef>
                <a:spcPts val="0"/>
              </a:spcBef>
              <a:spcAft>
                <a:spcPts val="0"/>
              </a:spcAft>
            </a:pPr>
            <a:r>
              <a:rPr sz="159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安全回退</a:t>
            </a:r>
            <a:endParaRPr sz="159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4" name="文字：关键风险与应对"/>
          <p:cNvSpPr txBox="1"/>
          <p:nvPr/>
        </p:nvSpPr>
        <p:spPr>
          <a:xfrm>
            <a:off x="11106150" y="5295900"/>
            <a:ext cx="2047875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955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关键风险与应对</a:t>
            </a:r>
            <a:endParaRPr sz="1955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5" name="文字：标定实验"/>
          <p:cNvSpPr txBox="1"/>
          <p:nvPr/>
        </p:nvSpPr>
        <p:spPr>
          <a:xfrm>
            <a:off x="3952875" y="5534025"/>
            <a:ext cx="9048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610"/>
              </a:lnSpc>
              <a:spcBef>
                <a:spcPts val="0"/>
              </a:spcBef>
              <a:spcAft>
                <a:spcPts val="0"/>
              </a:spcAft>
            </a:pPr>
            <a:r>
              <a:rPr sz="161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标定实验</a:t>
            </a:r>
            <a:endParaRPr sz="161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6" name="文字：主要风险"/>
          <p:cNvSpPr txBox="1"/>
          <p:nvPr/>
        </p:nvSpPr>
        <p:spPr>
          <a:xfrm>
            <a:off x="11620500" y="5734050"/>
            <a:ext cx="828675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60"/>
              </a:lnSpc>
              <a:spcBef>
                <a:spcPts val="0"/>
              </a:spcBef>
              <a:spcAft>
                <a:spcPts val="0"/>
              </a:spcAft>
            </a:pPr>
            <a:r>
              <a:rPr sz="146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主要风险</a:t>
            </a:r>
            <a:endParaRPr sz="146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7" name="文字：应对策略"/>
          <p:cNvSpPr txBox="1"/>
          <p:nvPr/>
        </p:nvSpPr>
        <p:spPr>
          <a:xfrm>
            <a:off x="13992225" y="5734050"/>
            <a:ext cx="847725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应对策略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8" name="文字：茶企／合作社"/>
          <p:cNvSpPr txBox="1"/>
          <p:nvPr/>
        </p:nvSpPr>
        <p:spPr>
          <a:xfrm>
            <a:off x="9077325" y="6162675"/>
            <a:ext cx="1266825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茶企／合作社</a:t>
            </a:r>
            <a:endParaRPr sz="15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9" name="文字：传感漂移"/>
          <p:cNvSpPr txBox="1"/>
          <p:nvPr/>
        </p:nvSpPr>
        <p:spPr>
          <a:xfrm>
            <a:off x="11715750" y="6096000"/>
            <a:ext cx="828675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60"/>
              </a:lnSpc>
              <a:spcBef>
                <a:spcPts val="0"/>
              </a:spcBef>
              <a:spcAft>
                <a:spcPts val="0"/>
              </a:spcAft>
            </a:pPr>
            <a:r>
              <a:rPr sz="146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传感漂移</a:t>
            </a:r>
            <a:endParaRPr sz="146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0" name="文字：校准和补偿"/>
          <p:cNvSpPr txBox="1"/>
          <p:nvPr/>
        </p:nvSpPr>
        <p:spPr>
          <a:xfrm>
            <a:off x="13211175" y="6096000"/>
            <a:ext cx="1019175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70"/>
              </a:lnSpc>
              <a:spcBef>
                <a:spcPts val="0"/>
              </a:spcBef>
              <a:spcAft>
                <a:spcPts val="0"/>
              </a:spcAft>
            </a:pPr>
            <a:r>
              <a:rPr sz="147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校准和补偿</a:t>
            </a:r>
            <a:endParaRPr sz="147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1" name="文字：跨批次验证"/>
          <p:cNvSpPr txBox="1"/>
          <p:nvPr/>
        </p:nvSpPr>
        <p:spPr>
          <a:xfrm>
            <a:off x="5657850" y="6477000"/>
            <a:ext cx="1076325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56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跨批次验证</a:t>
            </a:r>
            <a:endParaRPr sz="156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2" name="文字：真实试点"/>
          <p:cNvSpPr txBox="1"/>
          <p:nvPr/>
        </p:nvSpPr>
        <p:spPr>
          <a:xfrm>
            <a:off x="9067800" y="6400800"/>
            <a:ext cx="895350" cy="3143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95"/>
              </a:lnSpc>
              <a:spcBef>
                <a:spcPts val="0"/>
              </a:spcBef>
              <a:spcAft>
                <a:spcPts val="0"/>
              </a:spcAft>
            </a:pPr>
            <a:r>
              <a:rPr sz="1595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真实试点</a:t>
            </a:r>
            <a:endParaRPr sz="1595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3" name="文字：数据不足"/>
          <p:cNvSpPr txBox="1"/>
          <p:nvPr/>
        </p:nvSpPr>
        <p:spPr>
          <a:xfrm>
            <a:off x="11696700" y="6486525"/>
            <a:ext cx="857250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20"/>
              </a:lnSpc>
              <a:spcBef>
                <a:spcPts val="0"/>
              </a:spcBef>
              <a:spcAft>
                <a:spcPts val="0"/>
              </a:spcAft>
            </a:pPr>
            <a:r>
              <a:rPr sz="152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数据不足</a:t>
            </a:r>
            <a:endParaRPr sz="152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4" name="文字：A/B/C小规模"/>
          <p:cNvSpPr txBox="1"/>
          <p:nvPr/>
        </p:nvSpPr>
        <p:spPr>
          <a:xfrm>
            <a:off x="7372350" y="6581775"/>
            <a:ext cx="1304925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A/B/C小规模</a:t>
            </a:r>
            <a:endParaRPr sz="162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5" name="文字：小样本模型、多批次采集"/>
          <p:cNvSpPr txBox="1"/>
          <p:nvPr/>
        </p:nvSpPr>
        <p:spPr>
          <a:xfrm>
            <a:off x="13239750" y="6515100"/>
            <a:ext cx="2000250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70"/>
              </a:lnSpc>
              <a:spcBef>
                <a:spcPts val="0"/>
              </a:spcBef>
              <a:spcAft>
                <a:spcPts val="0"/>
              </a:spcAft>
            </a:pPr>
            <a:r>
              <a:rPr sz="137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小样本模型、多批次采集</a:t>
            </a:r>
            <a:endParaRPr sz="137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6" name="文字：获取首批"/>
          <p:cNvSpPr txBox="1"/>
          <p:nvPr/>
        </p:nvSpPr>
        <p:spPr>
          <a:xfrm>
            <a:off x="3962400" y="6677025"/>
            <a:ext cx="895350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95"/>
              </a:lnSpc>
              <a:spcBef>
                <a:spcPts val="0"/>
              </a:spcBef>
              <a:spcAft>
                <a:spcPts val="0"/>
              </a:spcAft>
            </a:pPr>
            <a:r>
              <a:rPr sz="159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获取首批</a:t>
            </a:r>
            <a:endParaRPr sz="159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7" name="文字：对照"/>
          <p:cNvSpPr txBox="1"/>
          <p:nvPr/>
        </p:nvSpPr>
        <p:spPr>
          <a:xfrm>
            <a:off x="7362825" y="6838950"/>
            <a:ext cx="5334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</a:pPr>
            <a:r>
              <a:rPr sz="168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对照</a:t>
            </a:r>
            <a:endParaRPr sz="168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8" name="文字：真实做青数据"/>
          <p:cNvSpPr txBox="1"/>
          <p:nvPr/>
        </p:nvSpPr>
        <p:spPr>
          <a:xfrm>
            <a:off x="3981450" y="6953250"/>
            <a:ext cx="1266825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15"/>
              </a:lnSpc>
              <a:spcBef>
                <a:spcPts val="0"/>
              </a:spcBef>
              <a:spcAft>
                <a:spcPts val="0"/>
              </a:spcAft>
            </a:pPr>
            <a:r>
              <a:rPr sz="141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真实做青数据</a:t>
            </a:r>
            <a:endParaRPr sz="141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9" name="文字：形成专利/软件/"/>
          <p:cNvSpPr txBox="1"/>
          <p:nvPr/>
        </p:nvSpPr>
        <p:spPr>
          <a:xfrm>
            <a:off x="9486900" y="6953250"/>
            <a:ext cx="1333500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05"/>
              </a:lnSpc>
              <a:spcBef>
                <a:spcPts val="0"/>
              </a:spcBef>
              <a:spcAft>
                <a:spcPts val="0"/>
              </a:spcAft>
            </a:pPr>
            <a:r>
              <a:rPr sz="140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形成专利/软件/</a:t>
            </a:r>
            <a:endParaRPr sz="140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0" name="文字：闭环风险"/>
          <p:cNvSpPr txBox="1"/>
          <p:nvPr/>
        </p:nvSpPr>
        <p:spPr>
          <a:xfrm>
            <a:off x="11725275" y="6924675"/>
            <a:ext cx="809625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闭环风险</a:t>
            </a:r>
            <a:endParaRPr sz="142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1" name="文字：分阶段、人工接管"/>
          <p:cNvSpPr txBox="1"/>
          <p:nvPr/>
        </p:nvSpPr>
        <p:spPr>
          <a:xfrm>
            <a:off x="13230225" y="6934200"/>
            <a:ext cx="1485900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</a:pPr>
            <a:r>
              <a:rPr sz="138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分阶段、人工接管</a:t>
            </a:r>
            <a:endParaRPr sz="138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2" name="文字：数据资产"/>
          <p:cNvSpPr txBox="1"/>
          <p:nvPr/>
        </p:nvSpPr>
        <p:spPr>
          <a:xfrm>
            <a:off x="9477375" y="7200900"/>
            <a:ext cx="857250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20"/>
              </a:lnSpc>
              <a:spcBef>
                <a:spcPts val="0"/>
              </a:spcBef>
              <a:spcAft>
                <a:spcPts val="0"/>
              </a:spcAft>
            </a:pPr>
            <a:r>
              <a:rPr sz="152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数据资产</a:t>
            </a:r>
            <a:endParaRPr sz="152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3" name="文字：市场风险"/>
          <p:cNvSpPr txBox="1"/>
          <p:nvPr/>
        </p:nvSpPr>
        <p:spPr>
          <a:xfrm>
            <a:off x="11706225" y="7315200"/>
            <a:ext cx="84772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市场风险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4" name="文字：真实访谈和低侵入试用"/>
          <p:cNvSpPr txBox="1"/>
          <p:nvPr/>
        </p:nvSpPr>
        <p:spPr>
          <a:xfrm>
            <a:off x="13230225" y="7343775"/>
            <a:ext cx="1828800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真实访谈和低侵入试用</a:t>
            </a:r>
            <a:endParaRPr sz="13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5" name="文字：路线不是一步到位，而是在安全边界内逐步完成从感知到控制的闭环"/>
          <p:cNvSpPr txBox="1"/>
          <p:nvPr/>
        </p:nvSpPr>
        <p:spPr>
          <a:xfrm>
            <a:off x="6086475" y="7827412"/>
            <a:ext cx="6648450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85"/>
              </a:lnSpc>
              <a:spcBef>
                <a:spcPts val="0"/>
              </a:spcBef>
              <a:spcAft>
                <a:spcPts val="0"/>
              </a:spcAft>
            </a:pPr>
            <a:r>
              <a:rPr sz="1485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路线不是一步到位，而是在安全边界内逐步完成从感知到控制的闭环</a:t>
            </a:r>
            <a:endParaRPr sz="1485" b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共享背景：原图茶园风景（无内容组件）" descr="landscape17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5925800" cy="8963025"/>
          </a:xfrm>
          <a:prstGeom prst="rect">
            <a:avLst/>
          </a:prstGeom>
        </p:spPr>
      </p:pic>
      <p:sp>
        <p:nvSpPr>
          <p:cNvPr id="3" name="可编辑框架"/>
          <p:cNvSpPr/>
          <p:nvPr/>
        </p:nvSpPr>
        <p:spPr>
          <a:xfrm>
            <a:off x="0" y="0"/>
            <a:ext cx="15925800" cy="723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：青韵智控"/>
          <p:cNvSpPr txBox="1"/>
          <p:nvPr/>
        </p:nvSpPr>
        <p:spPr>
          <a:xfrm>
            <a:off x="361950" y="190500"/>
            <a:ext cx="13335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73F32"/>
                </a:solidFill>
                <a:latin typeface="微软雅黑" panose="020B0503020204020204" charset="-122"/>
                <a:ea typeface="微软雅黑" panose="020B0503020204020204" charset="-122"/>
              </a:rPr>
              <a:t>青韵智控</a:t>
            </a:r>
            <a:endParaRPr sz="2400" b="1">
              <a:solidFill>
                <a:srgbClr val="073F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1819275" y="257175"/>
            <a:ext cx="0" cy="2762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字：让传统制茶更可控"/>
          <p:cNvSpPr txBox="1"/>
          <p:nvPr/>
        </p:nvSpPr>
        <p:spPr>
          <a:xfrm>
            <a:off x="2076450" y="238125"/>
            <a:ext cx="2190750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让传统制茶更可控</a:t>
            </a:r>
            <a:endParaRPr sz="18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文字：项目背景"/>
          <p:cNvSpPr txBox="1"/>
          <p:nvPr/>
        </p:nvSpPr>
        <p:spPr>
          <a:xfrm>
            <a:off x="8515350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项目背景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9486900" y="323850"/>
            <a:ext cx="0" cy="1619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字：项目概述"/>
          <p:cNvSpPr txBox="1"/>
          <p:nvPr/>
        </p:nvSpPr>
        <p:spPr>
          <a:xfrm>
            <a:off x="9648825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项目概述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10620375" y="323850"/>
            <a:ext cx="0" cy="1619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字：关键技术"/>
          <p:cNvSpPr txBox="1"/>
          <p:nvPr/>
        </p:nvSpPr>
        <p:spPr>
          <a:xfrm>
            <a:off x="10782300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关键技术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11753850" y="323850"/>
            <a:ext cx="0" cy="1619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字：实施与验证"/>
          <p:cNvSpPr txBox="1"/>
          <p:nvPr/>
        </p:nvSpPr>
        <p:spPr>
          <a:xfrm>
            <a:off x="11915775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实施与验证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4" name="Connector 13"/>
          <p:cNvCxnSpPr/>
          <p:nvPr/>
        </p:nvCxnSpPr>
        <p:spPr>
          <a:xfrm>
            <a:off x="12887325" y="323850"/>
            <a:ext cx="0" cy="1619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字：商业模式"/>
          <p:cNvSpPr txBox="1"/>
          <p:nvPr/>
        </p:nvSpPr>
        <p:spPr>
          <a:xfrm>
            <a:off x="13049250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商业模式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14020800" y="323850"/>
            <a:ext cx="0" cy="1619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字：未来展望"/>
          <p:cNvSpPr txBox="1"/>
          <p:nvPr/>
        </p:nvSpPr>
        <p:spPr>
          <a:xfrm>
            <a:off x="14182725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未来展望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8" name="文字：17"/>
          <p:cNvSpPr txBox="1"/>
          <p:nvPr/>
        </p:nvSpPr>
        <p:spPr>
          <a:xfrm>
            <a:off x="15163800" y="257175"/>
            <a:ext cx="428625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950" b="0">
                <a:solidFill>
                  <a:srgbClr val="073F32"/>
                </a:solidFill>
                <a:latin typeface="Times New Roman" panose="02020603050405020304"/>
                <a:ea typeface="Times New Roman" panose="02020603050405020304"/>
              </a:rPr>
              <a:t>17</a:t>
            </a:r>
            <a:endParaRPr sz="1950" b="0">
              <a:solidFill>
                <a:srgbClr val="073F32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0" y="723900"/>
            <a:ext cx="15725775" cy="0"/>
          </a:xfrm>
          <a:prstGeom prst="line">
            <a:avLst/>
          </a:prstGeom>
          <a:ln w="9525">
            <a:solidFill>
              <a:srgbClr val="C7D8D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字：让一片好茶，"/>
          <p:cNvSpPr txBox="1"/>
          <p:nvPr/>
        </p:nvSpPr>
        <p:spPr>
          <a:xfrm>
            <a:off x="6105525" y="1495425"/>
            <a:ext cx="3810000" cy="7715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4885"/>
              </a:lnSpc>
              <a:spcBef>
                <a:spcPts val="0"/>
              </a:spcBef>
              <a:spcAft>
                <a:spcPts val="0"/>
              </a:spcAft>
            </a:pPr>
            <a:r>
              <a:rPr sz="4885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让一片好茶，</a:t>
            </a:r>
            <a:endParaRPr sz="4885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1" name="文字：“一片茶叶，"/>
          <p:cNvSpPr txBox="1"/>
          <p:nvPr/>
        </p:nvSpPr>
        <p:spPr>
          <a:xfrm>
            <a:off x="13477875" y="1457325"/>
            <a:ext cx="135255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660"/>
              </a:lnSpc>
              <a:spcBef>
                <a:spcPts val="0"/>
              </a:spcBef>
              <a:spcAft>
                <a:spcPts val="0"/>
              </a:spcAft>
            </a:pPr>
            <a:r>
              <a:rPr sz="166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“一片茶叶，</a:t>
            </a:r>
            <a:endParaRPr sz="166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2" name="文字：连接传统与未来。”"/>
          <p:cNvSpPr txBox="1"/>
          <p:nvPr/>
        </p:nvSpPr>
        <p:spPr>
          <a:xfrm>
            <a:off x="13630275" y="1914525"/>
            <a:ext cx="2066925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</a:pPr>
            <a:r>
              <a:rPr sz="168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连接传统与未来。”</a:t>
            </a:r>
            <a:endParaRPr sz="168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3" name="文字：从经验走向可感知、可计算、可控制。"/>
          <p:cNvSpPr txBox="1"/>
          <p:nvPr/>
        </p:nvSpPr>
        <p:spPr>
          <a:xfrm>
            <a:off x="2886075" y="2505075"/>
            <a:ext cx="10325100" cy="7334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4740"/>
              </a:lnSpc>
              <a:spcBef>
                <a:spcPts val="0"/>
              </a:spcBef>
              <a:spcAft>
                <a:spcPts val="0"/>
              </a:spcAft>
            </a:pPr>
            <a:r>
              <a:rPr sz="474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从经验走向可感知、可计算、可控制。</a:t>
            </a:r>
            <a:endParaRPr sz="474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4" name="文字：感谢聆听"/>
          <p:cNvSpPr txBox="1"/>
          <p:nvPr/>
        </p:nvSpPr>
        <p:spPr>
          <a:xfrm>
            <a:off x="6438900" y="5143500"/>
            <a:ext cx="3257550" cy="781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5195"/>
              </a:lnSpc>
              <a:spcBef>
                <a:spcPts val="0"/>
              </a:spcBef>
              <a:spcAft>
                <a:spcPts val="0"/>
              </a:spcAft>
            </a:pPr>
            <a:r>
              <a:rPr sz="5195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感谢聆听</a:t>
            </a:r>
            <a:endParaRPr sz="5195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5" name="文字：广东工业大学"/>
          <p:cNvSpPr txBox="1"/>
          <p:nvPr/>
        </p:nvSpPr>
        <p:spPr>
          <a:xfrm>
            <a:off x="6915150" y="6191250"/>
            <a:ext cx="219075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</a:pPr>
            <a:r>
              <a:rPr sz="168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广东工业大学</a:t>
            </a:r>
            <a:endParaRPr sz="168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6" name="文字：中国茶·产业智造·中国未来"/>
          <p:cNvSpPr txBox="1"/>
          <p:nvPr/>
        </p:nvSpPr>
        <p:spPr>
          <a:xfrm>
            <a:off x="5934075" y="6610350"/>
            <a:ext cx="4181475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中国茶·产业智造·中国未来</a:t>
            </a:r>
            <a:endParaRPr sz="162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7" name="文字：茶&#10;香&#10;中&#10;国"/>
          <p:cNvSpPr txBox="1"/>
          <p:nvPr/>
        </p:nvSpPr>
        <p:spPr>
          <a:xfrm>
            <a:off x="504825" y="1143000"/>
            <a:ext cx="342900" cy="20097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sz="2175" b="0">
                <a:solidFill>
                  <a:srgbClr val="92A89B"/>
                </a:solidFill>
                <a:latin typeface="楷体" panose="02010609060101010101" charset="-122"/>
                <a:ea typeface="楷体" panose="02010609060101010101" charset="-122"/>
              </a:rPr>
              <a:t>茶</a:t>
            </a:r>
            <a:br>
              <a:rPr sz="2175" b="0">
                <a:solidFill>
                  <a:srgbClr val="92A89B"/>
                </a:solidFill>
                <a:latin typeface="楷体" panose="02010609060101010101" charset="-122"/>
                <a:ea typeface="楷体" panose="02010609060101010101" charset="-122"/>
              </a:rPr>
            </a:br>
            <a:r>
              <a:rPr sz="2175" b="0">
                <a:solidFill>
                  <a:srgbClr val="92A89B"/>
                </a:solidFill>
                <a:latin typeface="楷体" panose="02010609060101010101" charset="-122"/>
                <a:ea typeface="楷体" panose="02010609060101010101" charset="-122"/>
              </a:rPr>
              <a:t>香</a:t>
            </a:r>
            <a:br>
              <a:rPr sz="2175" b="0">
                <a:solidFill>
                  <a:srgbClr val="92A89B"/>
                </a:solidFill>
                <a:latin typeface="楷体" panose="02010609060101010101" charset="-122"/>
                <a:ea typeface="楷体" panose="02010609060101010101" charset="-122"/>
              </a:rPr>
            </a:br>
            <a:r>
              <a:rPr sz="2175" b="0">
                <a:solidFill>
                  <a:srgbClr val="92A89B"/>
                </a:solidFill>
                <a:latin typeface="楷体" panose="02010609060101010101" charset="-122"/>
                <a:ea typeface="楷体" panose="02010609060101010101" charset="-122"/>
              </a:rPr>
              <a:t>中</a:t>
            </a:r>
            <a:br>
              <a:rPr sz="2175" b="0">
                <a:solidFill>
                  <a:srgbClr val="92A89B"/>
                </a:solidFill>
                <a:latin typeface="楷体" panose="02010609060101010101" charset="-122"/>
                <a:ea typeface="楷体" panose="02010609060101010101" charset="-122"/>
              </a:rPr>
            </a:br>
            <a:r>
              <a:rPr sz="2175" b="0">
                <a:solidFill>
                  <a:srgbClr val="92A89B"/>
                </a:solidFill>
                <a:latin typeface="楷体" panose="02010609060101010101" charset="-122"/>
                <a:ea typeface="楷体" panose="02010609060101010101" charset="-122"/>
              </a:rPr>
              <a:t>国</a:t>
            </a:r>
            <a:endParaRPr sz="2175" b="0">
              <a:solidFill>
                <a:srgbClr val="92A89B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28" name="文字：智&#10;造&#10;未&#10;来"/>
          <p:cNvSpPr txBox="1"/>
          <p:nvPr/>
        </p:nvSpPr>
        <p:spPr>
          <a:xfrm>
            <a:off x="962025" y="1495425"/>
            <a:ext cx="342900" cy="1714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sz="2175" b="0">
                <a:solidFill>
                  <a:srgbClr val="92A89B"/>
                </a:solidFill>
                <a:latin typeface="楷体" panose="02010609060101010101" charset="-122"/>
                <a:ea typeface="楷体" panose="02010609060101010101" charset="-122"/>
              </a:rPr>
              <a:t>智</a:t>
            </a:r>
            <a:br>
              <a:rPr sz="2175" b="0">
                <a:solidFill>
                  <a:srgbClr val="92A89B"/>
                </a:solidFill>
                <a:latin typeface="楷体" panose="02010609060101010101" charset="-122"/>
                <a:ea typeface="楷体" panose="02010609060101010101" charset="-122"/>
              </a:rPr>
            </a:br>
            <a:r>
              <a:rPr sz="2175" b="0">
                <a:solidFill>
                  <a:srgbClr val="92A89B"/>
                </a:solidFill>
                <a:latin typeface="楷体" panose="02010609060101010101" charset="-122"/>
                <a:ea typeface="楷体" panose="02010609060101010101" charset="-122"/>
              </a:rPr>
              <a:t>造</a:t>
            </a:r>
            <a:br>
              <a:rPr sz="2175" b="0">
                <a:solidFill>
                  <a:srgbClr val="92A89B"/>
                </a:solidFill>
                <a:latin typeface="楷体" panose="02010609060101010101" charset="-122"/>
                <a:ea typeface="楷体" panose="02010609060101010101" charset="-122"/>
              </a:rPr>
            </a:br>
            <a:r>
              <a:rPr sz="2175" b="0">
                <a:solidFill>
                  <a:srgbClr val="92A89B"/>
                </a:solidFill>
                <a:latin typeface="楷体" panose="02010609060101010101" charset="-122"/>
                <a:ea typeface="楷体" panose="02010609060101010101" charset="-122"/>
              </a:rPr>
              <a:t>未</a:t>
            </a:r>
            <a:br>
              <a:rPr sz="2175" b="0">
                <a:solidFill>
                  <a:srgbClr val="92A89B"/>
                </a:solidFill>
                <a:latin typeface="楷体" panose="02010609060101010101" charset="-122"/>
                <a:ea typeface="楷体" panose="02010609060101010101" charset="-122"/>
              </a:rPr>
            </a:br>
            <a:r>
              <a:rPr sz="2175" b="0">
                <a:solidFill>
                  <a:srgbClr val="92A89B"/>
                </a:solidFill>
                <a:latin typeface="楷体" panose="02010609060101010101" charset="-122"/>
                <a:ea typeface="楷体" panose="02010609060101010101" charset="-122"/>
              </a:rPr>
              <a:t>来</a:t>
            </a:r>
            <a:endParaRPr sz="2175" b="0">
              <a:solidFill>
                <a:srgbClr val="92A89B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29" name="文字：青韵智控——以数字技术守护传统制茶经验"/>
          <p:cNvSpPr txBox="1"/>
          <p:nvPr/>
        </p:nvSpPr>
        <p:spPr>
          <a:xfrm>
            <a:off x="4857750" y="4019550"/>
            <a:ext cx="62865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青韵智控——以数字技术守护传统制茶经验</a:t>
            </a:r>
            <a:endParaRPr sz="21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7523</Words>
  <Application>WPS 演示</Application>
  <PresentationFormat>On-screen Show (4:3)</PresentationFormat>
  <Paragraphs>1690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9" baseType="lpstr">
      <vt:lpstr>Arial</vt:lpstr>
      <vt:lpstr>宋体</vt:lpstr>
      <vt:lpstr>Wingdings</vt:lpstr>
      <vt:lpstr>Arial</vt:lpstr>
      <vt:lpstr>微软雅黑</vt:lpstr>
      <vt:lpstr>Times New Roman</vt:lpstr>
      <vt:lpstr>楷体</vt:lpstr>
      <vt:lpstr>Segoe UI Symbol</vt:lpstr>
      <vt:lpstr>Calibri</vt:lpstr>
      <vt:lpstr>Arial Unicode MS</vt:lpstr>
      <vt:lpstr>MS PGothic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面朝大海</cp:lastModifiedBy>
  <cp:revision>2</cp:revision>
  <dcterms:created xsi:type="dcterms:W3CDTF">2013-01-27T09:14:00Z</dcterms:created>
  <dcterms:modified xsi:type="dcterms:W3CDTF">2026-09-22T13:06:45Z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A44E0157000E48949150050406673F9D_12</vt:lpwstr>
  </property>
  <property fmtid="{D5CDD505-2E9C-101B-9397-08002B2CF9AE}" pid="3" name="KSOProductBuildVer">
    <vt:lpwstr>2052-12.1.0.28488</vt:lpwstr>
  </property>
</Properties>
</file>