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5925800" cy="896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9" Type="http://schemas.openxmlformats.org/officeDocument/2006/relationships/image" Target="../media/image49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26" Type="http://schemas.openxmlformats.org/officeDocument/2006/relationships/image" Target="../media/image46.png"/><Relationship Id="rId25" Type="http://schemas.openxmlformats.org/officeDocument/2006/relationships/image" Target="../media/image45.png"/><Relationship Id="rId24" Type="http://schemas.openxmlformats.org/officeDocument/2006/relationships/image" Target="../media/image44.png"/><Relationship Id="rId23" Type="http://schemas.openxmlformats.org/officeDocument/2006/relationships/image" Target="../media/image43.png"/><Relationship Id="rId22" Type="http://schemas.openxmlformats.org/officeDocument/2006/relationships/image" Target="../media/image42.png"/><Relationship Id="rId21" Type="http://schemas.openxmlformats.org/officeDocument/2006/relationships/image" Target="../media/image41.png"/><Relationship Id="rId20" Type="http://schemas.openxmlformats.org/officeDocument/2006/relationships/image" Target="../media/image40.png"/><Relationship Id="rId2" Type="http://schemas.openxmlformats.org/officeDocument/2006/relationships/image" Target="../media/image22.png"/><Relationship Id="rId19" Type="http://schemas.openxmlformats.org/officeDocument/2006/relationships/image" Target="../media/image39.png"/><Relationship Id="rId18" Type="http://schemas.openxmlformats.org/officeDocument/2006/relationships/image" Target="../media/image38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79.png"/><Relationship Id="rId30" Type="http://schemas.openxmlformats.org/officeDocument/2006/relationships/image" Target="../media/image78.png"/><Relationship Id="rId3" Type="http://schemas.openxmlformats.org/officeDocument/2006/relationships/image" Target="../media/image51.png"/><Relationship Id="rId29" Type="http://schemas.openxmlformats.org/officeDocument/2006/relationships/image" Target="../media/image77.png"/><Relationship Id="rId28" Type="http://schemas.openxmlformats.org/officeDocument/2006/relationships/image" Target="../media/image76.png"/><Relationship Id="rId27" Type="http://schemas.openxmlformats.org/officeDocument/2006/relationships/image" Target="../media/image75.png"/><Relationship Id="rId26" Type="http://schemas.openxmlformats.org/officeDocument/2006/relationships/image" Target="../media/image74.png"/><Relationship Id="rId25" Type="http://schemas.openxmlformats.org/officeDocument/2006/relationships/image" Target="../media/image73.png"/><Relationship Id="rId24" Type="http://schemas.openxmlformats.org/officeDocument/2006/relationships/image" Target="../media/image72.png"/><Relationship Id="rId23" Type="http://schemas.openxmlformats.org/officeDocument/2006/relationships/image" Target="../media/image71.png"/><Relationship Id="rId22" Type="http://schemas.openxmlformats.org/officeDocument/2006/relationships/image" Target="../media/image70.png"/><Relationship Id="rId21" Type="http://schemas.openxmlformats.org/officeDocument/2006/relationships/image" Target="../media/image69.png"/><Relationship Id="rId20" Type="http://schemas.openxmlformats.org/officeDocument/2006/relationships/image" Target="../media/image68.png"/><Relationship Id="rId2" Type="http://schemas.openxmlformats.org/officeDocument/2006/relationships/image" Target="../media/image50.png"/><Relationship Id="rId19" Type="http://schemas.openxmlformats.org/officeDocument/2006/relationships/image" Target="../media/image67.png"/><Relationship Id="rId18" Type="http://schemas.openxmlformats.org/officeDocument/2006/relationships/image" Target="../media/image66.png"/><Relationship Id="rId17" Type="http://schemas.openxmlformats.org/officeDocument/2006/relationships/image" Target="../media/image65.png"/><Relationship Id="rId16" Type="http://schemas.openxmlformats.org/officeDocument/2006/relationships/image" Target="../media/image64.png"/><Relationship Id="rId15" Type="http://schemas.openxmlformats.org/officeDocument/2006/relationships/image" Target="../media/image63.png"/><Relationship Id="rId14" Type="http://schemas.openxmlformats.org/officeDocument/2006/relationships/image" Target="../media/image62.png"/><Relationship Id="rId13" Type="http://schemas.openxmlformats.org/officeDocument/2006/relationships/image" Target="../media/image61.png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2.png"/><Relationship Id="rId13" Type="http://schemas.openxmlformats.org/officeDocument/2006/relationships/image" Target="../media/image91.png"/><Relationship Id="rId12" Type="http://schemas.openxmlformats.org/officeDocument/2006/relationships/image" Target="../media/image90.png"/><Relationship Id="rId11" Type="http://schemas.openxmlformats.org/officeDocument/2006/relationships/image" Target="../media/image89.png"/><Relationship Id="rId10" Type="http://schemas.openxmlformats.org/officeDocument/2006/relationships/image" Target="../media/image8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99.png"/><Relationship Id="rId7" Type="http://schemas.openxmlformats.org/officeDocument/2006/relationships/image" Target="../media/image98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15.png"/><Relationship Id="rId23" Type="http://schemas.openxmlformats.org/officeDocument/2006/relationships/image" Target="../media/image114.png"/><Relationship Id="rId22" Type="http://schemas.openxmlformats.org/officeDocument/2006/relationships/image" Target="../media/image113.png"/><Relationship Id="rId21" Type="http://schemas.openxmlformats.org/officeDocument/2006/relationships/image" Target="../media/image112.png"/><Relationship Id="rId20" Type="http://schemas.openxmlformats.org/officeDocument/2006/relationships/image" Target="../media/image111.png"/><Relationship Id="rId2" Type="http://schemas.openxmlformats.org/officeDocument/2006/relationships/image" Target="../media/image93.png"/><Relationship Id="rId19" Type="http://schemas.openxmlformats.org/officeDocument/2006/relationships/image" Target="../media/image110.png"/><Relationship Id="rId18" Type="http://schemas.openxmlformats.org/officeDocument/2006/relationships/image" Target="../media/image109.png"/><Relationship Id="rId17" Type="http://schemas.openxmlformats.org/officeDocument/2006/relationships/image" Target="../media/image108.png"/><Relationship Id="rId16" Type="http://schemas.openxmlformats.org/officeDocument/2006/relationships/image" Target="../media/image107.png"/><Relationship Id="rId15" Type="http://schemas.openxmlformats.org/officeDocument/2006/relationships/image" Target="../media/image106.png"/><Relationship Id="rId14" Type="http://schemas.openxmlformats.org/officeDocument/2006/relationships/image" Target="../media/image105.png"/><Relationship Id="rId13" Type="http://schemas.openxmlformats.org/officeDocument/2006/relationships/image" Target="../media/image104.png"/><Relationship Id="rId12" Type="http://schemas.openxmlformats.org/officeDocument/2006/relationships/image" Target="../media/image103.png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30.png"/><Relationship Id="rId15" Type="http://schemas.openxmlformats.org/officeDocument/2006/relationships/image" Target="../media/image129.png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png"/><Relationship Id="rId8" Type="http://schemas.openxmlformats.org/officeDocument/2006/relationships/image" Target="../media/image137.png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161.png"/><Relationship Id="rId31" Type="http://schemas.openxmlformats.org/officeDocument/2006/relationships/image" Target="../media/image160.png"/><Relationship Id="rId30" Type="http://schemas.openxmlformats.org/officeDocument/2006/relationships/image" Target="../media/image159.png"/><Relationship Id="rId3" Type="http://schemas.openxmlformats.org/officeDocument/2006/relationships/image" Target="../media/image132.png"/><Relationship Id="rId29" Type="http://schemas.openxmlformats.org/officeDocument/2006/relationships/image" Target="../media/image158.png"/><Relationship Id="rId28" Type="http://schemas.openxmlformats.org/officeDocument/2006/relationships/image" Target="../media/image157.png"/><Relationship Id="rId27" Type="http://schemas.openxmlformats.org/officeDocument/2006/relationships/image" Target="../media/image156.png"/><Relationship Id="rId26" Type="http://schemas.openxmlformats.org/officeDocument/2006/relationships/image" Target="../media/image155.png"/><Relationship Id="rId25" Type="http://schemas.openxmlformats.org/officeDocument/2006/relationships/image" Target="../media/image154.png"/><Relationship Id="rId24" Type="http://schemas.openxmlformats.org/officeDocument/2006/relationships/image" Target="../media/image153.png"/><Relationship Id="rId23" Type="http://schemas.openxmlformats.org/officeDocument/2006/relationships/image" Target="../media/image152.png"/><Relationship Id="rId22" Type="http://schemas.openxmlformats.org/officeDocument/2006/relationships/image" Target="../media/image151.png"/><Relationship Id="rId21" Type="http://schemas.openxmlformats.org/officeDocument/2006/relationships/image" Target="../media/image150.png"/><Relationship Id="rId20" Type="http://schemas.openxmlformats.org/officeDocument/2006/relationships/image" Target="../media/image149.png"/><Relationship Id="rId2" Type="http://schemas.openxmlformats.org/officeDocument/2006/relationships/image" Target="../media/image131.png"/><Relationship Id="rId19" Type="http://schemas.openxmlformats.org/officeDocument/2006/relationships/image" Target="../media/image148.png"/><Relationship Id="rId18" Type="http://schemas.openxmlformats.org/officeDocument/2006/relationships/image" Target="../media/image147.png"/><Relationship Id="rId17" Type="http://schemas.openxmlformats.org/officeDocument/2006/relationships/image" Target="../media/image146.png"/><Relationship Id="rId16" Type="http://schemas.openxmlformats.org/officeDocument/2006/relationships/image" Target="../media/image145.png"/><Relationship Id="rId15" Type="http://schemas.openxmlformats.org/officeDocument/2006/relationships/image" Target="../media/image144.png"/><Relationship Id="rId14" Type="http://schemas.openxmlformats.org/officeDocument/2006/relationships/image" Target="../media/image143.png"/><Relationship Id="rId13" Type="http://schemas.openxmlformats.org/officeDocument/2006/relationships/image" Target="../media/image142.png"/><Relationship Id="rId12" Type="http://schemas.openxmlformats.org/officeDocument/2006/relationships/image" Target="../media/image141.png"/><Relationship Id="rId11" Type="http://schemas.openxmlformats.org/officeDocument/2006/relationships/image" Target="../media/image140.png"/><Relationship Id="rId10" Type="http://schemas.openxmlformats.org/officeDocument/2006/relationships/image" Target="../media/image139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png"/><Relationship Id="rId8" Type="http://schemas.openxmlformats.org/officeDocument/2006/relationships/image" Target="../media/image168.png"/><Relationship Id="rId7" Type="http://schemas.openxmlformats.org/officeDocument/2006/relationships/image" Target="../media/image167.png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73.png"/><Relationship Id="rId12" Type="http://schemas.openxmlformats.org/officeDocument/2006/relationships/image" Target="../media/image172.png"/><Relationship Id="rId11" Type="http://schemas.openxmlformats.org/officeDocument/2006/relationships/image" Target="../media/image171.png"/><Relationship Id="rId10" Type="http://schemas.openxmlformats.org/officeDocument/2006/relationships/image" Target="../media/image170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image" Target="../media/image180.png"/><Relationship Id="rId7" Type="http://schemas.openxmlformats.org/officeDocument/2006/relationships/image" Target="../media/image179.png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3" Type="http://schemas.openxmlformats.org/officeDocument/2006/relationships/image" Target="../media/image175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92.png"/><Relationship Id="rId2" Type="http://schemas.openxmlformats.org/officeDocument/2006/relationships/image" Target="../media/image174.png"/><Relationship Id="rId19" Type="http://schemas.openxmlformats.org/officeDocument/2006/relationships/image" Target="../media/image191.png"/><Relationship Id="rId18" Type="http://schemas.openxmlformats.org/officeDocument/2006/relationships/image" Target="../media/image190.png"/><Relationship Id="rId17" Type="http://schemas.openxmlformats.org/officeDocument/2006/relationships/image" Target="../media/image189.png"/><Relationship Id="rId16" Type="http://schemas.openxmlformats.org/officeDocument/2006/relationships/image" Target="../media/image188.png"/><Relationship Id="rId15" Type="http://schemas.openxmlformats.org/officeDocument/2006/relationships/image" Target="../media/image187.png"/><Relationship Id="rId14" Type="http://schemas.openxmlformats.org/officeDocument/2006/relationships/image" Target="../media/image186.png"/><Relationship Id="rId13" Type="http://schemas.openxmlformats.org/officeDocument/2006/relationships/image" Target="../media/image185.png"/><Relationship Id="rId12" Type="http://schemas.openxmlformats.org/officeDocument/2006/relationships/image" Target="../media/image184.png"/><Relationship Id="rId11" Type="http://schemas.openxmlformats.org/officeDocument/2006/relationships/image" Target="../media/image183.png"/><Relationship Id="rId10" Type="http://schemas.openxmlformats.org/officeDocument/2006/relationships/image" Target="../media/image18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png"/><Relationship Id="rId8" Type="http://schemas.openxmlformats.org/officeDocument/2006/relationships/image" Target="../media/image199.png"/><Relationship Id="rId7" Type="http://schemas.openxmlformats.org/officeDocument/2006/relationships/image" Target="../media/image198.png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229.png"/><Relationship Id="rId37" Type="http://schemas.openxmlformats.org/officeDocument/2006/relationships/image" Target="../media/image228.png"/><Relationship Id="rId36" Type="http://schemas.openxmlformats.org/officeDocument/2006/relationships/image" Target="../media/image227.png"/><Relationship Id="rId35" Type="http://schemas.openxmlformats.org/officeDocument/2006/relationships/image" Target="../media/image226.png"/><Relationship Id="rId34" Type="http://schemas.openxmlformats.org/officeDocument/2006/relationships/image" Target="../media/image225.png"/><Relationship Id="rId33" Type="http://schemas.openxmlformats.org/officeDocument/2006/relationships/image" Target="../media/image224.png"/><Relationship Id="rId32" Type="http://schemas.openxmlformats.org/officeDocument/2006/relationships/image" Target="../media/image223.png"/><Relationship Id="rId31" Type="http://schemas.openxmlformats.org/officeDocument/2006/relationships/image" Target="../media/image222.png"/><Relationship Id="rId30" Type="http://schemas.openxmlformats.org/officeDocument/2006/relationships/image" Target="../media/image221.png"/><Relationship Id="rId3" Type="http://schemas.openxmlformats.org/officeDocument/2006/relationships/image" Target="../media/image194.png"/><Relationship Id="rId29" Type="http://schemas.openxmlformats.org/officeDocument/2006/relationships/image" Target="../media/image220.png"/><Relationship Id="rId28" Type="http://schemas.openxmlformats.org/officeDocument/2006/relationships/image" Target="../media/image219.png"/><Relationship Id="rId27" Type="http://schemas.openxmlformats.org/officeDocument/2006/relationships/image" Target="../media/image218.png"/><Relationship Id="rId26" Type="http://schemas.openxmlformats.org/officeDocument/2006/relationships/image" Target="../media/image217.png"/><Relationship Id="rId25" Type="http://schemas.openxmlformats.org/officeDocument/2006/relationships/image" Target="../media/image216.png"/><Relationship Id="rId24" Type="http://schemas.openxmlformats.org/officeDocument/2006/relationships/image" Target="../media/image215.png"/><Relationship Id="rId23" Type="http://schemas.openxmlformats.org/officeDocument/2006/relationships/image" Target="../media/image214.png"/><Relationship Id="rId22" Type="http://schemas.openxmlformats.org/officeDocument/2006/relationships/image" Target="../media/image213.png"/><Relationship Id="rId21" Type="http://schemas.openxmlformats.org/officeDocument/2006/relationships/image" Target="../media/image212.png"/><Relationship Id="rId20" Type="http://schemas.openxmlformats.org/officeDocument/2006/relationships/image" Target="../media/image211.png"/><Relationship Id="rId2" Type="http://schemas.openxmlformats.org/officeDocument/2006/relationships/image" Target="../media/image193.png"/><Relationship Id="rId19" Type="http://schemas.openxmlformats.org/officeDocument/2006/relationships/image" Target="../media/image210.png"/><Relationship Id="rId18" Type="http://schemas.openxmlformats.org/officeDocument/2006/relationships/image" Target="../media/image209.png"/><Relationship Id="rId17" Type="http://schemas.openxmlformats.org/officeDocument/2006/relationships/image" Target="../media/image208.png"/><Relationship Id="rId16" Type="http://schemas.openxmlformats.org/officeDocument/2006/relationships/image" Target="../media/image207.png"/><Relationship Id="rId15" Type="http://schemas.openxmlformats.org/officeDocument/2006/relationships/image" Target="../media/image206.png"/><Relationship Id="rId14" Type="http://schemas.openxmlformats.org/officeDocument/2006/relationships/image" Target="../media/image205.png"/><Relationship Id="rId13" Type="http://schemas.openxmlformats.org/officeDocument/2006/relationships/image" Target="../media/image204.png"/><Relationship Id="rId12" Type="http://schemas.openxmlformats.org/officeDocument/2006/relationships/image" Target="../media/image203.png"/><Relationship Id="rId11" Type="http://schemas.openxmlformats.org/officeDocument/2006/relationships/image" Target="../media/image202.png"/><Relationship Id="rId10" Type="http://schemas.openxmlformats.org/officeDocument/2006/relationships/image" Target="../media/image20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7.png"/><Relationship Id="rId8" Type="http://schemas.openxmlformats.org/officeDocument/2006/relationships/image" Target="../media/image236.png"/><Relationship Id="rId7" Type="http://schemas.openxmlformats.org/officeDocument/2006/relationships/image" Target="../media/image235.png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48.png"/><Relationship Id="rId2" Type="http://schemas.openxmlformats.org/officeDocument/2006/relationships/image" Target="../media/image230.png"/><Relationship Id="rId19" Type="http://schemas.openxmlformats.org/officeDocument/2006/relationships/image" Target="../media/image247.png"/><Relationship Id="rId18" Type="http://schemas.openxmlformats.org/officeDocument/2006/relationships/image" Target="../media/image246.png"/><Relationship Id="rId17" Type="http://schemas.openxmlformats.org/officeDocument/2006/relationships/image" Target="../media/image245.png"/><Relationship Id="rId16" Type="http://schemas.openxmlformats.org/officeDocument/2006/relationships/image" Target="../media/image244.png"/><Relationship Id="rId15" Type="http://schemas.openxmlformats.org/officeDocument/2006/relationships/image" Target="../media/image243.png"/><Relationship Id="rId14" Type="http://schemas.openxmlformats.org/officeDocument/2006/relationships/image" Target="../media/image242.png"/><Relationship Id="rId13" Type="http://schemas.openxmlformats.org/officeDocument/2006/relationships/image" Target="../media/image241.png"/><Relationship Id="rId12" Type="http://schemas.openxmlformats.org/officeDocument/2006/relationships/image" Target="../media/image240.png"/><Relationship Id="rId11" Type="http://schemas.openxmlformats.org/officeDocument/2006/relationships/image" Target="../media/image239.png"/><Relationship Id="rId10" Type="http://schemas.openxmlformats.org/officeDocument/2006/relationships/image" Target="../media/image23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6.png"/><Relationship Id="rId8" Type="http://schemas.openxmlformats.org/officeDocument/2006/relationships/image" Target="../media/image255.png"/><Relationship Id="rId7" Type="http://schemas.openxmlformats.org/officeDocument/2006/relationships/image" Target="../media/image254.png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277.png"/><Relationship Id="rId3" Type="http://schemas.openxmlformats.org/officeDocument/2006/relationships/image" Target="../media/image250.png"/><Relationship Id="rId29" Type="http://schemas.openxmlformats.org/officeDocument/2006/relationships/image" Target="../media/image276.png"/><Relationship Id="rId28" Type="http://schemas.openxmlformats.org/officeDocument/2006/relationships/image" Target="../media/image275.png"/><Relationship Id="rId27" Type="http://schemas.openxmlformats.org/officeDocument/2006/relationships/image" Target="../media/image274.png"/><Relationship Id="rId26" Type="http://schemas.openxmlformats.org/officeDocument/2006/relationships/image" Target="../media/image273.png"/><Relationship Id="rId25" Type="http://schemas.openxmlformats.org/officeDocument/2006/relationships/image" Target="../media/image272.png"/><Relationship Id="rId24" Type="http://schemas.openxmlformats.org/officeDocument/2006/relationships/image" Target="../media/image271.png"/><Relationship Id="rId23" Type="http://schemas.openxmlformats.org/officeDocument/2006/relationships/image" Target="../media/image270.png"/><Relationship Id="rId22" Type="http://schemas.openxmlformats.org/officeDocument/2006/relationships/image" Target="../media/image269.png"/><Relationship Id="rId21" Type="http://schemas.openxmlformats.org/officeDocument/2006/relationships/image" Target="../media/image268.png"/><Relationship Id="rId20" Type="http://schemas.openxmlformats.org/officeDocument/2006/relationships/image" Target="../media/image267.png"/><Relationship Id="rId2" Type="http://schemas.openxmlformats.org/officeDocument/2006/relationships/image" Target="../media/image249.png"/><Relationship Id="rId19" Type="http://schemas.openxmlformats.org/officeDocument/2006/relationships/image" Target="../media/image266.png"/><Relationship Id="rId18" Type="http://schemas.openxmlformats.org/officeDocument/2006/relationships/image" Target="../media/image265.png"/><Relationship Id="rId17" Type="http://schemas.openxmlformats.org/officeDocument/2006/relationships/image" Target="../media/image264.png"/><Relationship Id="rId16" Type="http://schemas.openxmlformats.org/officeDocument/2006/relationships/image" Target="../media/image263.png"/><Relationship Id="rId15" Type="http://schemas.openxmlformats.org/officeDocument/2006/relationships/image" Target="../media/image262.png"/><Relationship Id="rId14" Type="http://schemas.openxmlformats.org/officeDocument/2006/relationships/image" Target="../media/image261.png"/><Relationship Id="rId13" Type="http://schemas.openxmlformats.org/officeDocument/2006/relationships/image" Target="../media/image260.png"/><Relationship Id="rId12" Type="http://schemas.openxmlformats.org/officeDocument/2006/relationships/image" Target="../media/image259.png"/><Relationship Id="rId11" Type="http://schemas.openxmlformats.org/officeDocument/2006/relationships/image" Target="../media/image258.png"/><Relationship Id="rId10" Type="http://schemas.openxmlformats.org/officeDocument/2006/relationships/image" Target="../media/image25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5.png"/><Relationship Id="rId8" Type="http://schemas.openxmlformats.org/officeDocument/2006/relationships/image" Target="../media/image284.png"/><Relationship Id="rId7" Type="http://schemas.openxmlformats.org/officeDocument/2006/relationships/image" Target="../media/image283.png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80.png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279.png"/><Relationship Id="rId29" Type="http://schemas.openxmlformats.org/officeDocument/2006/relationships/image" Target="../media/image305.png"/><Relationship Id="rId28" Type="http://schemas.openxmlformats.org/officeDocument/2006/relationships/image" Target="../media/image304.png"/><Relationship Id="rId27" Type="http://schemas.openxmlformats.org/officeDocument/2006/relationships/image" Target="../media/image303.png"/><Relationship Id="rId26" Type="http://schemas.openxmlformats.org/officeDocument/2006/relationships/image" Target="../media/image302.png"/><Relationship Id="rId25" Type="http://schemas.openxmlformats.org/officeDocument/2006/relationships/image" Target="../media/image301.png"/><Relationship Id="rId24" Type="http://schemas.openxmlformats.org/officeDocument/2006/relationships/image" Target="../media/image300.png"/><Relationship Id="rId23" Type="http://schemas.openxmlformats.org/officeDocument/2006/relationships/image" Target="../media/image299.png"/><Relationship Id="rId22" Type="http://schemas.openxmlformats.org/officeDocument/2006/relationships/image" Target="../media/image298.png"/><Relationship Id="rId21" Type="http://schemas.openxmlformats.org/officeDocument/2006/relationships/image" Target="../media/image297.png"/><Relationship Id="rId20" Type="http://schemas.openxmlformats.org/officeDocument/2006/relationships/image" Target="../media/image296.png"/><Relationship Id="rId2" Type="http://schemas.openxmlformats.org/officeDocument/2006/relationships/image" Target="../media/image278.png"/><Relationship Id="rId19" Type="http://schemas.openxmlformats.org/officeDocument/2006/relationships/image" Target="../media/image295.png"/><Relationship Id="rId18" Type="http://schemas.openxmlformats.org/officeDocument/2006/relationships/image" Target="../media/image294.png"/><Relationship Id="rId17" Type="http://schemas.openxmlformats.org/officeDocument/2006/relationships/image" Target="../media/image293.png"/><Relationship Id="rId16" Type="http://schemas.openxmlformats.org/officeDocument/2006/relationships/image" Target="../media/image292.png"/><Relationship Id="rId15" Type="http://schemas.openxmlformats.org/officeDocument/2006/relationships/image" Target="../media/image291.png"/><Relationship Id="rId14" Type="http://schemas.openxmlformats.org/officeDocument/2006/relationships/image" Target="../media/image290.png"/><Relationship Id="rId13" Type="http://schemas.openxmlformats.org/officeDocument/2006/relationships/image" Target="../media/image289.png"/><Relationship Id="rId12" Type="http://schemas.openxmlformats.org/officeDocument/2006/relationships/image" Target="../media/image288.png"/><Relationship Id="rId11" Type="http://schemas.openxmlformats.org/officeDocument/2006/relationships/image" Target="../media/image287.png"/><Relationship Id="rId10" Type="http://schemas.openxmlformats.org/officeDocument/2006/relationships/image" Target="../media/image28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01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：青韵智控"/>
          <p:cNvSpPr txBox="1"/>
          <p:nvPr/>
        </p:nvSpPr>
        <p:spPr>
          <a:xfrm>
            <a:off x="762000" y="1819275"/>
            <a:ext cx="6038850" cy="1695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75"/>
              </a:lnSpc>
              <a:spcBef>
                <a:spcPts val="0"/>
              </a:spcBef>
              <a:spcAft>
                <a:spcPts val="0"/>
              </a:spcAft>
            </a:pPr>
            <a:r>
              <a:rPr sz="116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</a:t>
            </a:r>
            <a:endParaRPr sz="116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字：一片好茶，"/>
          <p:cNvSpPr txBox="1"/>
          <p:nvPr/>
        </p:nvSpPr>
        <p:spPr>
          <a:xfrm rot="20820000">
            <a:off x="12001500" y="2438400"/>
            <a:ext cx="1924050" cy="942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8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一片好茶，</a:t>
            </a:r>
            <a:endParaRPr sz="28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字：源于更可控的做青"/>
          <p:cNvSpPr txBox="1"/>
          <p:nvPr/>
        </p:nvSpPr>
        <p:spPr>
          <a:xfrm rot="20820000">
            <a:off x="12449175" y="2667000"/>
            <a:ext cx="295275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820"/>
              </a:lnSpc>
              <a:spcBef>
                <a:spcPts val="0"/>
              </a:spcBef>
              <a:spcAft>
                <a:spcPts val="0"/>
              </a:spcAft>
            </a:pPr>
            <a:r>
              <a:rPr sz="282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源于更可控的做青</a:t>
            </a:r>
            <a:endParaRPr sz="282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字：凤凰单丛做青多模态感知与自适应控制系统"/>
          <p:cNvSpPr txBox="1"/>
          <p:nvPr/>
        </p:nvSpPr>
        <p:spPr>
          <a:xfrm>
            <a:off x="971550" y="3533775"/>
            <a:ext cx="101536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575"/>
              </a:lnSpc>
              <a:spcBef>
                <a:spcPts val="0"/>
              </a:spcBef>
              <a:spcAft>
                <a:spcPts val="0"/>
              </a:spcAft>
            </a:pPr>
            <a:r>
              <a:rPr sz="35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凤凰单丛做青多模态感知与自适应控制系统</a:t>
            </a:r>
            <a:endParaRPr sz="35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字：以数字科技重塑传统制茶工艺"/>
          <p:cNvSpPr txBox="1"/>
          <p:nvPr/>
        </p:nvSpPr>
        <p:spPr>
          <a:xfrm>
            <a:off x="1000125" y="4752975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以数字科技重塑传统制茶工艺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让做青从“按时间执行”走向“按状态决策”"/>
          <p:cNvSpPr txBox="1"/>
          <p:nvPr/>
        </p:nvSpPr>
        <p:spPr>
          <a:xfrm>
            <a:off x="962025" y="5314950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让做青从“按时间执行”走向“按状态决策”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字：申报单位：广东工业大学"/>
          <p:cNvSpPr txBox="1"/>
          <p:nvPr/>
        </p:nvSpPr>
        <p:spPr>
          <a:xfrm>
            <a:off x="962025" y="6267450"/>
            <a:ext cx="2343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申报单位：广东工业大学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字：项目类别：科技发明制作"/>
          <p:cNvSpPr txBox="1"/>
          <p:nvPr/>
        </p:nvSpPr>
        <p:spPr>
          <a:xfrm>
            <a:off x="962025" y="6591300"/>
            <a:ext cx="2352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项目类别：科技发明制作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字：项目负责人：待填写"/>
          <p:cNvSpPr txBox="1"/>
          <p:nvPr/>
        </p:nvSpPr>
        <p:spPr>
          <a:xfrm>
            <a:off x="962025" y="6938963"/>
            <a:ext cx="162306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项目负责人：</a:t>
            </a:r>
            <a:r>
              <a:rPr lang="zh-CN"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王恩泽</a:t>
            </a:r>
            <a:endParaRPr lang="zh-CN"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中国茶·产业智造·中国未来"/>
          <p:cNvSpPr txBox="1"/>
          <p:nvPr/>
        </p:nvSpPr>
        <p:spPr>
          <a:xfrm>
            <a:off x="1152525" y="8305800"/>
            <a:ext cx="32956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中国茶·产业智造·中国未来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02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58395" y="254711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58395" y="3439911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58395" y="3728758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58395" y="462156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58395" y="4892901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58395" y="5776950"/>
            <a:ext cx="4873128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12834" y="254711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2834" y="3439911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12834" y="3728758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12834" y="462156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2834" y="4892901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2834" y="5776950"/>
            <a:ext cx="4873129" cy="0"/>
          </a:xfrm>
          <a:prstGeom prst="line">
            <a:avLst/>
          </a:prstGeom>
          <a:ln w="19050">
            <a:solidFill>
              <a:srgbClr val="B4CFC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49259" y="2485839"/>
            <a:ext cx="0" cy="399134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070128" y="2739675"/>
            <a:ext cx="238472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70128" y="3903818"/>
            <a:ext cx="238472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070128" y="5067960"/>
            <a:ext cx="238472" cy="55143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000829" y="2739675"/>
            <a:ext cx="238473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000829" y="3903818"/>
            <a:ext cx="238473" cy="551436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000829" y="5067960"/>
            <a:ext cx="238473" cy="551437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：目录"/>
          <p:cNvSpPr txBox="1"/>
          <p:nvPr/>
        </p:nvSpPr>
        <p:spPr>
          <a:xfrm>
            <a:off x="435471" y="1714035"/>
            <a:ext cx="2820194" cy="13479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065"/>
              </a:lnSpc>
              <a:spcBef>
                <a:spcPts val="0"/>
              </a:spcBef>
              <a:spcAft>
                <a:spcPts val="0"/>
              </a:spcAft>
            </a:pPr>
            <a:r>
              <a:rPr sz="90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sz="90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字：01"/>
          <p:cNvSpPr txBox="1"/>
          <p:nvPr/>
        </p:nvSpPr>
        <p:spPr>
          <a:xfrm>
            <a:off x="4022923" y="2694366"/>
            <a:ext cx="943521" cy="6477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280"/>
              </a:lnSpc>
              <a:spcBef>
                <a:spcPts val="0"/>
              </a:spcBef>
              <a:spcAft>
                <a:spcPts val="0"/>
              </a:spcAft>
            </a:pPr>
            <a:r>
              <a:rPr sz="428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sz="428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字：项目背景"/>
          <p:cNvSpPr txBox="1"/>
          <p:nvPr/>
        </p:nvSpPr>
        <p:spPr>
          <a:xfrm>
            <a:off x="5547072" y="2729378"/>
            <a:ext cx="1285677" cy="323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字：04"/>
          <p:cNvSpPr txBox="1"/>
          <p:nvPr/>
        </p:nvSpPr>
        <p:spPr>
          <a:xfrm>
            <a:off x="9912152" y="2703119"/>
            <a:ext cx="1005731" cy="6564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340"/>
              </a:lnSpc>
              <a:spcBef>
                <a:spcPts val="0"/>
              </a:spcBef>
              <a:spcAft>
                <a:spcPts val="0"/>
              </a:spcAft>
            </a:pPr>
            <a:r>
              <a:rPr sz="434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sz="434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文字：实施与验证"/>
          <p:cNvSpPr txBox="1"/>
          <p:nvPr/>
        </p:nvSpPr>
        <p:spPr>
          <a:xfrm>
            <a:off x="11457037" y="2720625"/>
            <a:ext cx="1513780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8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字：CONTENTS"/>
          <p:cNvSpPr txBox="1"/>
          <p:nvPr/>
        </p:nvSpPr>
        <p:spPr>
          <a:xfrm>
            <a:off x="580628" y="3132013"/>
            <a:ext cx="2415828" cy="2625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CONTENTS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字：行业痛点与技术缺口"/>
          <p:cNvSpPr txBox="1"/>
          <p:nvPr/>
        </p:nvSpPr>
        <p:spPr>
          <a:xfrm>
            <a:off x="5547072" y="3105755"/>
            <a:ext cx="1700411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5"/>
              </a:lnSpc>
              <a:spcBef>
                <a:spcPts val="0"/>
              </a:spcBef>
              <a:spcAft>
                <a:spcPts val="0"/>
              </a:spcAft>
            </a:pPr>
            <a:r>
              <a:rPr sz="11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行业痛点与技术缺口</a:t>
            </a:r>
            <a:endParaRPr sz="11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文字：从实验室到真实场景的验证路径"/>
          <p:cNvSpPr txBox="1"/>
          <p:nvPr/>
        </p:nvSpPr>
        <p:spPr>
          <a:xfrm>
            <a:off x="11498511" y="3123261"/>
            <a:ext cx="2529880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从实验室到真实场景的验证路径</a:t>
            </a:r>
            <a:endParaRPr sz="11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02"/>
          <p:cNvSpPr txBox="1"/>
          <p:nvPr/>
        </p:nvSpPr>
        <p:spPr>
          <a:xfrm>
            <a:off x="4002187" y="3832250"/>
            <a:ext cx="1047204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项目概述"/>
          <p:cNvSpPr txBox="1"/>
          <p:nvPr/>
        </p:nvSpPr>
        <p:spPr>
          <a:xfrm>
            <a:off x="5547072" y="3902273"/>
            <a:ext cx="1296045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05"/>
          <p:cNvSpPr txBox="1"/>
          <p:nvPr/>
        </p:nvSpPr>
        <p:spPr>
          <a:xfrm>
            <a:off x="9891415" y="3867262"/>
            <a:ext cx="1067941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05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商业模式"/>
          <p:cNvSpPr txBox="1"/>
          <p:nvPr/>
        </p:nvSpPr>
        <p:spPr>
          <a:xfrm>
            <a:off x="11488142" y="3902273"/>
            <a:ext cx="1285677" cy="323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以数字科技"/>
          <p:cNvSpPr txBox="1"/>
          <p:nvPr/>
        </p:nvSpPr>
        <p:spPr>
          <a:xfrm>
            <a:off x="601365" y="4094838"/>
            <a:ext cx="1690043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系统定位、总体架构与作品形态"/>
          <p:cNvSpPr txBox="1"/>
          <p:nvPr/>
        </p:nvSpPr>
        <p:spPr>
          <a:xfrm>
            <a:off x="5557441" y="4296156"/>
            <a:ext cx="2550616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系统定位、总体架构与作品形态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应用场景、目标客户与商业路径"/>
          <p:cNvSpPr txBox="1"/>
          <p:nvPr/>
        </p:nvSpPr>
        <p:spPr>
          <a:xfrm>
            <a:off x="11488142" y="4296156"/>
            <a:ext cx="2540248" cy="210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应用场景、目标客户与商业路径</a:t>
            </a:r>
            <a:endParaRPr sz="11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重塑传统制茶工艺"/>
          <p:cNvSpPr txBox="1"/>
          <p:nvPr/>
        </p:nvSpPr>
        <p:spPr>
          <a:xfrm>
            <a:off x="590996" y="4471215"/>
            <a:ext cx="2623195" cy="288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35"/>
              </a:lnSpc>
              <a:spcBef>
                <a:spcPts val="0"/>
              </a:spcBef>
              <a:spcAft>
                <a:spcPts val="0"/>
              </a:spcAft>
            </a:pPr>
            <a:r>
              <a:rPr sz="17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重塑传统制茶工艺</a:t>
            </a:r>
            <a:endParaRPr sz="17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03"/>
          <p:cNvSpPr txBox="1"/>
          <p:nvPr/>
        </p:nvSpPr>
        <p:spPr>
          <a:xfrm>
            <a:off x="3991818" y="5005146"/>
            <a:ext cx="1057573" cy="691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5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sz="45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关键技术"/>
          <p:cNvSpPr txBox="1"/>
          <p:nvPr/>
        </p:nvSpPr>
        <p:spPr>
          <a:xfrm>
            <a:off x="5536704" y="5057663"/>
            <a:ext cx="1296045" cy="341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20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06"/>
          <p:cNvSpPr txBox="1"/>
          <p:nvPr/>
        </p:nvSpPr>
        <p:spPr>
          <a:xfrm>
            <a:off x="9891415" y="5040157"/>
            <a:ext cx="1057573" cy="673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465"/>
              </a:lnSpc>
              <a:spcBef>
                <a:spcPts val="0"/>
              </a:spcBef>
              <a:spcAft>
                <a:spcPts val="0"/>
              </a:spcAft>
            </a:pPr>
            <a:r>
              <a:rPr sz="44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06</a:t>
            </a:r>
            <a:endParaRPr sz="44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未来展望"/>
          <p:cNvSpPr txBox="1"/>
          <p:nvPr/>
        </p:nvSpPr>
        <p:spPr>
          <a:xfrm>
            <a:off x="11477774" y="5075169"/>
            <a:ext cx="1275308" cy="315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9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DIGITAL INTELLIGENCE"/>
          <p:cNvSpPr txBox="1"/>
          <p:nvPr/>
        </p:nvSpPr>
        <p:spPr>
          <a:xfrm>
            <a:off x="590996" y="5223970"/>
            <a:ext cx="2249934" cy="166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87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DIGITAL INTELLIGENCE</a:t>
            </a:r>
            <a:endParaRPr sz="8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FOR BETTER CHINESE TEA"/>
          <p:cNvSpPr txBox="1"/>
          <p:nvPr/>
        </p:nvSpPr>
        <p:spPr>
          <a:xfrm>
            <a:off x="590996" y="5416534"/>
            <a:ext cx="2488406" cy="1663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870"/>
              </a:lnSpc>
              <a:spcBef>
                <a:spcPts val="0"/>
              </a:spcBef>
              <a:spcAft>
                <a:spcPts val="0"/>
              </a:spcAft>
            </a:pPr>
            <a:r>
              <a:rPr sz="8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 BETTER CHINESE TEA</a:t>
            </a:r>
            <a:endParaRPr sz="8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多模态感知、状态估计与自适应控制"/>
          <p:cNvSpPr txBox="1"/>
          <p:nvPr/>
        </p:nvSpPr>
        <p:spPr>
          <a:xfrm>
            <a:off x="5547072" y="5451546"/>
            <a:ext cx="2903141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多模态感知、状态估计与自适应控制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发展规划、产业拓展与社会价值"/>
          <p:cNvSpPr txBox="1"/>
          <p:nvPr/>
        </p:nvSpPr>
        <p:spPr>
          <a:xfrm>
            <a:off x="11477774" y="5442793"/>
            <a:ext cx="2550616" cy="236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发展规划、产业拓展与社会价值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534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3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1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背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传统做青面临的现实问题&#10;与技术缺口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传统做青面临的现实问题</a:t>
            </a:r>
            <a:b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与技术缺口</a:t>
            </a:r>
            <a:endParaRPr sz="2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好茶，难以标准化；&#10; 好工艺，难以复制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“好茶，难以标准化；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好工艺，难以复制。”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1.1 行业现状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1.1 行业现状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做青是形成凤凰单丛品质的关键环节，但仍高度依赖人工经验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做青是形成凤凰单丛品质的关键环节，但仍高度依赖人工经验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4552950" y="2847975"/>
            <a:ext cx="3571875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8334375" y="2847975"/>
            <a:ext cx="3724275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382500" y="2847975"/>
            <a:ext cx="3086100" cy="41052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4552950" y="2847975"/>
            <a:ext cx="3571875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334375" y="2847975"/>
            <a:ext cx="3724275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2382500" y="2847975"/>
            <a:ext cx="3086100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独立照片或曲线图（内部为像素）" descr="p03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581400"/>
            <a:ext cx="1133475" cy="981075"/>
          </a:xfrm>
          <a:prstGeom prst="rect">
            <a:avLst/>
          </a:prstGeom>
        </p:spPr>
      </p:pic>
      <p:pic>
        <p:nvPicPr>
          <p:cNvPr id="40" name="独立照片或曲线图（内部为像素）" descr="p03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4610100"/>
            <a:ext cx="1133475" cy="1000125"/>
          </a:xfrm>
          <a:prstGeom prst="rect">
            <a:avLst/>
          </a:prstGeom>
        </p:spPr>
      </p:pic>
      <p:pic>
        <p:nvPicPr>
          <p:cNvPr id="41" name="独立照片或曲线图（内部为像素）" descr="p03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5667375"/>
            <a:ext cx="1133475" cy="990599"/>
          </a:xfrm>
          <a:prstGeom prst="rect">
            <a:avLst/>
          </a:prstGeom>
        </p:spPr>
      </p:pic>
      <p:pic>
        <p:nvPicPr>
          <p:cNvPr id="42" name="独立图标或流程线" descr="p03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781425"/>
            <a:ext cx="561975" cy="504825"/>
          </a:xfrm>
          <a:prstGeom prst="rect">
            <a:avLst/>
          </a:prstGeom>
        </p:spPr>
      </p:pic>
      <p:pic>
        <p:nvPicPr>
          <p:cNvPr id="43" name="独立图标或流程线" descr="p03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96825" y="3810000"/>
            <a:ext cx="352425" cy="457200"/>
          </a:xfrm>
          <a:prstGeom prst="rect">
            <a:avLst/>
          </a:prstGeom>
        </p:spPr>
      </p:pic>
      <p:pic>
        <p:nvPicPr>
          <p:cNvPr id="44" name="独立图标或流程线" descr="p03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39675" y="4895850"/>
            <a:ext cx="476250" cy="476250"/>
          </a:xfrm>
          <a:prstGeom prst="rect">
            <a:avLst/>
          </a:prstGeom>
        </p:spPr>
      </p:pic>
      <p:pic>
        <p:nvPicPr>
          <p:cNvPr id="45" name="独立图标或流程线" descr="p03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4914900"/>
            <a:ext cx="466724" cy="457200"/>
          </a:xfrm>
          <a:prstGeom prst="rect">
            <a:avLst/>
          </a:prstGeom>
        </p:spPr>
      </p:pic>
      <p:pic>
        <p:nvPicPr>
          <p:cNvPr id="46" name="独立图标或流程线" descr="p03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1550" y="6000750"/>
            <a:ext cx="447675" cy="495299"/>
          </a:xfrm>
          <a:prstGeom prst="rect">
            <a:avLst/>
          </a:prstGeom>
        </p:spPr>
      </p:pic>
      <p:pic>
        <p:nvPicPr>
          <p:cNvPr id="47" name="独立图标或流程线" descr="p03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9675" y="6000750"/>
            <a:ext cx="476250" cy="466724"/>
          </a:xfrm>
          <a:prstGeom prst="rect">
            <a:avLst/>
          </a:prstGeom>
        </p:spPr>
      </p:pic>
      <p:sp>
        <p:nvSpPr>
          <p:cNvPr id="48" name="文字：做青通过控制叶片的物理化学变化，决定了凤凰单丛的香气类型、滋味层次和品"/>
          <p:cNvSpPr txBox="1"/>
          <p:nvPr/>
        </p:nvSpPr>
        <p:spPr>
          <a:xfrm>
            <a:off x="4572000" y="2000250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做青通过控制叶片的物理化学变化，决定了凤凰单丛的香气类型、滋味层次和品质稳定性，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文字：是制茶过程中最关键、也最难标准化的环节。"/>
          <p:cNvSpPr txBox="1"/>
          <p:nvPr/>
        </p:nvSpPr>
        <p:spPr>
          <a:xfrm>
            <a:off x="4572000" y="2314575"/>
            <a:ext cx="4295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是制茶过程中最关键、也最难标准化的环节。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凤凰单丛的品质特征"/>
          <p:cNvSpPr txBox="1"/>
          <p:nvPr/>
        </p:nvSpPr>
        <p:spPr>
          <a:xfrm>
            <a:off x="4676775" y="2990850"/>
            <a:ext cx="250507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凤凰单丛的品质特征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做青过程复杂，影响因素多"/>
          <p:cNvSpPr txBox="1"/>
          <p:nvPr/>
        </p:nvSpPr>
        <p:spPr>
          <a:xfrm>
            <a:off x="8515350" y="3000375"/>
            <a:ext cx="30670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做青过程复杂，影响因素多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现有模式面临的问题"/>
          <p:cNvSpPr txBox="1"/>
          <p:nvPr/>
        </p:nvSpPr>
        <p:spPr>
          <a:xfrm>
            <a:off x="12592050" y="3000375"/>
            <a:ext cx="2419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现有模式面临的问题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香气丰富"/>
          <p:cNvSpPr txBox="1"/>
          <p:nvPr/>
        </p:nvSpPr>
        <p:spPr>
          <a:xfrm>
            <a:off x="5781675" y="3752850"/>
            <a:ext cx="1009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香气丰富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环境条件多变"/>
          <p:cNvSpPr txBox="1"/>
          <p:nvPr/>
        </p:nvSpPr>
        <p:spPr>
          <a:xfrm>
            <a:off x="9448800" y="3714750"/>
            <a:ext cx="1400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环境条件多变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品质不稳定"/>
          <p:cNvSpPr txBox="1"/>
          <p:nvPr/>
        </p:nvSpPr>
        <p:spPr>
          <a:xfrm>
            <a:off x="13515975" y="3676650"/>
            <a:ext cx="1190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</a:pPr>
            <a:r>
              <a:rPr sz="17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品质不稳定</a:t>
            </a:r>
            <a:endParaRPr sz="17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花香、果香等多种香型"/>
          <p:cNvSpPr txBox="1"/>
          <p:nvPr/>
        </p:nvSpPr>
        <p:spPr>
          <a:xfrm>
            <a:off x="5791200" y="4133850"/>
            <a:ext cx="1914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花香、果香等多种香型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温度、湿度、通风等随"/>
          <p:cNvSpPr txBox="1"/>
          <p:nvPr/>
        </p:nvSpPr>
        <p:spPr>
          <a:xfrm>
            <a:off x="9458325" y="4067175"/>
            <a:ext cx="18573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温度、湿度、通风等随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同一批次差异大，"/>
          <p:cNvSpPr txBox="1"/>
          <p:nvPr/>
        </p:nvSpPr>
        <p:spPr>
          <a:xfrm>
            <a:off x="13525500" y="4048125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同一批次差异大，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天气和场地变化"/>
          <p:cNvSpPr txBox="1"/>
          <p:nvPr/>
        </p:nvSpPr>
        <p:spPr>
          <a:xfrm>
            <a:off x="9467850" y="4305300"/>
            <a:ext cx="1323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天气和场地变化</a:t>
            </a:r>
            <a:endParaRPr sz="13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受人工经验影响大"/>
          <p:cNvSpPr txBox="1"/>
          <p:nvPr/>
        </p:nvSpPr>
        <p:spPr>
          <a:xfrm>
            <a:off x="13525500" y="4295775"/>
            <a:ext cx="15716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受人工经验影响大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滋味醇厚"/>
          <p:cNvSpPr txBox="1"/>
          <p:nvPr/>
        </p:nvSpPr>
        <p:spPr>
          <a:xfrm>
            <a:off x="5772150" y="4791075"/>
            <a:ext cx="1028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滋味醇厚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叶片状态难以量化"/>
          <p:cNvSpPr txBox="1"/>
          <p:nvPr/>
        </p:nvSpPr>
        <p:spPr>
          <a:xfrm>
            <a:off x="9467850" y="4819650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叶片状态难以量化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生产效率低"/>
          <p:cNvSpPr txBox="1"/>
          <p:nvPr/>
        </p:nvSpPr>
        <p:spPr>
          <a:xfrm>
            <a:off x="13515975" y="4819650"/>
            <a:ext cx="12287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生产效率低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口感层次丰富"/>
          <p:cNvSpPr txBox="1"/>
          <p:nvPr/>
        </p:nvSpPr>
        <p:spPr>
          <a:xfrm>
            <a:off x="5791200" y="5162550"/>
            <a:ext cx="1209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口感层次丰富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含水率、酶活性、红变程度等"/>
          <p:cNvSpPr txBox="1"/>
          <p:nvPr/>
        </p:nvSpPr>
        <p:spPr>
          <a:xfrm>
            <a:off x="9467850" y="5162550"/>
            <a:ext cx="24384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含水率、酶活性、红变程度等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高度依赖人工观察"/>
          <p:cNvSpPr txBox="1"/>
          <p:nvPr/>
        </p:nvSpPr>
        <p:spPr>
          <a:xfrm>
            <a:off x="13535025" y="5181600"/>
            <a:ext cx="1562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高度依赖人工观察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难以实时准确获取"/>
          <p:cNvSpPr txBox="1"/>
          <p:nvPr/>
        </p:nvSpPr>
        <p:spPr>
          <a:xfrm>
            <a:off x="9467850" y="5410200"/>
            <a:ext cx="15525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难以实时准确获取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和多次试错"/>
          <p:cNvSpPr txBox="1"/>
          <p:nvPr/>
        </p:nvSpPr>
        <p:spPr>
          <a:xfrm>
            <a:off x="13525500" y="5410200"/>
            <a:ext cx="10382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和多次试错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品质高、价值高"/>
          <p:cNvSpPr txBox="1"/>
          <p:nvPr/>
        </p:nvSpPr>
        <p:spPr>
          <a:xfrm>
            <a:off x="5791200" y="5895975"/>
            <a:ext cx="1657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品质高、价值高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工艺依赖经验"/>
          <p:cNvSpPr txBox="1"/>
          <p:nvPr/>
        </p:nvSpPr>
        <p:spPr>
          <a:xfrm>
            <a:off x="9467850" y="5924550"/>
            <a:ext cx="1428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工艺依赖经验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难以规模化推广"/>
          <p:cNvSpPr txBox="1"/>
          <p:nvPr/>
        </p:nvSpPr>
        <p:spPr>
          <a:xfrm>
            <a:off x="13525500" y="5943600"/>
            <a:ext cx="16192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难以规模化推广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具有稳定的地域与文化价值"/>
          <p:cNvSpPr txBox="1"/>
          <p:nvPr/>
        </p:nvSpPr>
        <p:spPr>
          <a:xfrm>
            <a:off x="5800725" y="6267450"/>
            <a:ext cx="22383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具有稳定的地域与文化价值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主要依靠制茶师的经验判断，"/>
          <p:cNvSpPr txBox="1"/>
          <p:nvPr/>
        </p:nvSpPr>
        <p:spPr>
          <a:xfrm>
            <a:off x="9467850" y="6286500"/>
            <a:ext cx="2314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主要依靠制茶师的经验判断，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优质工艺难以复制，"/>
          <p:cNvSpPr txBox="1"/>
          <p:nvPr/>
        </p:nvSpPr>
        <p:spPr>
          <a:xfrm>
            <a:off x="13544550" y="631507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优质工艺难以复制，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难以标准化和复制"/>
          <p:cNvSpPr txBox="1"/>
          <p:nvPr/>
        </p:nvSpPr>
        <p:spPr>
          <a:xfrm>
            <a:off x="9467850" y="6543675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难以标准化和复制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制约产业发展"/>
          <p:cNvSpPr txBox="1"/>
          <p:nvPr/>
        </p:nvSpPr>
        <p:spPr>
          <a:xfrm>
            <a:off x="13525500" y="6543675"/>
            <a:ext cx="12382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制约产业发展</a:t>
            </a:r>
            <a:endParaRPr sz="15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亟需新的技术手段，实现做青过程的状态感知、智能判断与精准控制"/>
          <p:cNvSpPr txBox="1"/>
          <p:nvPr/>
        </p:nvSpPr>
        <p:spPr>
          <a:xfrm>
            <a:off x="6191250" y="7810500"/>
            <a:ext cx="73056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亟需新的技术手段，实现做青过程的状态感知、智能判断与精准控制</a:t>
            </a:r>
            <a:endParaRPr sz="175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534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4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1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01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背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传统做青面临的现实问题&#10;与技术缺口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传统做青面临的现实问题</a:t>
            </a:r>
            <a:b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与技术缺口</a:t>
            </a:r>
            <a:endParaRPr sz="2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好茶，难以标准化；&#10; 好工艺，难以复制。”"/>
          <p:cNvSpPr txBox="1"/>
          <p:nvPr/>
        </p:nvSpPr>
        <p:spPr>
          <a:xfrm>
            <a:off x="2346960" y="4272915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“好茶，难以标准化；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好工艺，难以复制。”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1.2 现有自动化边界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 现有自动化边界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现有自动化主要解决“会执行”，仍缺少对鲜叶状态的理解与动态响应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65"/>
              </a:lnSpc>
              <a:spcBef>
                <a:spcPts val="0"/>
              </a:spcBef>
              <a:spcAft>
                <a:spcPts val="0"/>
              </a:spcAft>
            </a:pPr>
            <a:r>
              <a:rPr sz="19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现有自动化主要解决“会执行”，仍缺少对鲜叶状态的理解与动态响应</a:t>
            </a:r>
            <a:endParaRPr sz="19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4524375" y="2143125"/>
            <a:ext cx="5124450" cy="469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9848850" y="2143125"/>
            <a:ext cx="5619750" cy="469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4524375" y="2143125"/>
            <a:ext cx="51244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9848850" y="2143125"/>
            <a:ext cx="56197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独立图标或流程线" descr="p04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886075"/>
            <a:ext cx="447675" cy="409575"/>
          </a:xfrm>
          <a:prstGeom prst="rect">
            <a:avLst/>
          </a:prstGeom>
        </p:spPr>
      </p:pic>
      <p:pic>
        <p:nvPicPr>
          <p:cNvPr id="39" name="独立图标或流程线" descr="p04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933700"/>
            <a:ext cx="533400" cy="514350"/>
          </a:xfrm>
          <a:prstGeom prst="rect">
            <a:avLst/>
          </a:prstGeom>
        </p:spPr>
      </p:pic>
      <p:pic>
        <p:nvPicPr>
          <p:cNvPr id="40" name="独立图标或流程线" descr="p04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629025"/>
            <a:ext cx="428625" cy="419100"/>
          </a:xfrm>
          <a:prstGeom prst="rect">
            <a:avLst/>
          </a:prstGeom>
        </p:spPr>
      </p:pic>
      <p:pic>
        <p:nvPicPr>
          <p:cNvPr id="41" name="独立图标或流程线" descr="p04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275" y="4038600"/>
            <a:ext cx="581025" cy="523874"/>
          </a:xfrm>
          <a:prstGeom prst="rect">
            <a:avLst/>
          </a:prstGeom>
        </p:spPr>
      </p:pic>
      <p:pic>
        <p:nvPicPr>
          <p:cNvPr id="42" name="独立图标或流程线" descr="p04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4400550"/>
            <a:ext cx="304800" cy="495299"/>
          </a:xfrm>
          <a:prstGeom prst="rect">
            <a:avLst/>
          </a:prstGeom>
        </p:spPr>
      </p:pic>
      <p:pic>
        <p:nvPicPr>
          <p:cNvPr id="43" name="独立图标或流程线" descr="p04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5153025"/>
            <a:ext cx="561975" cy="495299"/>
          </a:xfrm>
          <a:prstGeom prst="rect">
            <a:avLst/>
          </a:prstGeom>
        </p:spPr>
      </p:pic>
      <p:pic>
        <p:nvPicPr>
          <p:cNvPr id="44" name="独立图标或流程线" descr="p04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5238750"/>
            <a:ext cx="390525" cy="447675"/>
          </a:xfrm>
          <a:prstGeom prst="rect">
            <a:avLst/>
          </a:prstGeom>
        </p:spPr>
      </p:pic>
      <p:pic>
        <p:nvPicPr>
          <p:cNvPr id="45" name="独立图标或流程线" descr="p04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825" y="6086475"/>
            <a:ext cx="466724" cy="400050"/>
          </a:xfrm>
          <a:prstGeom prst="rect">
            <a:avLst/>
          </a:prstGeom>
        </p:spPr>
      </p:pic>
      <p:pic>
        <p:nvPicPr>
          <p:cNvPr id="46" name="独立图标或流程线" descr="p04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8900" y="6134100"/>
            <a:ext cx="400050" cy="447675"/>
          </a:xfrm>
          <a:prstGeom prst="rect">
            <a:avLst/>
          </a:prstGeom>
        </p:spPr>
      </p:pic>
      <p:sp>
        <p:nvSpPr>
          <p:cNvPr id="47" name="文字：已经可以做到"/>
          <p:cNvSpPr txBox="1"/>
          <p:nvPr/>
        </p:nvSpPr>
        <p:spPr>
          <a:xfrm>
            <a:off x="4733925" y="2209800"/>
            <a:ext cx="18383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已经可以做到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" name="文字：仍然缺少"/>
          <p:cNvSpPr txBox="1"/>
          <p:nvPr/>
        </p:nvSpPr>
        <p:spPr>
          <a:xfrm>
            <a:off x="10239375" y="220027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仍然缺少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文字：自动摇青"/>
          <p:cNvSpPr txBox="1"/>
          <p:nvPr/>
        </p:nvSpPr>
        <p:spPr>
          <a:xfrm>
            <a:off x="5648325" y="2790825"/>
            <a:ext cx="102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自动摇青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多源状态联合表征"/>
          <p:cNvSpPr txBox="1"/>
          <p:nvPr/>
        </p:nvSpPr>
        <p:spPr>
          <a:xfrm>
            <a:off x="11210925" y="2905125"/>
            <a:ext cx="20764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多源状态联合表征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可按照设定程序完成基础执行"/>
          <p:cNvSpPr txBox="1"/>
          <p:nvPr/>
        </p:nvSpPr>
        <p:spPr>
          <a:xfrm>
            <a:off x="5648325" y="3124200"/>
            <a:ext cx="2466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可按照设定程序完成基础执行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难以同时融合香气、视觉、失水与环境信息"/>
          <p:cNvSpPr txBox="1"/>
          <p:nvPr/>
        </p:nvSpPr>
        <p:spPr>
          <a:xfrm>
            <a:off x="11210925" y="3286125"/>
            <a:ext cx="38290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难以同时融合香气、视觉、失水与环境信息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固定程序控制"/>
          <p:cNvSpPr txBox="1"/>
          <p:nvPr/>
        </p:nvSpPr>
        <p:spPr>
          <a:xfrm>
            <a:off x="5648325" y="3581400"/>
            <a:ext cx="15335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固定程序控制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预设转速、时长、间隔后自动运行"/>
          <p:cNvSpPr txBox="1"/>
          <p:nvPr/>
        </p:nvSpPr>
        <p:spPr>
          <a:xfrm>
            <a:off x="5648325" y="3905250"/>
            <a:ext cx="2914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预设转速、时长、间隔后自动运行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跨天气／茶季／批次稳定"/>
          <p:cNvSpPr txBox="1"/>
          <p:nvPr/>
        </p:nvSpPr>
        <p:spPr>
          <a:xfrm>
            <a:off x="11182350" y="4038600"/>
            <a:ext cx="2847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跨天气／茶季／批次稳定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温湿度监测"/>
          <p:cNvSpPr txBox="1"/>
          <p:nvPr/>
        </p:nvSpPr>
        <p:spPr>
          <a:xfrm>
            <a:off x="5638800" y="4362450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温湿度监测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工况变化下结果一致性不足"/>
          <p:cNvSpPr txBox="1"/>
          <p:nvPr/>
        </p:nvSpPr>
        <p:spPr>
          <a:xfrm>
            <a:off x="11229975" y="4419600"/>
            <a:ext cx="2428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工况变化下结果一致性不足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能记录环境变化"/>
          <p:cNvSpPr txBox="1"/>
          <p:nvPr/>
        </p:nvSpPr>
        <p:spPr>
          <a:xfrm>
            <a:off x="10201275" y="6134100"/>
            <a:ext cx="14573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能记录环境变化</a:t>
            </a:r>
            <a:endParaRPr sz="15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电子鼻阶段识别"/>
          <p:cNvSpPr txBox="1"/>
          <p:nvPr/>
        </p:nvSpPr>
        <p:spPr>
          <a:xfrm>
            <a:off x="5638800" y="5191125"/>
            <a:ext cx="17907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电子鼻阶段识别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状态进入工艺决策闭环"/>
          <p:cNvSpPr txBox="1"/>
          <p:nvPr/>
        </p:nvSpPr>
        <p:spPr>
          <a:xfrm>
            <a:off x="11191875" y="5105400"/>
            <a:ext cx="2590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状态进入工艺决策闭环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可用于识别部分加工阶段特征"/>
          <p:cNvSpPr txBox="1"/>
          <p:nvPr/>
        </p:nvSpPr>
        <p:spPr>
          <a:xfrm>
            <a:off x="5638800" y="5524500"/>
            <a:ext cx="2590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可用于识别部分加工阶段特征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感知结果尚未真正驱动下一步做青动作"/>
          <p:cNvSpPr txBox="1"/>
          <p:nvPr/>
        </p:nvSpPr>
        <p:spPr>
          <a:xfrm>
            <a:off x="11220450" y="5495925"/>
            <a:ext cx="34194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感知结果尚未真正驱动下一步做青动作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机器视觉提取色泽"/>
          <p:cNvSpPr txBox="1"/>
          <p:nvPr/>
        </p:nvSpPr>
        <p:spPr>
          <a:xfrm>
            <a:off x="5648325" y="6029325"/>
            <a:ext cx="20288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机器视觉提取色泽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以成茶品质验证控制效果"/>
          <p:cNvSpPr txBox="1"/>
          <p:nvPr/>
        </p:nvSpPr>
        <p:spPr>
          <a:xfrm>
            <a:off x="11210925" y="6086475"/>
            <a:ext cx="27622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以成茶品质验证控制效果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可获取叶色和外观信息"/>
          <p:cNvSpPr txBox="1"/>
          <p:nvPr/>
        </p:nvSpPr>
        <p:spPr>
          <a:xfrm>
            <a:off x="5648325" y="6343650"/>
            <a:ext cx="2009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可获取叶色和外观信息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最终还缺少面向品质稳定性的闭环验证"/>
          <p:cNvSpPr txBox="1"/>
          <p:nvPr/>
        </p:nvSpPr>
        <p:spPr>
          <a:xfrm>
            <a:off x="11210925" y="6457950"/>
            <a:ext cx="3390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最终还缺少面向品质稳定性的闭环验证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做青自动化≠做青智能化"/>
          <p:cNvSpPr txBox="1"/>
          <p:nvPr/>
        </p:nvSpPr>
        <p:spPr>
          <a:xfrm>
            <a:off x="7534275" y="7756475"/>
            <a:ext cx="44100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做青自动化≠做青智能化</a:t>
            </a:r>
            <a:endParaRPr sz="276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关键缺口在于：从“监测与执行”走向“理解状态并动态决策”"/>
          <p:cNvSpPr txBox="1"/>
          <p:nvPr/>
        </p:nvSpPr>
        <p:spPr>
          <a:xfrm>
            <a:off x="6600825" y="8162925"/>
            <a:ext cx="61817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关键缺口在于：从“监测与执行”走向“理解状态并动态决策”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共享背景：原图茶园风景（无内容组件）" descr="landsca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6810"/>
            <a:ext cx="15925800" cy="8963025"/>
          </a:xfrm>
          <a:prstGeom prst="rect">
            <a:avLst/>
          </a:prstGeom>
        </p:spPr>
      </p:pic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869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5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2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概述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系统定位、总体架构&#10;与作品形态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与作品形态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用数字科技&#10; 让好茶更可控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“用数字科技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让好茶更可控。”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2.1 系统定位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 系统定位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面向凤凰单丛做青的智能感知与精准控制系统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面向凤凰单丛做青的智能感知与精准控制系统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924300" y="2247900"/>
            <a:ext cx="253365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6848475" y="2247900"/>
            <a:ext cx="253365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9791700" y="2247900"/>
            <a:ext cx="2628900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849225" y="2247900"/>
            <a:ext cx="2695575" cy="19431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924300" y="5019675"/>
            <a:ext cx="1419225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5495925" y="5019675"/>
            <a:ext cx="6915150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2973050" y="5019675"/>
            <a:ext cx="2571750" cy="2647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924300" y="3848100"/>
            <a:ext cx="253365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6848475" y="3848100"/>
            <a:ext cx="253365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9791700" y="3848100"/>
            <a:ext cx="2628900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849225" y="3848100"/>
            <a:ext cx="2695575" cy="3429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独立照片或曲线图（内部为像素）" descr="p05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5962650"/>
            <a:ext cx="685800" cy="838200"/>
          </a:xfrm>
          <a:prstGeom prst="rect">
            <a:avLst/>
          </a:prstGeom>
        </p:spPr>
      </p:pic>
      <p:pic>
        <p:nvPicPr>
          <p:cNvPr id="45" name="独立照片或曲线图（内部为像素）" descr="p05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962650"/>
            <a:ext cx="685800" cy="419100"/>
          </a:xfrm>
          <a:prstGeom prst="rect">
            <a:avLst/>
          </a:prstGeom>
        </p:spPr>
      </p:pic>
      <p:pic>
        <p:nvPicPr>
          <p:cNvPr id="46" name="独立照片或曲线图（内部为像素）" descr="p05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6400800"/>
            <a:ext cx="685800" cy="409575"/>
          </a:xfrm>
          <a:prstGeom prst="rect">
            <a:avLst/>
          </a:prstGeom>
        </p:spPr>
      </p:pic>
      <p:pic>
        <p:nvPicPr>
          <p:cNvPr id="47" name="独立照片或曲线图（内部为像素）" descr="p05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975" y="5953125"/>
            <a:ext cx="1390650" cy="838200"/>
          </a:xfrm>
          <a:prstGeom prst="rect">
            <a:avLst/>
          </a:prstGeom>
        </p:spPr>
      </p:pic>
      <p:pic>
        <p:nvPicPr>
          <p:cNvPr id="48" name="独立照片或曲线图（内部为像素）" descr="p05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0" y="5953125"/>
            <a:ext cx="1362075" cy="838200"/>
          </a:xfrm>
          <a:prstGeom prst="rect">
            <a:avLst/>
          </a:prstGeom>
        </p:spPr>
      </p:pic>
      <p:pic>
        <p:nvPicPr>
          <p:cNvPr id="49" name="独立照片或曲线图（内部为像素）" descr="p05_photo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725" y="5962650"/>
            <a:ext cx="1428750" cy="847725"/>
          </a:xfrm>
          <a:prstGeom prst="rect">
            <a:avLst/>
          </a:prstGeom>
        </p:spPr>
      </p:pic>
      <p:pic>
        <p:nvPicPr>
          <p:cNvPr id="50" name="独立图标或流程线" descr="p05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0875" y="2343150"/>
            <a:ext cx="533400" cy="533400"/>
          </a:xfrm>
          <a:prstGeom prst="rect">
            <a:avLst/>
          </a:prstGeom>
        </p:spPr>
      </p:pic>
      <p:pic>
        <p:nvPicPr>
          <p:cNvPr id="51" name="独立图标或流程线" descr="p05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4125" y="2343150"/>
            <a:ext cx="590550" cy="542925"/>
          </a:xfrm>
          <a:prstGeom prst="rect">
            <a:avLst/>
          </a:prstGeom>
        </p:spPr>
      </p:pic>
      <p:pic>
        <p:nvPicPr>
          <p:cNvPr id="52" name="独立图标或流程线" descr="p05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2352675"/>
            <a:ext cx="552450" cy="523874"/>
          </a:xfrm>
          <a:prstGeom prst="rect">
            <a:avLst/>
          </a:prstGeom>
        </p:spPr>
      </p:pic>
      <p:pic>
        <p:nvPicPr>
          <p:cNvPr id="53" name="独立图标或流程线" descr="p05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0025" y="2390775"/>
            <a:ext cx="561975" cy="495299"/>
          </a:xfrm>
          <a:prstGeom prst="rect">
            <a:avLst/>
          </a:prstGeom>
        </p:spPr>
      </p:pic>
      <p:pic>
        <p:nvPicPr>
          <p:cNvPr id="54" name="独立图标或流程线" descr="p05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2867025"/>
            <a:ext cx="180975" cy="276225"/>
          </a:xfrm>
          <a:prstGeom prst="rect">
            <a:avLst/>
          </a:prstGeom>
        </p:spPr>
      </p:pic>
      <p:pic>
        <p:nvPicPr>
          <p:cNvPr id="55" name="独立图标或流程线" descr="p05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6425" y="2867025"/>
            <a:ext cx="180975" cy="276225"/>
          </a:xfrm>
          <a:prstGeom prst="rect">
            <a:avLst/>
          </a:prstGeom>
        </p:spPr>
      </p:pic>
      <p:pic>
        <p:nvPicPr>
          <p:cNvPr id="56" name="独立图标或流程线" descr="p05_icon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34900" y="2867025"/>
            <a:ext cx="190500" cy="276225"/>
          </a:xfrm>
          <a:prstGeom prst="rect">
            <a:avLst/>
          </a:prstGeom>
        </p:spPr>
      </p:pic>
      <p:pic>
        <p:nvPicPr>
          <p:cNvPr id="57" name="独立图标或流程线" descr="p05_icon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3650" y="4524375"/>
            <a:ext cx="85725" cy="314325"/>
          </a:xfrm>
          <a:prstGeom prst="rect">
            <a:avLst/>
          </a:prstGeom>
        </p:spPr>
      </p:pic>
      <p:pic>
        <p:nvPicPr>
          <p:cNvPr id="58" name="独立图标或流程线" descr="p05_icon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5750" y="5181600"/>
            <a:ext cx="352425" cy="342900"/>
          </a:xfrm>
          <a:prstGeom prst="rect">
            <a:avLst/>
          </a:prstGeom>
        </p:spPr>
      </p:pic>
      <p:pic>
        <p:nvPicPr>
          <p:cNvPr id="59" name="独立图标或流程线" descr="p05_icon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82600" y="5191125"/>
            <a:ext cx="466724" cy="419100"/>
          </a:xfrm>
          <a:prstGeom prst="rect">
            <a:avLst/>
          </a:prstGeom>
        </p:spPr>
      </p:pic>
      <p:pic>
        <p:nvPicPr>
          <p:cNvPr id="60" name="独立图标或流程线" descr="p05_icon1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34225" y="5600700"/>
            <a:ext cx="209550" cy="209550"/>
          </a:xfrm>
          <a:prstGeom prst="rect">
            <a:avLst/>
          </a:prstGeom>
        </p:spPr>
      </p:pic>
      <p:pic>
        <p:nvPicPr>
          <p:cNvPr id="61" name="独立图标或流程线" descr="p05_icon1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39200" y="5600700"/>
            <a:ext cx="200025" cy="209550"/>
          </a:xfrm>
          <a:prstGeom prst="rect">
            <a:avLst/>
          </a:prstGeom>
        </p:spPr>
      </p:pic>
      <p:pic>
        <p:nvPicPr>
          <p:cNvPr id="62" name="独立图标或流程线" descr="p05_icon1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15600" y="5600700"/>
            <a:ext cx="200025" cy="209550"/>
          </a:xfrm>
          <a:prstGeom prst="rect">
            <a:avLst/>
          </a:prstGeom>
        </p:spPr>
      </p:pic>
      <p:pic>
        <p:nvPicPr>
          <p:cNvPr id="63" name="独立图标或流程线" descr="p05_icon1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43375" y="5638800"/>
            <a:ext cx="247649" cy="390525"/>
          </a:xfrm>
          <a:prstGeom prst="rect">
            <a:avLst/>
          </a:prstGeom>
        </p:spPr>
      </p:pic>
      <p:pic>
        <p:nvPicPr>
          <p:cNvPr id="64" name="独立图标或流程线" descr="p05_icon1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92125" y="5791200"/>
            <a:ext cx="447675" cy="485775"/>
          </a:xfrm>
          <a:prstGeom prst="rect">
            <a:avLst/>
          </a:prstGeom>
        </p:spPr>
      </p:pic>
      <p:pic>
        <p:nvPicPr>
          <p:cNvPr id="65" name="独立图标或流程线" descr="p05_icon1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72100" y="6105525"/>
            <a:ext cx="219075" cy="200025"/>
          </a:xfrm>
          <a:prstGeom prst="rect">
            <a:avLst/>
          </a:prstGeom>
        </p:spPr>
      </p:pic>
      <p:pic>
        <p:nvPicPr>
          <p:cNvPr id="66" name="独立图标或流程线" descr="p05_icon1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86225" y="6162675"/>
            <a:ext cx="361950" cy="323850"/>
          </a:xfrm>
          <a:prstGeom prst="rect">
            <a:avLst/>
          </a:prstGeom>
        </p:spPr>
      </p:pic>
      <p:pic>
        <p:nvPicPr>
          <p:cNvPr id="67" name="独立图标或流程线" descr="p05_icon1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182600" y="6429375"/>
            <a:ext cx="466724" cy="476250"/>
          </a:xfrm>
          <a:prstGeom prst="rect">
            <a:avLst/>
          </a:prstGeom>
        </p:spPr>
      </p:pic>
      <p:pic>
        <p:nvPicPr>
          <p:cNvPr id="68" name="独立图标或流程线" descr="p05_icon18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14800" y="6619875"/>
            <a:ext cx="304800" cy="361950"/>
          </a:xfrm>
          <a:prstGeom prst="rect">
            <a:avLst/>
          </a:prstGeom>
        </p:spPr>
      </p:pic>
      <p:pic>
        <p:nvPicPr>
          <p:cNvPr id="69" name="独立图标或流程线" descr="p05_icon19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05525" y="7010400"/>
            <a:ext cx="5419725" cy="371475"/>
          </a:xfrm>
          <a:prstGeom prst="rect">
            <a:avLst/>
          </a:prstGeom>
        </p:spPr>
      </p:pic>
      <p:pic>
        <p:nvPicPr>
          <p:cNvPr id="70" name="独立图标或流程线" descr="p05_icon2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182600" y="7086600"/>
            <a:ext cx="466724" cy="457200"/>
          </a:xfrm>
          <a:prstGeom prst="rect">
            <a:avLst/>
          </a:prstGeom>
        </p:spPr>
      </p:pic>
      <p:pic>
        <p:nvPicPr>
          <p:cNvPr id="71" name="独立图标或流程线" descr="p05_icon2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14800" y="7115175"/>
            <a:ext cx="304800" cy="361950"/>
          </a:xfrm>
          <a:prstGeom prst="rect">
            <a:avLst/>
          </a:prstGeom>
        </p:spPr>
      </p:pic>
      <p:sp>
        <p:nvSpPr>
          <p:cNvPr id="72" name="文字：青韵智控面向凤凰单丛做青环节，构建“多模态感知一状态估计一工艺决策一执"/>
          <p:cNvSpPr txBox="1"/>
          <p:nvPr/>
        </p:nvSpPr>
        <p:spPr>
          <a:xfrm>
            <a:off x="3933825" y="1543050"/>
            <a:ext cx="8801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青韵智控面向凤凰单丛做青环节，构建“多模态感知一状态估计一工艺决策一执行控制”一体化系统，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实现做青过程的状态实时感知、关键指标智能判断与工艺参数精准控制，以数字"/>
          <p:cNvSpPr txBox="1"/>
          <p:nvPr/>
        </p:nvSpPr>
        <p:spPr>
          <a:xfrm>
            <a:off x="3914775" y="1819275"/>
            <a:ext cx="90297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实现做青过程的状态实时感知、关键指标智能判断与工艺参数精准控制，以数字科技重塑传统制茶工艺。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多模态感知"/>
          <p:cNvSpPr txBox="1"/>
          <p:nvPr/>
        </p:nvSpPr>
        <p:spPr>
          <a:xfrm>
            <a:off x="4581525" y="2924175"/>
            <a:ext cx="13239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状态估计"/>
          <p:cNvSpPr txBox="1"/>
          <p:nvPr/>
        </p:nvSpPr>
        <p:spPr>
          <a:xfrm>
            <a:off x="7610475" y="2905125"/>
            <a:ext cx="1095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19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</a:t>
            </a:r>
            <a:endParaRPr sz="19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工艺决策"/>
          <p:cNvSpPr txBox="1"/>
          <p:nvPr/>
        </p:nvSpPr>
        <p:spPr>
          <a:xfrm>
            <a:off x="10610850" y="2933700"/>
            <a:ext cx="10668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执行控制"/>
          <p:cNvSpPr txBox="1"/>
          <p:nvPr/>
        </p:nvSpPr>
        <p:spPr>
          <a:xfrm>
            <a:off x="13725525" y="2914650"/>
            <a:ext cx="10858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采集温湿度、香气、图像等"/>
          <p:cNvSpPr txBox="1"/>
          <p:nvPr/>
        </p:nvSpPr>
        <p:spPr>
          <a:xfrm>
            <a:off x="4162425" y="3324225"/>
            <a:ext cx="22193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采集温湿度、香气、图像等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融合多源信息，判断做青"/>
          <p:cNvSpPr txBox="1"/>
          <p:nvPr/>
        </p:nvSpPr>
        <p:spPr>
          <a:xfrm>
            <a:off x="7172325" y="3286125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融合多源信息，判断做青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生成个性化做青控制策略"/>
          <p:cNvSpPr txBox="1"/>
          <p:nvPr/>
        </p:nvSpPr>
        <p:spPr>
          <a:xfrm>
            <a:off x="10153650" y="3286125"/>
            <a:ext cx="2009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生成个性化做青控制策略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驱动设备完成精准控制"/>
          <p:cNvSpPr txBox="1"/>
          <p:nvPr/>
        </p:nvSpPr>
        <p:spPr>
          <a:xfrm>
            <a:off x="13335000" y="3286125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驱动设备完成精准控制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多维度信息"/>
          <p:cNvSpPr txBox="1"/>
          <p:nvPr/>
        </p:nvSpPr>
        <p:spPr>
          <a:xfrm>
            <a:off x="4752975" y="3552825"/>
            <a:ext cx="1009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5"/>
              </a:lnSpc>
              <a:spcBef>
                <a:spcPts val="0"/>
              </a:spcBef>
              <a:spcAft>
                <a:spcPts val="0"/>
              </a:spcAft>
            </a:pPr>
            <a:r>
              <a:rPr sz="14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多维度信息</a:t>
            </a:r>
            <a:endParaRPr sz="14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与发展趋势"/>
          <p:cNvSpPr txBox="1"/>
          <p:nvPr/>
        </p:nvSpPr>
        <p:spPr>
          <a:xfrm>
            <a:off x="7496175" y="35242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状态与发展趋势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（时间、温度、翻叶频率等）"/>
          <p:cNvSpPr txBox="1"/>
          <p:nvPr/>
        </p:nvSpPr>
        <p:spPr>
          <a:xfrm>
            <a:off x="10077450" y="3524250"/>
            <a:ext cx="21621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（时间、温度、翻叶频率等）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实现稳定、优质、可复制"/>
          <p:cNvSpPr txBox="1"/>
          <p:nvPr/>
        </p:nvSpPr>
        <p:spPr>
          <a:xfrm>
            <a:off x="13249275" y="35242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实现稳定、优质、可复制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看得见"/>
          <p:cNvSpPr txBox="1"/>
          <p:nvPr/>
        </p:nvSpPr>
        <p:spPr>
          <a:xfrm>
            <a:off x="4857750" y="3886200"/>
            <a:ext cx="800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看得准"/>
          <p:cNvSpPr txBox="1"/>
          <p:nvPr/>
        </p:nvSpPr>
        <p:spPr>
          <a:xfrm>
            <a:off x="7781925" y="3886200"/>
            <a:ext cx="800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看得准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控得住"/>
          <p:cNvSpPr txBox="1"/>
          <p:nvPr/>
        </p:nvSpPr>
        <p:spPr>
          <a:xfrm>
            <a:off x="10744200" y="388620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可复制"/>
          <p:cNvSpPr txBox="1"/>
          <p:nvPr/>
        </p:nvSpPr>
        <p:spPr>
          <a:xfrm>
            <a:off x="13858875" y="3886200"/>
            <a:ext cx="819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可复制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2.2 总体架构"/>
          <p:cNvSpPr txBox="1"/>
          <p:nvPr/>
        </p:nvSpPr>
        <p:spPr>
          <a:xfrm>
            <a:off x="4000500" y="4467225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95"/>
              </a:lnSpc>
              <a:spcBef>
                <a:spcPts val="0"/>
              </a:spcBef>
              <a:spcAft>
                <a:spcPts val="0"/>
              </a:spcAft>
            </a:pPr>
            <a:r>
              <a:rPr sz="24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2.2 总体架构</a:t>
            </a:r>
            <a:endParaRPr sz="24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数据驱动·闭环控制·持续优化"/>
          <p:cNvSpPr txBox="1"/>
          <p:nvPr/>
        </p:nvSpPr>
        <p:spPr>
          <a:xfrm>
            <a:off x="6610350" y="4552950"/>
            <a:ext cx="3562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数据驱动·闭环控制·持续优化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2.3作品形态"/>
          <p:cNvSpPr txBox="1"/>
          <p:nvPr/>
        </p:nvSpPr>
        <p:spPr>
          <a:xfrm>
            <a:off x="13068300" y="4514850"/>
            <a:ext cx="20669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2.3作品形态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鲜叶信息"/>
          <p:cNvSpPr txBox="1"/>
          <p:nvPr/>
        </p:nvSpPr>
        <p:spPr>
          <a:xfrm>
            <a:off x="4533900" y="5210175"/>
            <a:ext cx="752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鲜叶信息</a:t>
            </a:r>
            <a:endParaRPr sz="13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感知硬件模块"/>
          <p:cNvSpPr txBox="1"/>
          <p:nvPr/>
        </p:nvSpPr>
        <p:spPr>
          <a:xfrm>
            <a:off x="13830300" y="5143500"/>
            <a:ext cx="1171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感知硬件模块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多模态感知"/>
          <p:cNvSpPr txBox="1"/>
          <p:nvPr/>
        </p:nvSpPr>
        <p:spPr>
          <a:xfrm>
            <a:off x="5953125" y="5362575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状态估计"/>
          <p:cNvSpPr txBox="1"/>
          <p:nvPr/>
        </p:nvSpPr>
        <p:spPr>
          <a:xfrm>
            <a:off x="7743825" y="5362575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工艺决策"/>
          <p:cNvSpPr txBox="1"/>
          <p:nvPr/>
        </p:nvSpPr>
        <p:spPr>
          <a:xfrm>
            <a:off x="9429750" y="5353050"/>
            <a:ext cx="8477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执行控制"/>
          <p:cNvSpPr txBox="1"/>
          <p:nvPr/>
        </p:nvSpPr>
        <p:spPr>
          <a:xfrm>
            <a:off x="11115675" y="5353050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(可集成、可迁移)"/>
          <p:cNvSpPr txBox="1"/>
          <p:nvPr/>
        </p:nvSpPr>
        <p:spPr>
          <a:xfrm>
            <a:off x="13820775" y="541020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(可集成、可迁移)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（数据采集与预处理）"/>
          <p:cNvSpPr txBox="1"/>
          <p:nvPr/>
        </p:nvSpPr>
        <p:spPr>
          <a:xfrm>
            <a:off x="5781675" y="5610225"/>
            <a:ext cx="13335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（数据采集与预处理）</a:t>
            </a:r>
            <a:endParaRPr sz="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（特征提取与融合）"/>
          <p:cNvSpPr txBox="1"/>
          <p:nvPr/>
        </p:nvSpPr>
        <p:spPr>
          <a:xfrm>
            <a:off x="7543800" y="5600700"/>
            <a:ext cx="12192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（特征提取与融合）</a:t>
            </a:r>
            <a:endParaRPr sz="9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（控制策略生成）"/>
          <p:cNvSpPr txBox="1"/>
          <p:nvPr/>
        </p:nvSpPr>
        <p:spPr>
          <a:xfrm>
            <a:off x="9315450" y="5610225"/>
            <a:ext cx="10763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（控制策略生成）</a:t>
            </a:r>
            <a:endParaRPr sz="9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（设备驱动与反馈）"/>
          <p:cNvSpPr txBox="1"/>
          <p:nvPr/>
        </p:nvSpPr>
        <p:spPr>
          <a:xfrm>
            <a:off x="10944225" y="5610225"/>
            <a:ext cx="12001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（设备驱动与反馈）</a:t>
            </a:r>
            <a:endParaRPr sz="9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环境参数"/>
          <p:cNvSpPr txBox="1"/>
          <p:nvPr/>
        </p:nvSpPr>
        <p:spPr>
          <a:xfrm>
            <a:off x="4533900" y="5734050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控制软件系统"/>
          <p:cNvSpPr txBox="1"/>
          <p:nvPr/>
        </p:nvSpPr>
        <p:spPr>
          <a:xfrm>
            <a:off x="13830300" y="5800725"/>
            <a:ext cx="1181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控制软件系统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（算法模型+控制策略）"/>
          <p:cNvSpPr txBox="1"/>
          <p:nvPr/>
        </p:nvSpPr>
        <p:spPr>
          <a:xfrm>
            <a:off x="13820775" y="6057900"/>
            <a:ext cx="16573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（算法模型+控制策略）</a:t>
            </a:r>
            <a:endParaRPr sz="11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图像数据"/>
          <p:cNvSpPr txBox="1"/>
          <p:nvPr/>
        </p:nvSpPr>
        <p:spPr>
          <a:xfrm>
            <a:off x="4533900" y="6219825"/>
            <a:ext cx="7429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图像数据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设备集成方案"/>
          <p:cNvSpPr txBox="1"/>
          <p:nvPr/>
        </p:nvSpPr>
        <p:spPr>
          <a:xfrm>
            <a:off x="13839825" y="6438900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设备集成方案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香气数据"/>
          <p:cNvSpPr txBox="1"/>
          <p:nvPr/>
        </p:nvSpPr>
        <p:spPr>
          <a:xfrm>
            <a:off x="4543425" y="6686550"/>
            <a:ext cx="7429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香气数据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（适配现有做青设备）"/>
          <p:cNvSpPr txBox="1"/>
          <p:nvPr/>
        </p:nvSpPr>
        <p:spPr>
          <a:xfrm>
            <a:off x="13839825" y="6715125"/>
            <a:ext cx="14859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（适配现有做青设备）</a:t>
            </a:r>
            <a:endParaRPr sz="1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执行反馈与数据闭环"/>
          <p:cNvSpPr txBox="1"/>
          <p:nvPr/>
        </p:nvSpPr>
        <p:spPr>
          <a:xfrm>
            <a:off x="8229600" y="7038975"/>
            <a:ext cx="1524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执行反馈与数据闭环</a:t>
            </a:r>
            <a:endParaRPr sz="12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数据分析平台"/>
          <p:cNvSpPr txBox="1"/>
          <p:nvPr/>
        </p:nvSpPr>
        <p:spPr>
          <a:xfrm>
            <a:off x="13830300" y="7077075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数据分析平台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历史数据"/>
          <p:cNvSpPr txBox="1"/>
          <p:nvPr/>
        </p:nvSpPr>
        <p:spPr>
          <a:xfrm>
            <a:off x="4533900" y="7181850"/>
            <a:ext cx="762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历史数据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（过程可视化与记录）"/>
          <p:cNvSpPr txBox="1"/>
          <p:nvPr/>
        </p:nvSpPr>
        <p:spPr>
          <a:xfrm>
            <a:off x="13830300" y="7334250"/>
            <a:ext cx="14954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1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（过程可视化与记录）</a:t>
            </a:r>
            <a:endParaRPr sz="11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以数字科技传承茶香"/>
          <p:cNvSpPr txBox="1"/>
          <p:nvPr/>
        </p:nvSpPr>
        <p:spPr>
          <a:xfrm>
            <a:off x="7048500" y="7829222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以数字科技传承茶香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字：让传统工艺焕发新生"/>
          <p:cNvSpPr txBox="1"/>
          <p:nvPr/>
        </p:nvSpPr>
        <p:spPr>
          <a:xfrm>
            <a:off x="9467850" y="7821831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让传统工艺焕发新生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869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6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06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2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02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项目概述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系统定位、总体架构&#10;与作品形态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系统定位、总体架构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与作品形态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用数字科技&#10; 让好茶更可控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“用数字科技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让好茶更可控。”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2.3 系统架构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2.3 系统架构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软硬件协同的全流程闭环控制系统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软硬件协同的全流程闭环控制系统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914775" y="2333625"/>
            <a:ext cx="2619375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6886575" y="2333625"/>
            <a:ext cx="2647950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9896475" y="2333625"/>
            <a:ext cx="2686050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944475" y="2333625"/>
            <a:ext cx="2600325" cy="39624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6953250"/>
            <a:ext cx="11677650" cy="876300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877050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25025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592050" y="7172325"/>
            <a:ext cx="0" cy="438150"/>
          </a:xfrm>
          <a:prstGeom prst="line">
            <a:avLst/>
          </a:prstGeom>
          <a:ln w="9525">
            <a:solidFill>
              <a:srgbClr val="C7E2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独立照片或曲线图（内部为像素）" descr="p06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5" y="3810000"/>
            <a:ext cx="2314575" cy="1200150"/>
          </a:xfrm>
          <a:prstGeom prst="rect">
            <a:avLst/>
          </a:prstGeom>
        </p:spPr>
      </p:pic>
      <p:pic>
        <p:nvPicPr>
          <p:cNvPr id="41" name="独立照片或曲线图（内部为像素）" descr="p06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75" y="3810000"/>
            <a:ext cx="2314575" cy="1200150"/>
          </a:xfrm>
          <a:prstGeom prst="rect">
            <a:avLst/>
          </a:prstGeom>
        </p:spPr>
      </p:pic>
      <p:pic>
        <p:nvPicPr>
          <p:cNvPr id="42" name="独立照片或曲线图（内部为像素）" descr="p06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25" y="3810000"/>
            <a:ext cx="2447925" cy="1200150"/>
          </a:xfrm>
          <a:prstGeom prst="rect">
            <a:avLst/>
          </a:prstGeom>
        </p:spPr>
      </p:pic>
      <p:pic>
        <p:nvPicPr>
          <p:cNvPr id="43" name="独立照片或曲线图（内部为像素）" descr="p06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6875" y="3810000"/>
            <a:ext cx="2324100" cy="1200150"/>
          </a:xfrm>
          <a:prstGeom prst="rect">
            <a:avLst/>
          </a:prstGeom>
        </p:spPr>
      </p:pic>
      <p:pic>
        <p:nvPicPr>
          <p:cNvPr id="44" name="独立图标或流程线" descr="p06_icon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3275" y="3171825"/>
            <a:ext cx="619125" cy="552450"/>
          </a:xfrm>
          <a:prstGeom prst="rect">
            <a:avLst/>
          </a:prstGeom>
        </p:spPr>
      </p:pic>
      <p:pic>
        <p:nvPicPr>
          <p:cNvPr id="45" name="独立图标或流程线" descr="p06_icon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3650" y="3181350"/>
            <a:ext cx="685800" cy="542925"/>
          </a:xfrm>
          <a:prstGeom prst="rect">
            <a:avLst/>
          </a:prstGeom>
        </p:spPr>
      </p:pic>
      <p:pic>
        <p:nvPicPr>
          <p:cNvPr id="46" name="独立图标或流程线" descr="p06_icon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190875"/>
            <a:ext cx="552450" cy="533400"/>
          </a:xfrm>
          <a:prstGeom prst="rect">
            <a:avLst/>
          </a:prstGeom>
        </p:spPr>
      </p:pic>
      <p:pic>
        <p:nvPicPr>
          <p:cNvPr id="47" name="独立图标或流程线" descr="p06_icon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4799" y="3209925"/>
            <a:ext cx="571500" cy="514350"/>
          </a:xfrm>
          <a:prstGeom prst="rect">
            <a:avLst/>
          </a:prstGeom>
        </p:spPr>
      </p:pic>
      <p:pic>
        <p:nvPicPr>
          <p:cNvPr id="48" name="独立图标或流程线" descr="p06_icon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905249"/>
            <a:ext cx="190500" cy="266700"/>
          </a:xfrm>
          <a:prstGeom prst="rect">
            <a:avLst/>
          </a:prstGeom>
        </p:spPr>
      </p:pic>
      <p:pic>
        <p:nvPicPr>
          <p:cNvPr id="49" name="独立图标或流程线" descr="p06_icon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9775" y="3905249"/>
            <a:ext cx="190500" cy="266700"/>
          </a:xfrm>
          <a:prstGeom prst="rect">
            <a:avLst/>
          </a:prstGeom>
        </p:spPr>
      </p:pic>
      <p:pic>
        <p:nvPicPr>
          <p:cNvPr id="50" name="独立图标或流程线" descr="p06_icon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7775" y="3905249"/>
            <a:ext cx="190500" cy="266700"/>
          </a:xfrm>
          <a:prstGeom prst="rect">
            <a:avLst/>
          </a:prstGeom>
        </p:spPr>
      </p:pic>
      <p:pic>
        <p:nvPicPr>
          <p:cNvPr id="51" name="独立图标或流程线" descr="p06_icon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5274" y="5181600"/>
            <a:ext cx="133350" cy="133350"/>
          </a:xfrm>
          <a:prstGeom prst="rect">
            <a:avLst/>
          </a:prstGeom>
        </p:spPr>
      </p:pic>
      <p:pic>
        <p:nvPicPr>
          <p:cNvPr id="52" name="独立图标或流程线" descr="p06_icon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4700" y="5181600"/>
            <a:ext cx="104775" cy="133350"/>
          </a:xfrm>
          <a:prstGeom prst="rect">
            <a:avLst/>
          </a:prstGeom>
        </p:spPr>
      </p:pic>
      <p:pic>
        <p:nvPicPr>
          <p:cNvPr id="53" name="独立图标或流程线" descr="p06_icon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7450" y="5181600"/>
            <a:ext cx="104775" cy="133350"/>
          </a:xfrm>
          <a:prstGeom prst="rect">
            <a:avLst/>
          </a:prstGeom>
        </p:spPr>
      </p:pic>
      <p:pic>
        <p:nvPicPr>
          <p:cNvPr id="54" name="独立图标或流程线" descr="p06_icon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54025" y="5181600"/>
            <a:ext cx="133350" cy="133350"/>
          </a:xfrm>
          <a:prstGeom prst="rect">
            <a:avLst/>
          </a:prstGeom>
        </p:spPr>
      </p:pic>
      <p:pic>
        <p:nvPicPr>
          <p:cNvPr id="55" name="独立图标或流程线" descr="p06_icon1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05274" y="5457825"/>
            <a:ext cx="133350" cy="133350"/>
          </a:xfrm>
          <a:prstGeom prst="rect">
            <a:avLst/>
          </a:prstGeom>
        </p:spPr>
      </p:pic>
      <p:pic>
        <p:nvPicPr>
          <p:cNvPr id="56" name="独立图标或流程线" descr="p06_icon1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54025" y="5457825"/>
            <a:ext cx="133350" cy="133350"/>
          </a:xfrm>
          <a:prstGeom prst="rect">
            <a:avLst/>
          </a:prstGeom>
        </p:spPr>
      </p:pic>
      <p:pic>
        <p:nvPicPr>
          <p:cNvPr id="57" name="独立图标或流程线" descr="p06_icon1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05274" y="5734050"/>
            <a:ext cx="133350" cy="133350"/>
          </a:xfrm>
          <a:prstGeom prst="rect">
            <a:avLst/>
          </a:prstGeom>
        </p:spPr>
      </p:pic>
      <p:pic>
        <p:nvPicPr>
          <p:cNvPr id="58" name="独立图标或流程线" descr="p06_icon1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24700" y="5734050"/>
            <a:ext cx="142875" cy="133350"/>
          </a:xfrm>
          <a:prstGeom prst="rect">
            <a:avLst/>
          </a:prstGeom>
        </p:spPr>
      </p:pic>
      <p:pic>
        <p:nvPicPr>
          <p:cNvPr id="59" name="独立图标或流程线" descr="p06_icon1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77450" y="5734050"/>
            <a:ext cx="95250" cy="133350"/>
          </a:xfrm>
          <a:prstGeom prst="rect">
            <a:avLst/>
          </a:prstGeom>
        </p:spPr>
      </p:pic>
      <p:pic>
        <p:nvPicPr>
          <p:cNvPr id="60" name="独立图标或流程线" descr="p06_icon1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54025" y="5734050"/>
            <a:ext cx="133350" cy="133350"/>
          </a:xfrm>
          <a:prstGeom prst="rect">
            <a:avLst/>
          </a:prstGeom>
        </p:spPr>
      </p:pic>
      <p:pic>
        <p:nvPicPr>
          <p:cNvPr id="61" name="独立图标或流程线" descr="p06_icon17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05274" y="6010275"/>
            <a:ext cx="133350" cy="133350"/>
          </a:xfrm>
          <a:prstGeom prst="rect">
            <a:avLst/>
          </a:prstGeom>
        </p:spPr>
      </p:pic>
      <p:pic>
        <p:nvPicPr>
          <p:cNvPr id="62" name="独立图标或流程线" descr="p06_icon1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24700" y="6010275"/>
            <a:ext cx="123824" cy="133350"/>
          </a:xfrm>
          <a:prstGeom prst="rect">
            <a:avLst/>
          </a:prstGeom>
        </p:spPr>
      </p:pic>
      <p:pic>
        <p:nvPicPr>
          <p:cNvPr id="63" name="独立图标或流程线" descr="p06_icon19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7450" y="6010275"/>
            <a:ext cx="133350" cy="133350"/>
          </a:xfrm>
          <a:prstGeom prst="rect">
            <a:avLst/>
          </a:prstGeom>
        </p:spPr>
      </p:pic>
      <p:pic>
        <p:nvPicPr>
          <p:cNvPr id="64" name="独立图标或流程线" descr="p06_icon2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154025" y="6010275"/>
            <a:ext cx="133350" cy="133350"/>
          </a:xfrm>
          <a:prstGeom prst="rect">
            <a:avLst/>
          </a:prstGeom>
        </p:spPr>
      </p:pic>
      <p:pic>
        <p:nvPicPr>
          <p:cNvPr id="65" name="独立图标或流程线" descr="p06_icon2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29200" y="6391275"/>
            <a:ext cx="9353550" cy="361950"/>
          </a:xfrm>
          <a:prstGeom prst="rect">
            <a:avLst/>
          </a:prstGeom>
        </p:spPr>
      </p:pic>
      <p:sp>
        <p:nvSpPr>
          <p:cNvPr id="66" name="文字：青韵智控由多模态感知设备、边缘计算与控制系统、执行设备和数据平台组成，"/>
          <p:cNvSpPr txBox="1"/>
          <p:nvPr/>
        </p:nvSpPr>
        <p:spPr>
          <a:xfrm>
            <a:off x="3933825" y="1590675"/>
            <a:ext cx="7496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青韵智控由多模态感知设备、边缘计算与控制系统、执行设备和数据平台组成，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形成“感知一分析一决策一控制一反馈”的闭环，实现做青过程的智能化、标准"/>
          <p:cNvSpPr txBox="1"/>
          <p:nvPr/>
        </p:nvSpPr>
        <p:spPr>
          <a:xfrm>
            <a:off x="3914775" y="1885950"/>
            <a:ext cx="8877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形成“感知一分析一决策一控制一反馈”的闭环，实现做青过程的智能化、标准化与可复制。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01"/>
          <p:cNvSpPr txBox="1"/>
          <p:nvPr/>
        </p:nvSpPr>
        <p:spPr>
          <a:xfrm>
            <a:off x="4152900" y="2543175"/>
            <a:ext cx="6000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sz="27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感知层"/>
          <p:cNvSpPr txBox="1"/>
          <p:nvPr/>
        </p:nvSpPr>
        <p:spPr>
          <a:xfrm>
            <a:off x="4791075" y="2505075"/>
            <a:ext cx="838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感知层</a:t>
            </a:r>
            <a:endParaRPr sz="19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02"/>
          <p:cNvSpPr txBox="1"/>
          <p:nvPr/>
        </p:nvSpPr>
        <p:spPr>
          <a:xfrm>
            <a:off x="7067550" y="2524125"/>
            <a:ext cx="6572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sz="29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分析层"/>
          <p:cNvSpPr txBox="1"/>
          <p:nvPr/>
        </p:nvSpPr>
        <p:spPr>
          <a:xfrm>
            <a:off x="7705725" y="2505075"/>
            <a:ext cx="8477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分析层</a:t>
            </a:r>
            <a:endParaRPr sz="20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03"/>
          <p:cNvSpPr txBox="1"/>
          <p:nvPr/>
        </p:nvSpPr>
        <p:spPr>
          <a:xfrm>
            <a:off x="10077450" y="2533650"/>
            <a:ext cx="6477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sz="29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执行层"/>
          <p:cNvSpPr txBox="1"/>
          <p:nvPr/>
        </p:nvSpPr>
        <p:spPr>
          <a:xfrm>
            <a:off x="10715625" y="2505075"/>
            <a:ext cx="8477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执行层</a:t>
            </a:r>
            <a:endParaRPr sz="20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04"/>
          <p:cNvSpPr txBox="1"/>
          <p:nvPr/>
        </p:nvSpPr>
        <p:spPr>
          <a:xfrm>
            <a:off x="13125450" y="2543175"/>
            <a:ext cx="6381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sz="27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</a:t>
            </a:r>
            <a:endParaRPr sz="27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数据层"/>
          <p:cNvSpPr txBox="1"/>
          <p:nvPr/>
        </p:nvSpPr>
        <p:spPr>
          <a:xfrm>
            <a:off x="13763625" y="2505075"/>
            <a:ext cx="838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5"/>
              </a:lnSpc>
              <a:spcBef>
                <a:spcPts val="0"/>
              </a:spcBef>
              <a:spcAft>
                <a:spcPts val="0"/>
              </a:spcAft>
            </a:pPr>
            <a:r>
              <a:rPr sz="19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数据层</a:t>
            </a:r>
            <a:endParaRPr sz="19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多维数据采集"/>
          <p:cNvSpPr txBox="1"/>
          <p:nvPr/>
        </p:nvSpPr>
        <p:spPr>
          <a:xfrm>
            <a:off x="4810125" y="2819400"/>
            <a:ext cx="11620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多维数据采集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状态估计与工艺决策"/>
          <p:cNvSpPr txBox="1"/>
          <p:nvPr/>
        </p:nvSpPr>
        <p:spPr>
          <a:xfrm>
            <a:off x="7715250" y="2819400"/>
            <a:ext cx="16954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状态估计与工艺决策</a:t>
            </a:r>
            <a:endParaRPr sz="14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设备驱动与过程控制"/>
          <p:cNvSpPr txBox="1"/>
          <p:nvPr/>
        </p:nvSpPr>
        <p:spPr>
          <a:xfrm>
            <a:off x="10725150" y="2819400"/>
            <a:ext cx="16859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设备驱动与过程控制</a:t>
            </a:r>
            <a:endParaRPr sz="14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记录、分析与优化"/>
          <p:cNvSpPr txBox="1"/>
          <p:nvPr/>
        </p:nvSpPr>
        <p:spPr>
          <a:xfrm>
            <a:off x="13763625" y="28003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记录、分析与优化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视觉图像采集"/>
          <p:cNvSpPr txBox="1"/>
          <p:nvPr/>
        </p:nvSpPr>
        <p:spPr>
          <a:xfrm>
            <a:off x="4238625" y="5124450"/>
            <a:ext cx="12954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视觉图像采集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• 多模态信息融合"/>
          <p:cNvSpPr txBox="1"/>
          <p:nvPr/>
        </p:nvSpPr>
        <p:spPr>
          <a:xfrm>
            <a:off x="7219950" y="5124450"/>
            <a:ext cx="15144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多模态信息融合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通风、温湿度等设备控制"/>
          <p:cNvSpPr txBox="1"/>
          <p:nvPr/>
        </p:nvSpPr>
        <p:spPr>
          <a:xfrm>
            <a:off x="10172700" y="5124450"/>
            <a:ext cx="2209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通风、温湿度等设备控制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过程数据存储与可视化"/>
          <p:cNvSpPr txBox="1"/>
          <p:nvPr/>
        </p:nvSpPr>
        <p:spPr>
          <a:xfrm>
            <a:off x="13382625" y="5124450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过程数据存储与可视化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温湿度与环境参数监测"/>
          <p:cNvSpPr txBox="1"/>
          <p:nvPr/>
        </p:nvSpPr>
        <p:spPr>
          <a:xfrm>
            <a:off x="4333875" y="5400675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温湿度与环境参数监测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• 做青状态实时估计"/>
          <p:cNvSpPr txBox="1"/>
          <p:nvPr/>
        </p:nvSpPr>
        <p:spPr>
          <a:xfrm>
            <a:off x="7191375" y="5410200"/>
            <a:ext cx="17240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做青状态实时估计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·执行策略动态调整"/>
          <p:cNvSpPr txBox="1"/>
          <p:nvPr/>
        </p:nvSpPr>
        <p:spPr>
          <a:xfrm>
            <a:off x="10134600" y="5410200"/>
            <a:ext cx="1743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·执行策略动态调整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历史数据分析与工艺优化"/>
          <p:cNvSpPr txBox="1"/>
          <p:nvPr/>
        </p:nvSpPr>
        <p:spPr>
          <a:xfrm>
            <a:off x="13382625" y="5400675"/>
            <a:ext cx="2085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历史数据分析与工艺优化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挥发性气体（香气）检测"/>
          <p:cNvSpPr txBox="1"/>
          <p:nvPr/>
        </p:nvSpPr>
        <p:spPr>
          <a:xfrm>
            <a:off x="4324350" y="5676900"/>
            <a:ext cx="2085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挥发性气体（香气）检测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关键指标智能判断"/>
          <p:cNvSpPr txBox="1"/>
          <p:nvPr/>
        </p:nvSpPr>
        <p:spPr>
          <a:xfrm>
            <a:off x="7258050" y="5676900"/>
            <a:ext cx="1647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关键指标智能判断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安全保护与异常处理"/>
          <p:cNvSpPr txBox="1"/>
          <p:nvPr/>
        </p:nvSpPr>
        <p:spPr>
          <a:xfrm>
            <a:off x="10163175" y="5676900"/>
            <a:ext cx="1885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安全保护与异常处理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模型迭代与远程运维"/>
          <p:cNvSpPr txBox="1"/>
          <p:nvPr/>
        </p:nvSpPr>
        <p:spPr>
          <a:xfrm>
            <a:off x="13373100" y="5667375"/>
            <a:ext cx="17430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模型迭代与远程运维</a:t>
            </a:r>
            <a:endParaRPr sz="14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多源数据同步采集"/>
          <p:cNvSpPr txBox="1"/>
          <p:nvPr/>
        </p:nvSpPr>
        <p:spPr>
          <a:xfrm>
            <a:off x="4248150" y="5953125"/>
            <a:ext cx="1638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多源数据同步采集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工艺参数自适应决策"/>
          <p:cNvSpPr txBox="1"/>
          <p:nvPr/>
        </p:nvSpPr>
        <p:spPr>
          <a:xfrm>
            <a:off x="7239000" y="5953125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工艺参数自适应决策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支持现有设备改造升级"/>
          <p:cNvSpPr txBox="1"/>
          <p:nvPr/>
        </p:nvSpPr>
        <p:spPr>
          <a:xfrm>
            <a:off x="10210800" y="5934075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支持现有设备改造升级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支持多茶厂、多批次管理"/>
          <p:cNvSpPr txBox="1"/>
          <p:nvPr/>
        </p:nvSpPr>
        <p:spPr>
          <a:xfrm>
            <a:off x="13306425" y="5943600"/>
            <a:ext cx="21717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支持多茶厂、多批次管理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状态反馈与模型自学习"/>
          <p:cNvSpPr txBox="1"/>
          <p:nvPr/>
        </p:nvSpPr>
        <p:spPr>
          <a:xfrm>
            <a:off x="8791575" y="6410325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状态反馈与模型自学习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全流程感知"/>
          <p:cNvSpPr txBox="1"/>
          <p:nvPr/>
        </p:nvSpPr>
        <p:spPr>
          <a:xfrm>
            <a:off x="5314950" y="7162800"/>
            <a:ext cx="10953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全流程感知</a:t>
            </a:r>
            <a:endParaRPr sz="159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智能决策"/>
          <p:cNvSpPr txBox="1"/>
          <p:nvPr/>
        </p:nvSpPr>
        <p:spPr>
          <a:xfrm>
            <a:off x="8267700" y="7143750"/>
            <a:ext cx="9144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</a:t>
            </a:r>
            <a:endParaRPr sz="163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精准执行"/>
          <p:cNvSpPr txBox="1"/>
          <p:nvPr/>
        </p:nvSpPr>
        <p:spPr>
          <a:xfrm>
            <a:off x="11134725" y="7143750"/>
            <a:ext cx="9239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精准执行</a:t>
            </a:r>
            <a:endParaRPr sz="16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数据闭环"/>
          <p:cNvSpPr txBox="1"/>
          <p:nvPr/>
        </p:nvSpPr>
        <p:spPr>
          <a:xfrm>
            <a:off x="14097000" y="7153275"/>
            <a:ext cx="9144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数据闭环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看得见"/>
          <p:cNvSpPr txBox="1"/>
          <p:nvPr/>
        </p:nvSpPr>
        <p:spPr>
          <a:xfrm>
            <a:off x="5305425" y="7419975"/>
            <a:ext cx="723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67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67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想得准"/>
          <p:cNvSpPr txBox="1"/>
          <p:nvPr/>
        </p:nvSpPr>
        <p:spPr>
          <a:xfrm>
            <a:off x="8258175" y="7419975"/>
            <a:ext cx="7334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想得准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控得住"/>
          <p:cNvSpPr txBox="1"/>
          <p:nvPr/>
        </p:nvSpPr>
        <p:spPr>
          <a:xfrm>
            <a:off x="11134725" y="7410450"/>
            <a:ext cx="7334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可优化"/>
          <p:cNvSpPr txBox="1"/>
          <p:nvPr/>
        </p:nvSpPr>
        <p:spPr>
          <a:xfrm>
            <a:off x="14087475" y="7419975"/>
            <a:ext cx="7334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可优化</a:t>
            </a:r>
            <a:endParaRPr sz="16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5" name="独立白色图标" descr="benefit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72000" y="7143750"/>
            <a:ext cx="571500" cy="523874"/>
          </a:xfrm>
          <a:prstGeom prst="rect">
            <a:avLst/>
          </a:prstGeom>
        </p:spPr>
      </p:pic>
      <p:pic>
        <p:nvPicPr>
          <p:cNvPr id="106" name="独立白色图标" descr="benefit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15225" y="7143750"/>
            <a:ext cx="523874" cy="523874"/>
          </a:xfrm>
          <a:prstGeom prst="rect">
            <a:avLst/>
          </a:prstGeom>
        </p:spPr>
      </p:pic>
      <p:pic>
        <p:nvPicPr>
          <p:cNvPr id="107" name="独立白色图标" descr="benefit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372725" y="7143750"/>
            <a:ext cx="561975" cy="523874"/>
          </a:xfrm>
          <a:prstGeom prst="rect">
            <a:avLst/>
          </a:prstGeom>
        </p:spPr>
      </p:pic>
      <p:pic>
        <p:nvPicPr>
          <p:cNvPr id="108" name="独立白色图标" descr="benefit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296900" y="7143750"/>
            <a:ext cx="542925" cy="523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7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07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1 多模态鲜叶状态感知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3.1 多模态鲜叶状态感知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融合多源信息，构建鲜叶多维特征表征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融合多源信息，构建鲜叶多维特征表征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58864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7905750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9915525" y="2352675"/>
            <a:ext cx="19240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12411075" y="2352675"/>
            <a:ext cx="3143250" cy="43815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2563475" y="5457825"/>
            <a:ext cx="2857500" cy="11049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4000500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6029325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8029575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10039350" y="6219825"/>
            <a:ext cx="1676400" cy="400050"/>
          </a:xfrm>
          <a:prstGeom prst="roundRect">
            <a:avLst>
              <a:gd name="adj" fmla="val 2500"/>
            </a:avLst>
          </a:prstGeom>
          <a:solidFill>
            <a:srgbClr val="155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独立照片或曲线图（内部为像素）" descr="p07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3714750"/>
            <a:ext cx="1714500" cy="1123950"/>
          </a:xfrm>
          <a:prstGeom prst="rect">
            <a:avLst/>
          </a:prstGeom>
        </p:spPr>
      </p:pic>
      <p:pic>
        <p:nvPicPr>
          <p:cNvPr id="44" name="独立照片或曲线图（内部为像素）" descr="p07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3714750"/>
            <a:ext cx="1724025" cy="1123950"/>
          </a:xfrm>
          <a:prstGeom prst="rect">
            <a:avLst/>
          </a:prstGeom>
        </p:spPr>
      </p:pic>
      <p:pic>
        <p:nvPicPr>
          <p:cNvPr id="45" name="独立照片或曲线图（内部为像素）" descr="p07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14750"/>
            <a:ext cx="1724025" cy="1123950"/>
          </a:xfrm>
          <a:prstGeom prst="rect">
            <a:avLst/>
          </a:prstGeom>
        </p:spPr>
      </p:pic>
      <p:pic>
        <p:nvPicPr>
          <p:cNvPr id="46" name="独立照片或曲线图（内部为像素）" descr="p07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775" y="3714750"/>
            <a:ext cx="1724025" cy="1123950"/>
          </a:xfrm>
          <a:prstGeom prst="rect">
            <a:avLst/>
          </a:prstGeom>
        </p:spPr>
      </p:pic>
      <p:pic>
        <p:nvPicPr>
          <p:cNvPr id="47" name="独立照片或曲线图（内部为像素）" descr="p07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2050" y="3048000"/>
            <a:ext cx="1981199" cy="1924049"/>
          </a:xfrm>
          <a:prstGeom prst="rect">
            <a:avLst/>
          </a:prstGeom>
        </p:spPr>
      </p:pic>
      <p:pic>
        <p:nvPicPr>
          <p:cNvPr id="48" name="独立图标或流程线" descr="p07_icon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2419350"/>
            <a:ext cx="333375" cy="581025"/>
          </a:xfrm>
          <a:prstGeom prst="rect">
            <a:avLst/>
          </a:prstGeom>
        </p:spPr>
      </p:pic>
      <p:pic>
        <p:nvPicPr>
          <p:cNvPr id="49" name="独立图标或流程线" descr="p07_icon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8225" y="2428875"/>
            <a:ext cx="361950" cy="561975"/>
          </a:xfrm>
          <a:prstGeom prst="rect">
            <a:avLst/>
          </a:prstGeom>
        </p:spPr>
      </p:pic>
      <p:pic>
        <p:nvPicPr>
          <p:cNvPr id="50" name="独立图标或流程线" descr="p07_icon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457450"/>
            <a:ext cx="685800" cy="514350"/>
          </a:xfrm>
          <a:prstGeom prst="rect">
            <a:avLst/>
          </a:prstGeom>
        </p:spPr>
      </p:pic>
      <p:pic>
        <p:nvPicPr>
          <p:cNvPr id="51" name="独立图标或流程线" descr="p07_icon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2466975"/>
            <a:ext cx="514350" cy="466724"/>
          </a:xfrm>
          <a:prstGeom prst="rect">
            <a:avLst/>
          </a:prstGeom>
        </p:spPr>
      </p:pic>
      <p:pic>
        <p:nvPicPr>
          <p:cNvPr id="52" name="独立图标或流程线" descr="p07_icon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30075" y="3857625"/>
            <a:ext cx="257175" cy="552450"/>
          </a:xfrm>
          <a:prstGeom prst="rect">
            <a:avLst/>
          </a:prstGeom>
        </p:spPr>
      </p:pic>
      <p:pic>
        <p:nvPicPr>
          <p:cNvPr id="53" name="独立图标或流程线" descr="p07_icon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35174" y="4791075"/>
            <a:ext cx="190500" cy="95250"/>
          </a:xfrm>
          <a:prstGeom prst="rect">
            <a:avLst/>
          </a:prstGeom>
        </p:spPr>
      </p:pic>
      <p:pic>
        <p:nvPicPr>
          <p:cNvPr id="54" name="独立图标或流程线" descr="p07_icon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06475" y="5181600"/>
            <a:ext cx="428625" cy="209550"/>
          </a:xfrm>
          <a:prstGeom prst="rect">
            <a:avLst/>
          </a:prstGeom>
        </p:spPr>
      </p:pic>
      <p:pic>
        <p:nvPicPr>
          <p:cNvPr id="55" name="独立图标或流程线" descr="p07_icon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30175" y="5705475"/>
            <a:ext cx="466724" cy="542925"/>
          </a:xfrm>
          <a:prstGeom prst="rect">
            <a:avLst/>
          </a:prstGeom>
        </p:spPr>
      </p:pic>
      <p:sp>
        <p:nvSpPr>
          <p:cNvPr id="56" name="文字：针对鲜叶在做青过程中的复杂变化，构建“视觉-光谱-气体-温湿度”等多模"/>
          <p:cNvSpPr txBox="1"/>
          <p:nvPr/>
        </p:nvSpPr>
        <p:spPr>
          <a:xfrm>
            <a:off x="3867150" y="1600200"/>
            <a:ext cx="803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针对鲜叶在做青过程中的复杂变化，构建“视觉-光谱-气体-温湿度”等多模态感知体系，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实现对鲜叶外观、内含物质、香气成分与环境参数的同步采集，为后续状态估计"/>
          <p:cNvSpPr txBox="1"/>
          <p:nvPr/>
        </p:nvSpPr>
        <p:spPr>
          <a:xfrm>
            <a:off x="3867150" y="1905000"/>
            <a:ext cx="111347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实现对鲜叶外观、内含物质、香气成分与环境参数的同步采集，为后续状态估计与工艺决策提供全面、可靠的数据基础。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多模态数据融合"/>
          <p:cNvSpPr txBox="1"/>
          <p:nvPr/>
        </p:nvSpPr>
        <p:spPr>
          <a:xfrm>
            <a:off x="13154025" y="2524125"/>
            <a:ext cx="1790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多模态数据融合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视觉图像"/>
          <p:cNvSpPr txBox="1"/>
          <p:nvPr/>
        </p:nvSpPr>
        <p:spPr>
          <a:xfrm>
            <a:off x="4362450" y="3019425"/>
            <a:ext cx="10572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视觉图像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光谱信息"/>
          <p:cNvSpPr txBox="1"/>
          <p:nvPr/>
        </p:nvSpPr>
        <p:spPr>
          <a:xfrm>
            <a:off x="6372225" y="3000375"/>
            <a:ext cx="1066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光谱信息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气体信息"/>
          <p:cNvSpPr txBox="1"/>
          <p:nvPr/>
        </p:nvSpPr>
        <p:spPr>
          <a:xfrm>
            <a:off x="8382000" y="2990850"/>
            <a:ext cx="1066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气体信息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环境参数"/>
          <p:cNvSpPr txBox="1"/>
          <p:nvPr/>
        </p:nvSpPr>
        <p:spPr>
          <a:xfrm>
            <a:off x="10401300" y="3019425"/>
            <a:ext cx="10668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图像特征"/>
          <p:cNvSpPr txBox="1"/>
          <p:nvPr/>
        </p:nvSpPr>
        <p:spPr>
          <a:xfrm>
            <a:off x="14744700" y="3190875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获取叶片外观形态信息"/>
          <p:cNvSpPr txBox="1"/>
          <p:nvPr/>
        </p:nvSpPr>
        <p:spPr>
          <a:xfrm>
            <a:off x="4000500" y="3352800"/>
            <a:ext cx="1771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获取叶片外观形态信息</a:t>
            </a:r>
            <a:endParaRPr sz="13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反映内含物质变化"/>
          <p:cNvSpPr txBox="1"/>
          <p:nvPr/>
        </p:nvSpPr>
        <p:spPr>
          <a:xfrm>
            <a:off x="6191250" y="3352800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反映内含物质变化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捕捉香气成分动态"/>
          <p:cNvSpPr txBox="1"/>
          <p:nvPr/>
        </p:nvSpPr>
        <p:spPr>
          <a:xfrm>
            <a:off x="8191500" y="3352800"/>
            <a:ext cx="1457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捕捉香气成分动态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记录工艺环境条件"/>
          <p:cNvSpPr txBox="1"/>
          <p:nvPr/>
        </p:nvSpPr>
        <p:spPr>
          <a:xfrm>
            <a:off x="10201275" y="3352800"/>
            <a:ext cx="1457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记录工艺环境条件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光谱特征"/>
          <p:cNvSpPr txBox="1"/>
          <p:nvPr/>
        </p:nvSpPr>
        <p:spPr>
          <a:xfrm>
            <a:off x="14744700" y="3562350"/>
            <a:ext cx="7715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光谱特征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气体特征"/>
          <p:cNvSpPr txBox="1"/>
          <p:nvPr/>
        </p:nvSpPr>
        <p:spPr>
          <a:xfrm>
            <a:off x="14754225" y="3962400"/>
            <a:ext cx="771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气体特征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环境特征"/>
          <p:cNvSpPr txBox="1"/>
          <p:nvPr/>
        </p:nvSpPr>
        <p:spPr>
          <a:xfrm>
            <a:off x="14744700" y="4371975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·叶片颜色（RGB)"/>
          <p:cNvSpPr txBox="1"/>
          <p:nvPr/>
        </p:nvSpPr>
        <p:spPr>
          <a:xfrm>
            <a:off x="4010025" y="5019675"/>
            <a:ext cx="1552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·叶片颜色（RGB)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·近红外光谱（NIR)"/>
          <p:cNvSpPr txBox="1"/>
          <p:nvPr/>
        </p:nvSpPr>
        <p:spPr>
          <a:xfrm>
            <a:off x="6029325" y="5019675"/>
            <a:ext cx="16859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·近红外光谱（NIR)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·挥发性有机物（VOCs)"/>
          <p:cNvSpPr txBox="1"/>
          <p:nvPr/>
        </p:nvSpPr>
        <p:spPr>
          <a:xfrm>
            <a:off x="8020050" y="5029200"/>
            <a:ext cx="18192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·挥发性有机物（VOCs)</a:t>
            </a:r>
            <a:endParaRPr sz="13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·温度"/>
          <p:cNvSpPr txBox="1"/>
          <p:nvPr/>
        </p:nvSpPr>
        <p:spPr>
          <a:xfrm>
            <a:off x="10020300" y="5029200"/>
            <a:ext cx="6667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·温度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·叶面纹理"/>
          <p:cNvSpPr txBox="1"/>
          <p:nvPr/>
        </p:nvSpPr>
        <p:spPr>
          <a:xfrm>
            <a:off x="4010025" y="5295900"/>
            <a:ext cx="9715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·叶面纹理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·叶绿素含量"/>
          <p:cNvSpPr txBox="1"/>
          <p:nvPr/>
        </p:nvSpPr>
        <p:spPr>
          <a:xfrm>
            <a:off x="6038850" y="5295900"/>
            <a:ext cx="1123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·叶绿素含量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·香气特征指纹"/>
          <p:cNvSpPr txBox="1"/>
          <p:nvPr/>
        </p:nvSpPr>
        <p:spPr>
          <a:xfrm>
            <a:off x="8039100" y="5305425"/>
            <a:ext cx="1266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·香气特征指纹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·湿度"/>
          <p:cNvSpPr txBox="1"/>
          <p:nvPr/>
        </p:nvSpPr>
        <p:spPr>
          <a:xfrm>
            <a:off x="10010775" y="5286375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·湿度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·叶片形态与完整度"/>
          <p:cNvSpPr txBox="1"/>
          <p:nvPr/>
        </p:nvSpPr>
        <p:spPr>
          <a:xfrm>
            <a:off x="4010025" y="5562600"/>
            <a:ext cx="1619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·叶片形态与完整度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·多酚类物质特征"/>
          <p:cNvSpPr txBox="1"/>
          <p:nvPr/>
        </p:nvSpPr>
        <p:spPr>
          <a:xfrm>
            <a:off x="6038850" y="5572125"/>
            <a:ext cx="1447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·多酚类物质特征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·芳香物质种类与浓度"/>
          <p:cNvSpPr txBox="1"/>
          <p:nvPr/>
        </p:nvSpPr>
        <p:spPr>
          <a:xfrm>
            <a:off x="8010525" y="5553075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·芳香物质种类与浓度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·通风风速"/>
          <p:cNvSpPr txBox="1"/>
          <p:nvPr/>
        </p:nvSpPr>
        <p:spPr>
          <a:xfrm>
            <a:off x="10029825" y="5562600"/>
            <a:ext cx="971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·通风风速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多维特征向量"/>
          <p:cNvSpPr txBox="1"/>
          <p:nvPr/>
        </p:nvSpPr>
        <p:spPr>
          <a:xfrm>
            <a:off x="13554075" y="5619750"/>
            <a:ext cx="12763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多维特征向量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·叶缘变化特征"/>
          <p:cNvSpPr txBox="1"/>
          <p:nvPr/>
        </p:nvSpPr>
        <p:spPr>
          <a:xfrm>
            <a:off x="4010025" y="5829300"/>
            <a:ext cx="1285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·叶缘变化特征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·水分与化学成分信息"/>
          <p:cNvSpPr txBox="1"/>
          <p:nvPr/>
        </p:nvSpPr>
        <p:spPr>
          <a:xfrm>
            <a:off x="6048375" y="5838825"/>
            <a:ext cx="17621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·水分与化学成分信息</a:t>
            </a:r>
            <a:endParaRPr sz="13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·气味变化趋势"/>
          <p:cNvSpPr txBox="1"/>
          <p:nvPr/>
        </p:nvSpPr>
        <p:spPr>
          <a:xfrm>
            <a:off x="8010525" y="5829300"/>
            <a:ext cx="13049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·气味变化趋势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·环境变化趋势"/>
          <p:cNvSpPr txBox="1"/>
          <p:nvPr/>
        </p:nvSpPr>
        <p:spPr>
          <a:xfrm>
            <a:off x="10039350" y="5848350"/>
            <a:ext cx="12858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·环境变化趋势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为状态估计与工艺决策"/>
          <p:cNvSpPr txBox="1"/>
          <p:nvPr/>
        </p:nvSpPr>
        <p:spPr>
          <a:xfrm>
            <a:off x="13563600" y="5924550"/>
            <a:ext cx="17907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为状态估计与工艺决策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看得见"/>
          <p:cNvSpPr txBox="1"/>
          <p:nvPr/>
        </p:nvSpPr>
        <p:spPr>
          <a:xfrm>
            <a:off x="4495800" y="6257925"/>
            <a:ext cx="809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看得见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测得准"/>
          <p:cNvSpPr txBox="1"/>
          <p:nvPr/>
        </p:nvSpPr>
        <p:spPr>
          <a:xfrm>
            <a:off x="6505575" y="6257925"/>
            <a:ext cx="8382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测得准</a:t>
            </a:r>
            <a:endParaRPr sz="195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提供全面的数据基础"/>
          <p:cNvSpPr txBox="1"/>
          <p:nvPr/>
        </p:nvSpPr>
        <p:spPr>
          <a:xfrm>
            <a:off x="13554075" y="6172200"/>
            <a:ext cx="1638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提供全面的数据基础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闻得到"/>
          <p:cNvSpPr txBox="1"/>
          <p:nvPr/>
        </p:nvSpPr>
        <p:spPr>
          <a:xfrm>
            <a:off x="8515350" y="626745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闻得到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知环境"/>
          <p:cNvSpPr txBox="1"/>
          <p:nvPr/>
        </p:nvSpPr>
        <p:spPr>
          <a:xfrm>
            <a:off x="10525125" y="626745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知环境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多维感知融合，让鲜叶状态从“经验判断”走向“数据认知”"/>
          <p:cNvSpPr txBox="1"/>
          <p:nvPr/>
        </p:nvSpPr>
        <p:spPr>
          <a:xfrm>
            <a:off x="6257925" y="7826651"/>
            <a:ext cx="65627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多维感知融合，让鲜叶状态从“经验判断”走向“数据认知”</a:t>
            </a:r>
            <a:endParaRPr sz="182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8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08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2 电子鼻工程化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3.2 电子鼻工程化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稳定采样与跨批次校准是电子鼻走向真实生产的关键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稳定采样与跨批次校准是电子鼻走向真实生产的关键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52675"/>
            <a:ext cx="3924300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981950" y="2352675"/>
            <a:ext cx="4495800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725400" y="2352675"/>
            <a:ext cx="2828925" cy="45529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2839700" y="5572125"/>
            <a:ext cx="2619375" cy="1219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2352675"/>
            <a:ext cx="39243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7981950" y="2352675"/>
            <a:ext cx="44958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2725400" y="2352675"/>
            <a:ext cx="282892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照片或曲线图（内部为像素）" descr="p08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725" y="2857500"/>
            <a:ext cx="1514475" cy="542925"/>
          </a:xfrm>
          <a:prstGeom prst="rect">
            <a:avLst/>
          </a:prstGeom>
        </p:spPr>
      </p:pic>
      <p:pic>
        <p:nvPicPr>
          <p:cNvPr id="42" name="独立照片或曲线图（内部为像素）" descr="p08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3552825"/>
            <a:ext cx="1504950" cy="523874"/>
          </a:xfrm>
          <a:prstGeom prst="rect">
            <a:avLst/>
          </a:prstGeom>
        </p:spPr>
      </p:pic>
      <p:pic>
        <p:nvPicPr>
          <p:cNvPr id="43" name="独立照片或曲线图（内部为像素）" descr="p08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4200525"/>
            <a:ext cx="1504950" cy="581025"/>
          </a:xfrm>
          <a:prstGeom prst="rect">
            <a:avLst/>
          </a:prstGeom>
        </p:spPr>
      </p:pic>
      <p:pic>
        <p:nvPicPr>
          <p:cNvPr id="44" name="独立照片或曲线图（内部为像素）" descr="p08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600" y="4933950"/>
            <a:ext cx="1419225" cy="438150"/>
          </a:xfrm>
          <a:prstGeom prst="rect">
            <a:avLst/>
          </a:prstGeom>
        </p:spPr>
      </p:pic>
      <p:pic>
        <p:nvPicPr>
          <p:cNvPr id="45" name="独立照片或曲线图（内部为像素）" descr="p08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6125" y="5591175"/>
            <a:ext cx="1238250" cy="533400"/>
          </a:xfrm>
          <a:prstGeom prst="rect">
            <a:avLst/>
          </a:prstGeom>
        </p:spPr>
      </p:pic>
      <p:pic>
        <p:nvPicPr>
          <p:cNvPr id="46" name="独立照片或曲线图（内部为像素）" descr="p08_photo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0" y="6238875"/>
            <a:ext cx="1495425" cy="495299"/>
          </a:xfrm>
          <a:prstGeom prst="rect">
            <a:avLst/>
          </a:prstGeom>
        </p:spPr>
      </p:pic>
      <p:pic>
        <p:nvPicPr>
          <p:cNvPr id="47" name="独立图标或流程线" descr="p08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0549" y="2914650"/>
            <a:ext cx="400050" cy="419100"/>
          </a:xfrm>
          <a:prstGeom prst="rect">
            <a:avLst/>
          </a:prstGeom>
        </p:spPr>
      </p:pic>
      <p:pic>
        <p:nvPicPr>
          <p:cNvPr id="48" name="独立图标或流程线" descr="p08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4025" y="2943225"/>
            <a:ext cx="371475" cy="371475"/>
          </a:xfrm>
          <a:prstGeom prst="rect">
            <a:avLst/>
          </a:prstGeom>
        </p:spPr>
      </p:pic>
      <p:pic>
        <p:nvPicPr>
          <p:cNvPr id="49" name="独立图标或流程线" descr="p08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9575" y="2971800"/>
            <a:ext cx="342900" cy="428625"/>
          </a:xfrm>
          <a:prstGeom prst="rect">
            <a:avLst/>
          </a:prstGeom>
        </p:spPr>
      </p:pic>
      <p:pic>
        <p:nvPicPr>
          <p:cNvPr id="50" name="独立图标或流程线" descr="p08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15925" y="3505200"/>
            <a:ext cx="447675" cy="409575"/>
          </a:xfrm>
          <a:prstGeom prst="rect">
            <a:avLst/>
          </a:prstGeom>
        </p:spPr>
      </p:pic>
      <p:pic>
        <p:nvPicPr>
          <p:cNvPr id="51" name="独立图标或流程线" descr="p08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8175" y="3590925"/>
            <a:ext cx="295275" cy="419100"/>
          </a:xfrm>
          <a:prstGeom prst="rect">
            <a:avLst/>
          </a:prstGeom>
        </p:spPr>
      </p:pic>
      <p:pic>
        <p:nvPicPr>
          <p:cNvPr id="52" name="独立图标或流程线" descr="p08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1475" y="3790949"/>
            <a:ext cx="428625" cy="381000"/>
          </a:xfrm>
          <a:prstGeom prst="rect">
            <a:avLst/>
          </a:prstGeom>
        </p:spPr>
      </p:pic>
      <p:pic>
        <p:nvPicPr>
          <p:cNvPr id="53" name="独立图标或流程线" descr="p08_icon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44500" y="4076699"/>
            <a:ext cx="400050" cy="447675"/>
          </a:xfrm>
          <a:prstGeom prst="rect">
            <a:avLst/>
          </a:prstGeom>
        </p:spPr>
      </p:pic>
      <p:pic>
        <p:nvPicPr>
          <p:cNvPr id="54" name="独立图标或流程线" descr="p08_icon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0075" y="4305300"/>
            <a:ext cx="381000" cy="371475"/>
          </a:xfrm>
          <a:prstGeom prst="rect">
            <a:avLst/>
          </a:prstGeom>
        </p:spPr>
      </p:pic>
      <p:pic>
        <p:nvPicPr>
          <p:cNvPr id="55" name="独立图标或流程线" descr="p08_icon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81475" y="4619625"/>
            <a:ext cx="428625" cy="428625"/>
          </a:xfrm>
          <a:prstGeom prst="rect">
            <a:avLst/>
          </a:prstGeom>
        </p:spPr>
      </p:pic>
      <p:pic>
        <p:nvPicPr>
          <p:cNvPr id="56" name="独立图标或流程线" descr="p08_icon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25450" y="4676775"/>
            <a:ext cx="428625" cy="428625"/>
          </a:xfrm>
          <a:prstGeom prst="rect">
            <a:avLst/>
          </a:prstGeom>
        </p:spPr>
      </p:pic>
      <p:pic>
        <p:nvPicPr>
          <p:cNvPr id="57" name="独立图标或流程线" descr="p08_icon1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7699" y="4943475"/>
            <a:ext cx="266700" cy="438150"/>
          </a:xfrm>
          <a:prstGeom prst="rect">
            <a:avLst/>
          </a:prstGeom>
        </p:spPr>
      </p:pic>
      <p:pic>
        <p:nvPicPr>
          <p:cNvPr id="58" name="独立图标或流程线" descr="p08_icon1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92225" y="5314950"/>
            <a:ext cx="371475" cy="190500"/>
          </a:xfrm>
          <a:prstGeom prst="rect">
            <a:avLst/>
          </a:prstGeom>
        </p:spPr>
      </p:pic>
      <p:pic>
        <p:nvPicPr>
          <p:cNvPr id="59" name="独立图标或流程线" descr="p08_icon1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81475" y="5457825"/>
            <a:ext cx="428625" cy="428625"/>
          </a:xfrm>
          <a:prstGeom prst="rect">
            <a:avLst/>
          </a:prstGeom>
        </p:spPr>
      </p:pic>
      <p:pic>
        <p:nvPicPr>
          <p:cNvPr id="60" name="独立图标或流程线" descr="p08_icon1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0" y="5629275"/>
            <a:ext cx="428625" cy="428625"/>
          </a:xfrm>
          <a:prstGeom prst="rect">
            <a:avLst/>
          </a:prstGeom>
        </p:spPr>
      </p:pic>
      <p:pic>
        <p:nvPicPr>
          <p:cNvPr id="61" name="独立图标或流程线" descr="p08_icon1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54000" y="5753100"/>
            <a:ext cx="371475" cy="428625"/>
          </a:xfrm>
          <a:prstGeom prst="rect">
            <a:avLst/>
          </a:prstGeom>
        </p:spPr>
      </p:pic>
      <p:pic>
        <p:nvPicPr>
          <p:cNvPr id="62" name="独立图标或流程线" descr="p08_icon1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71950" y="6286500"/>
            <a:ext cx="438150" cy="409575"/>
          </a:xfrm>
          <a:prstGeom prst="rect">
            <a:avLst/>
          </a:prstGeom>
        </p:spPr>
      </p:pic>
      <p:pic>
        <p:nvPicPr>
          <p:cNvPr id="63" name="独立图标或流程线" descr="p08_icon1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91500" y="6296025"/>
            <a:ext cx="419100" cy="400050"/>
          </a:xfrm>
          <a:prstGeom prst="rect">
            <a:avLst/>
          </a:prstGeom>
        </p:spPr>
      </p:pic>
      <p:sp>
        <p:nvSpPr>
          <p:cNvPr id="64" name="文字：电子鼻面临的挑战，不在于MOS传感器能否对香气产生响应，而在于能否在湿"/>
          <p:cNvSpPr txBox="1"/>
          <p:nvPr/>
        </p:nvSpPr>
        <p:spPr>
          <a:xfrm>
            <a:off x="3867150" y="1590675"/>
            <a:ext cx="109061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电子鼻面临的挑战，不在于MOS传感器能否对香气产生响应，而在于能否在湿热的加工环境、不同批次的茶叶原料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以及长期重复使用的条件下稳定工作，持续提供可靠、可比的气味指纹，为后续"/>
          <p:cNvSpPr txBox="1"/>
          <p:nvPr/>
        </p:nvSpPr>
        <p:spPr>
          <a:xfrm>
            <a:off x="3876675" y="1914525"/>
            <a:ext cx="10391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以及长期重复使用的条件下稳定工作，持续提供可靠、可比的气味指纹，为后续状态估计与工艺决策提供支撑。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主要问题"/>
          <p:cNvSpPr txBox="1"/>
          <p:nvPr/>
        </p:nvSpPr>
        <p:spPr>
          <a:xfrm>
            <a:off x="4067175" y="2409825"/>
            <a:ext cx="11715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主要问题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工程措施"/>
          <p:cNvSpPr txBox="1"/>
          <p:nvPr/>
        </p:nvSpPr>
        <p:spPr>
          <a:xfrm>
            <a:off x="8201025" y="2400300"/>
            <a:ext cx="119062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工程措施</a:t>
            </a:r>
            <a:endParaRPr sz="21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工程目标"/>
          <p:cNvSpPr txBox="1"/>
          <p:nvPr/>
        </p:nvSpPr>
        <p:spPr>
          <a:xfrm>
            <a:off x="12992100" y="2409825"/>
            <a:ext cx="11906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工程目标</a:t>
            </a:r>
            <a:endParaRPr sz="20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湿度干扰"/>
          <p:cNvSpPr txBox="1"/>
          <p:nvPr/>
        </p:nvSpPr>
        <p:spPr>
          <a:xfrm>
            <a:off x="4895850" y="2933700"/>
            <a:ext cx="9715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5"/>
              </a:lnSpc>
              <a:spcBef>
                <a:spcPts val="0"/>
              </a:spcBef>
              <a:spcAft>
                <a:spcPts val="0"/>
              </a:spcAft>
            </a:pPr>
            <a:r>
              <a:rPr sz="17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湿度干扰</a:t>
            </a:r>
            <a:endParaRPr sz="17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固定采样流量"/>
          <p:cNvSpPr txBox="1"/>
          <p:nvPr/>
        </p:nvSpPr>
        <p:spPr>
          <a:xfrm>
            <a:off x="8867775" y="2895600"/>
            <a:ext cx="1200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固定采样流量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响应稳定"/>
          <p:cNvSpPr txBox="1"/>
          <p:nvPr/>
        </p:nvSpPr>
        <p:spPr>
          <a:xfrm>
            <a:off x="13830300" y="2971800"/>
            <a:ext cx="10001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响应稳定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做青环境湿热变化会显著影响传感响应"/>
          <p:cNvSpPr txBox="1"/>
          <p:nvPr/>
        </p:nvSpPr>
        <p:spPr>
          <a:xfrm>
            <a:off x="4905375" y="3248025"/>
            <a:ext cx="2771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sz="12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做青环境湿热变化会显著影响传感响应</a:t>
            </a:r>
            <a:endParaRPr sz="12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保持采样过程一致"/>
          <p:cNvSpPr txBox="1"/>
          <p:nvPr/>
        </p:nvSpPr>
        <p:spPr>
          <a:xfrm>
            <a:off x="8867775" y="3162300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保持采样过程一致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独立清洗气路"/>
          <p:cNvSpPr txBox="1"/>
          <p:nvPr/>
        </p:nvSpPr>
        <p:spPr>
          <a:xfrm>
            <a:off x="8877300" y="3581400"/>
            <a:ext cx="12287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独立清洗气路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恢复可控"/>
          <p:cNvSpPr txBox="1"/>
          <p:nvPr/>
        </p:nvSpPr>
        <p:spPr>
          <a:xfrm>
            <a:off x="13830300" y="3562350"/>
            <a:ext cx="1009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恢复可控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基线漂移"/>
          <p:cNvSpPr txBox="1"/>
          <p:nvPr/>
        </p:nvSpPr>
        <p:spPr>
          <a:xfrm>
            <a:off x="4905375" y="3733800"/>
            <a:ext cx="981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基线漂移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缩短恢复时间、减少残留"/>
          <p:cNvSpPr txBox="1"/>
          <p:nvPr/>
        </p:nvSpPr>
        <p:spPr>
          <a:xfrm>
            <a:off x="8867775" y="3838575"/>
            <a:ext cx="18288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缩短恢复时间、减少残留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长时间运行后零点与灵敏度会发生偏移"/>
          <p:cNvSpPr txBox="1"/>
          <p:nvPr/>
        </p:nvSpPr>
        <p:spPr>
          <a:xfrm>
            <a:off x="4905375" y="4048125"/>
            <a:ext cx="27908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长时间运行后零点与灵敏度会发生偏移</a:t>
            </a:r>
            <a:endParaRPr sz="12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批次可比"/>
          <p:cNvSpPr txBox="1"/>
          <p:nvPr/>
        </p:nvSpPr>
        <p:spPr>
          <a:xfrm>
            <a:off x="13811250" y="4133850"/>
            <a:ext cx="1019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8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批次可比</a:t>
            </a:r>
            <a:endParaRPr sz="18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动态基线"/>
          <p:cNvSpPr txBox="1"/>
          <p:nvPr/>
        </p:nvSpPr>
        <p:spPr>
          <a:xfrm>
            <a:off x="8867775" y="4257675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动态基线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器件老化"/>
          <p:cNvSpPr txBox="1"/>
          <p:nvPr/>
        </p:nvSpPr>
        <p:spPr>
          <a:xfrm>
            <a:off x="4905375" y="4572000"/>
            <a:ext cx="9620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器件老化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跟踪零点变化并做归一化"/>
          <p:cNvSpPr txBox="1"/>
          <p:nvPr/>
        </p:nvSpPr>
        <p:spPr>
          <a:xfrm>
            <a:off x="8877300" y="4524375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跟踪零点变化并做归一化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现场可用"/>
          <p:cNvSpPr txBox="1"/>
          <p:nvPr/>
        </p:nvSpPr>
        <p:spPr>
          <a:xfrm>
            <a:off x="13830300" y="4743450"/>
            <a:ext cx="10001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现场可用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长期使用导致响应衰减与一致性下降"/>
          <p:cNvSpPr txBox="1"/>
          <p:nvPr/>
        </p:nvSpPr>
        <p:spPr>
          <a:xfrm>
            <a:off x="4914900" y="4895850"/>
            <a:ext cx="27146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长期使用导致响应衰减与一致性下降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温湿度补偿"/>
          <p:cNvSpPr txBox="1"/>
          <p:nvPr/>
        </p:nvSpPr>
        <p:spPr>
          <a:xfrm>
            <a:off x="8867775" y="4924425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温湿度补偿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同步采集环境量并进行修正"/>
          <p:cNvSpPr txBox="1"/>
          <p:nvPr/>
        </p:nvSpPr>
        <p:spPr>
          <a:xfrm>
            <a:off x="8867775" y="5200650"/>
            <a:ext cx="19907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同步采集环境量并进行修正</a:t>
            </a:r>
            <a:endParaRPr sz="12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器件差异"/>
          <p:cNvSpPr txBox="1"/>
          <p:nvPr/>
        </p:nvSpPr>
        <p:spPr>
          <a:xfrm>
            <a:off x="4905375" y="5400675"/>
            <a:ext cx="9620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器件差异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不同批次传感器初始特性存在偏差"/>
          <p:cNvSpPr txBox="1"/>
          <p:nvPr/>
        </p:nvSpPr>
        <p:spPr>
          <a:xfrm>
            <a:off x="4905375" y="5724525"/>
            <a:ext cx="25336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5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不同批次传感器初始特性存在偏差</a:t>
            </a:r>
            <a:endParaRPr sz="12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周期参考校准"/>
          <p:cNvSpPr txBox="1"/>
          <p:nvPr/>
        </p:nvSpPr>
        <p:spPr>
          <a:xfrm>
            <a:off x="8867775" y="5638800"/>
            <a:ext cx="12477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周期参考校准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技术边界"/>
          <p:cNvSpPr txBox="1"/>
          <p:nvPr/>
        </p:nvSpPr>
        <p:spPr>
          <a:xfrm>
            <a:off x="13458825" y="5667375"/>
            <a:ext cx="10953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19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技术边界</a:t>
            </a:r>
            <a:endParaRPr sz="19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用标准参考点检查稳定性"/>
          <p:cNvSpPr txBox="1"/>
          <p:nvPr/>
        </p:nvSpPr>
        <p:spPr>
          <a:xfrm>
            <a:off x="8867775" y="5905500"/>
            <a:ext cx="18478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用标准参考点检查稳定性</a:t>
            </a:r>
            <a:endParaRPr sz="12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低成本MOS电子鼻用于获取"/>
          <p:cNvSpPr txBox="1"/>
          <p:nvPr/>
        </p:nvSpPr>
        <p:spPr>
          <a:xfrm>
            <a:off x="13477875" y="6038850"/>
            <a:ext cx="19907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13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低成本MOS电子鼻用于获取</a:t>
            </a:r>
            <a:endParaRPr sz="13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吸附残留"/>
          <p:cNvSpPr txBox="1"/>
          <p:nvPr/>
        </p:nvSpPr>
        <p:spPr>
          <a:xfrm>
            <a:off x="4905375" y="6248400"/>
            <a:ext cx="952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吸附残留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跨批次归一化"/>
          <p:cNvSpPr txBox="1"/>
          <p:nvPr/>
        </p:nvSpPr>
        <p:spPr>
          <a:xfrm>
            <a:off x="8858250" y="6286500"/>
            <a:ext cx="1257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跨批次归一化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综合体响应指纹，不直接声称"/>
          <p:cNvSpPr txBox="1"/>
          <p:nvPr/>
        </p:nvSpPr>
        <p:spPr>
          <a:xfrm>
            <a:off x="13477875" y="6267450"/>
            <a:ext cx="20097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sz="11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综合体响应指纹，不直接声称</a:t>
            </a:r>
            <a:endParaRPr sz="11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残留气体影响恢复速度与下一次采样"/>
          <p:cNvSpPr txBox="1"/>
          <p:nvPr/>
        </p:nvSpPr>
        <p:spPr>
          <a:xfrm>
            <a:off x="4905375" y="6553200"/>
            <a:ext cx="27146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残留气体影响恢复速度与下一次采样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提高不同批次数据可比性"/>
          <p:cNvSpPr txBox="1"/>
          <p:nvPr/>
        </p:nvSpPr>
        <p:spPr>
          <a:xfrm>
            <a:off x="8877300" y="6572250"/>
            <a:ext cx="18383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提高不同批次数据可比性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单一VOC的定量浓度。"/>
          <p:cNvSpPr txBox="1"/>
          <p:nvPr/>
        </p:nvSpPr>
        <p:spPr>
          <a:xfrm>
            <a:off x="13477875" y="6486525"/>
            <a:ext cx="16383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5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单一VOC的定量浓度。</a:t>
            </a:r>
            <a:endParaRPr sz="12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电子鼻工程化的关键，不在“能不能响应”，而在“能不能稳定工作”"/>
          <p:cNvSpPr txBox="1"/>
          <p:nvPr/>
        </p:nvSpPr>
        <p:spPr>
          <a:xfrm>
            <a:off x="6057900" y="7811599"/>
            <a:ext cx="70294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电子鼻工程化的关键，不在“能不能响应”，而在“能不能稳定工作”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只有解决湿热环境、漂移与跨批次问题，电子鼻才可能真正进入做青现场。"/>
          <p:cNvSpPr txBox="1"/>
          <p:nvPr/>
        </p:nvSpPr>
        <p:spPr>
          <a:xfrm>
            <a:off x="6657975" y="8162925"/>
            <a:ext cx="58674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只有解决湿热环境、漂移与跨批次问题，电子鼻才可能真正进入做青现场。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09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09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看得见、闻得到、&#10; 测得准，才能控得住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“看得见、闻得到、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测得准，才能控得住。”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3 做青状态估计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3.3 做青状态估计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将多源感知信号转化为可解释的工艺状态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将多源感知信号转化为可解释的工艺状态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05050"/>
            <a:ext cx="3914775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981950" y="2305050"/>
            <a:ext cx="4114800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306300" y="2305050"/>
            <a:ext cx="3267075" cy="47815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8134350" y="5638800"/>
            <a:ext cx="3810000" cy="3429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134350" y="6076950"/>
            <a:ext cx="1190625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9429750" y="6076950"/>
            <a:ext cx="1209675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0744200" y="6076950"/>
            <a:ext cx="1200150" cy="8763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2411075" y="6229350"/>
            <a:ext cx="3067050" cy="7715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2305050"/>
            <a:ext cx="391477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7981950" y="2305050"/>
            <a:ext cx="4114800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306300" y="2305050"/>
            <a:ext cx="3267075" cy="4191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4029075" y="6648450"/>
            <a:ext cx="3638550" cy="3524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框架"/>
          <p:cNvSpPr/>
          <p:nvPr/>
        </p:nvSpPr>
        <p:spPr>
          <a:xfrm>
            <a:off x="12677775" y="28289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框架"/>
          <p:cNvSpPr/>
          <p:nvPr/>
        </p:nvSpPr>
        <p:spPr>
          <a:xfrm>
            <a:off x="12677775" y="34766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可编辑框架"/>
          <p:cNvSpPr/>
          <p:nvPr/>
        </p:nvSpPr>
        <p:spPr>
          <a:xfrm>
            <a:off x="12677775" y="4124325"/>
            <a:ext cx="254317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独立照片或曲线图（内部为像素）" descr="p09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3476625"/>
            <a:ext cx="2000250" cy="1838324"/>
          </a:xfrm>
          <a:prstGeom prst="rect">
            <a:avLst/>
          </a:prstGeom>
        </p:spPr>
      </p:pic>
      <p:pic>
        <p:nvPicPr>
          <p:cNvPr id="50" name="独立图标或流程线" descr="p09_icon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5" y="2857500"/>
            <a:ext cx="400050" cy="409575"/>
          </a:xfrm>
          <a:prstGeom prst="rect">
            <a:avLst/>
          </a:prstGeom>
        </p:spPr>
      </p:pic>
      <p:pic>
        <p:nvPicPr>
          <p:cNvPr id="51" name="独立图标或流程线" descr="p09_ic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424" y="2981325"/>
            <a:ext cx="457200" cy="314325"/>
          </a:xfrm>
          <a:prstGeom prst="rect">
            <a:avLst/>
          </a:prstGeom>
        </p:spPr>
      </p:pic>
      <p:pic>
        <p:nvPicPr>
          <p:cNvPr id="52" name="独立图标或流程线" descr="p09_ic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9350" y="3314700"/>
            <a:ext cx="304800" cy="161925"/>
          </a:xfrm>
          <a:prstGeom prst="rect">
            <a:avLst/>
          </a:prstGeom>
        </p:spPr>
      </p:pic>
      <p:pic>
        <p:nvPicPr>
          <p:cNvPr id="53" name="独立图标或流程线" descr="p09_ic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6875" y="3505200"/>
            <a:ext cx="400050" cy="400050"/>
          </a:xfrm>
          <a:prstGeom prst="rect">
            <a:avLst/>
          </a:prstGeom>
        </p:spPr>
      </p:pic>
      <p:pic>
        <p:nvPicPr>
          <p:cNvPr id="54" name="独立图标或流程线" descr="p09_icon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676649"/>
            <a:ext cx="333375" cy="419100"/>
          </a:xfrm>
          <a:prstGeom prst="rect">
            <a:avLst/>
          </a:prstGeom>
        </p:spPr>
      </p:pic>
      <p:pic>
        <p:nvPicPr>
          <p:cNvPr id="55" name="独立图标或流程线" descr="p09_icon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39825" y="3952875"/>
            <a:ext cx="314325" cy="171450"/>
          </a:xfrm>
          <a:prstGeom prst="rect">
            <a:avLst/>
          </a:prstGeom>
        </p:spPr>
      </p:pic>
      <p:pic>
        <p:nvPicPr>
          <p:cNvPr id="56" name="独立图标或流程线" descr="p09_icon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0" y="4171950"/>
            <a:ext cx="381000" cy="352425"/>
          </a:xfrm>
          <a:prstGeom prst="rect">
            <a:avLst/>
          </a:prstGeom>
        </p:spPr>
      </p:pic>
      <p:pic>
        <p:nvPicPr>
          <p:cNvPr id="57" name="独立图标或流程线" descr="p09_icon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7675" y="4391025"/>
            <a:ext cx="266700" cy="447675"/>
          </a:xfrm>
          <a:prstGeom prst="rect">
            <a:avLst/>
          </a:prstGeom>
        </p:spPr>
      </p:pic>
      <p:pic>
        <p:nvPicPr>
          <p:cNvPr id="58" name="独立图标或流程线" descr="p09_icon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87325" y="4676775"/>
            <a:ext cx="333375" cy="333375"/>
          </a:xfrm>
          <a:prstGeom prst="rect">
            <a:avLst/>
          </a:prstGeom>
        </p:spPr>
      </p:pic>
      <p:pic>
        <p:nvPicPr>
          <p:cNvPr id="59" name="独立图标或流程线" descr="p09_icon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87325" y="5019675"/>
            <a:ext cx="333375" cy="352425"/>
          </a:xfrm>
          <a:prstGeom prst="rect">
            <a:avLst/>
          </a:prstGeom>
        </p:spPr>
      </p:pic>
      <p:pic>
        <p:nvPicPr>
          <p:cNvPr id="60" name="独立图标或流程线" descr="p09_icon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9575" y="5181600"/>
            <a:ext cx="352425" cy="438150"/>
          </a:xfrm>
          <a:prstGeom prst="rect">
            <a:avLst/>
          </a:prstGeom>
        </p:spPr>
      </p:pic>
      <p:pic>
        <p:nvPicPr>
          <p:cNvPr id="61" name="独立图标或流程线" descr="p09_icon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87325" y="5391150"/>
            <a:ext cx="323850" cy="352425"/>
          </a:xfrm>
          <a:prstGeom prst="rect">
            <a:avLst/>
          </a:prstGeom>
        </p:spPr>
      </p:pic>
      <p:pic>
        <p:nvPicPr>
          <p:cNvPr id="62" name="独立图标或流程线" descr="p09_icon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9575" y="5962650"/>
            <a:ext cx="361950" cy="476250"/>
          </a:xfrm>
          <a:prstGeom prst="rect">
            <a:avLst/>
          </a:prstGeom>
        </p:spPr>
      </p:pic>
      <p:pic>
        <p:nvPicPr>
          <p:cNvPr id="63" name="独立图标或流程线" descr="p09_icon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73000" y="6362700"/>
            <a:ext cx="390525" cy="447675"/>
          </a:xfrm>
          <a:prstGeom prst="rect">
            <a:avLst/>
          </a:prstGeom>
        </p:spPr>
      </p:pic>
      <p:sp>
        <p:nvSpPr>
          <p:cNvPr id="64" name="文字：系统并不直接输出某一个电机参数，而是先基于视觉、电子鼻、环境与历史过程"/>
          <p:cNvSpPr txBox="1"/>
          <p:nvPr/>
        </p:nvSpPr>
        <p:spPr>
          <a:xfrm>
            <a:off x="3876675" y="1600200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系统并不直接输出某一个电机参数，而是先基于视觉、电子鼻、环境与历史过程信息，判断鲜叶当前处于何种做青状态，</a:t>
            </a:r>
            <a:endParaRPr sz="16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并估计其发展趋势，为后续工艺决策提供可信依据。"/>
          <p:cNvSpPr txBox="1"/>
          <p:nvPr/>
        </p:nvSpPr>
        <p:spPr>
          <a:xfrm>
            <a:off x="3867150" y="188595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6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并估计其发展趋势，为后续工艺决策提供可信依据。</a:t>
            </a:r>
            <a:endParaRPr sz="16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输入特征"/>
          <p:cNvSpPr txBox="1"/>
          <p:nvPr/>
        </p:nvSpPr>
        <p:spPr>
          <a:xfrm>
            <a:off x="4067175" y="2352675"/>
            <a:ext cx="1181100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55"/>
              </a:lnSpc>
              <a:spcBef>
                <a:spcPts val="0"/>
              </a:spcBef>
              <a:spcAft>
                <a:spcPts val="0"/>
              </a:spcAft>
            </a:pPr>
            <a:r>
              <a:rPr sz="21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输入特征</a:t>
            </a:r>
            <a:endParaRPr sz="21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状态建模"/>
          <p:cNvSpPr txBox="1"/>
          <p:nvPr/>
        </p:nvSpPr>
        <p:spPr>
          <a:xfrm>
            <a:off x="8181975" y="2352675"/>
            <a:ext cx="11715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21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状态建模</a:t>
            </a:r>
            <a:endParaRPr sz="21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决策输出"/>
          <p:cNvSpPr txBox="1"/>
          <p:nvPr/>
        </p:nvSpPr>
        <p:spPr>
          <a:xfrm>
            <a:off x="12496800" y="2352675"/>
            <a:ext cx="1171575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21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决策输出</a:t>
            </a:r>
            <a:endParaRPr sz="21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视觉特征"/>
          <p:cNvSpPr txBox="1"/>
          <p:nvPr/>
        </p:nvSpPr>
        <p:spPr>
          <a:xfrm>
            <a:off x="4886325" y="2857500"/>
            <a:ext cx="981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视觉特征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做青状态S(t)"/>
          <p:cNvSpPr txBox="1"/>
          <p:nvPr/>
        </p:nvSpPr>
        <p:spPr>
          <a:xfrm>
            <a:off x="9372600" y="2800350"/>
            <a:ext cx="14668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做青状态S(t)</a:t>
            </a:r>
            <a:endParaRPr sz="181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状态识别"/>
          <p:cNvSpPr txBox="1"/>
          <p:nvPr/>
        </p:nvSpPr>
        <p:spPr>
          <a:xfrm>
            <a:off x="13754100" y="2905125"/>
            <a:ext cx="923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状态识别</a:t>
            </a:r>
            <a:endParaRPr sz="16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叶色、叶缘红变、卷曲度、表面纹理"/>
          <p:cNvSpPr txBox="1"/>
          <p:nvPr/>
        </p:nvSpPr>
        <p:spPr>
          <a:xfrm>
            <a:off x="4876800" y="3162300"/>
            <a:ext cx="2676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叶色、叶缘红变、卷曲度、表面纹理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含水状态"/>
          <p:cNvSpPr txBox="1"/>
          <p:nvPr/>
        </p:nvSpPr>
        <p:spPr>
          <a:xfrm>
            <a:off x="9686925" y="3219450"/>
            <a:ext cx="8191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含水状态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气味特征"/>
          <p:cNvSpPr txBox="1"/>
          <p:nvPr/>
        </p:nvSpPr>
        <p:spPr>
          <a:xfrm>
            <a:off x="4895850" y="3619500"/>
            <a:ext cx="9715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45"/>
              </a:lnSpc>
              <a:spcBef>
                <a:spcPts val="0"/>
              </a:spcBef>
              <a:spcAft>
                <a:spcPts val="0"/>
              </a:spcAft>
            </a:pPr>
            <a:r>
              <a:rPr sz="17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气味特征</a:t>
            </a:r>
            <a:endParaRPr sz="17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工艺策略生成"/>
          <p:cNvSpPr txBox="1"/>
          <p:nvPr/>
        </p:nvSpPr>
        <p:spPr>
          <a:xfrm>
            <a:off x="13763625" y="3571875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工艺策略生成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青气消退、花香显露、挥发性响应轨迹"/>
          <p:cNvSpPr txBox="1"/>
          <p:nvPr/>
        </p:nvSpPr>
        <p:spPr>
          <a:xfrm>
            <a:off x="4886325" y="3905250"/>
            <a:ext cx="28289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青气消退、花香显露、挥发性响应轨迹</a:t>
            </a:r>
            <a:endParaRPr sz="12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温热状态"/>
          <p:cNvSpPr txBox="1"/>
          <p:nvPr/>
        </p:nvSpPr>
        <p:spPr>
          <a:xfrm>
            <a:off x="8286750" y="4038600"/>
            <a:ext cx="819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温热状态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香气发展"/>
          <p:cNvSpPr txBox="1"/>
          <p:nvPr/>
        </p:nvSpPr>
        <p:spPr>
          <a:xfrm>
            <a:off x="11087100" y="4038600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香气发展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执行参数推荐"/>
          <p:cNvSpPr txBox="1"/>
          <p:nvPr/>
        </p:nvSpPr>
        <p:spPr>
          <a:xfrm>
            <a:off x="13754100" y="4219575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执行参数推荐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环境参数"/>
          <p:cNvSpPr txBox="1"/>
          <p:nvPr/>
        </p:nvSpPr>
        <p:spPr>
          <a:xfrm>
            <a:off x="4886325" y="4362450"/>
            <a:ext cx="9810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环境参数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温度、湿度、通风与静置时间"/>
          <p:cNvSpPr txBox="1"/>
          <p:nvPr/>
        </p:nvSpPr>
        <p:spPr>
          <a:xfrm>
            <a:off x="4876800" y="4657725"/>
            <a:ext cx="22193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温度、湿度、通风与静置时间</a:t>
            </a:r>
            <a:endParaRPr sz="12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下一次翻动时机"/>
          <p:cNvSpPr txBox="1"/>
          <p:nvPr/>
        </p:nvSpPr>
        <p:spPr>
          <a:xfrm>
            <a:off x="13611225" y="47244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下一次翻动时机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过程信息"/>
          <p:cNvSpPr txBox="1"/>
          <p:nvPr/>
        </p:nvSpPr>
        <p:spPr>
          <a:xfrm>
            <a:off x="4876800" y="5143500"/>
            <a:ext cx="981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过程信息</a:t>
            </a:r>
            <a:endParaRPr sz="17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翻动强度"/>
          <p:cNvSpPr txBox="1"/>
          <p:nvPr/>
        </p:nvSpPr>
        <p:spPr>
          <a:xfrm>
            <a:off x="13582650" y="5086350"/>
            <a:ext cx="7810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翻动强度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柔软程度"/>
          <p:cNvSpPr txBox="1"/>
          <p:nvPr/>
        </p:nvSpPr>
        <p:spPr>
          <a:xfrm>
            <a:off x="8686800" y="5210175"/>
            <a:ext cx="79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柔软程度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叶缘红变"/>
          <p:cNvSpPr txBox="1"/>
          <p:nvPr/>
        </p:nvSpPr>
        <p:spPr>
          <a:xfrm>
            <a:off x="10715625" y="5210175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叶缘红变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翻动次数、间隔时长、前序状态变化"/>
          <p:cNvSpPr txBox="1"/>
          <p:nvPr/>
        </p:nvSpPr>
        <p:spPr>
          <a:xfrm>
            <a:off x="4886325" y="5467350"/>
            <a:ext cx="26670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翻动次数、间隔时长、前序状态变化</a:t>
            </a:r>
            <a:endParaRPr sz="12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持续时间"/>
          <p:cNvSpPr txBox="1"/>
          <p:nvPr/>
        </p:nvSpPr>
        <p:spPr>
          <a:xfrm>
            <a:off x="13573125" y="5438775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持续时间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融合特征提取+状态空间映射+趋势判断"/>
          <p:cNvSpPr txBox="1"/>
          <p:nvPr/>
        </p:nvSpPr>
        <p:spPr>
          <a:xfrm>
            <a:off x="8543925" y="5686425"/>
            <a:ext cx="31051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融合特征提取+状态空间映射+趋势判断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静置时长"/>
          <p:cNvSpPr txBox="1"/>
          <p:nvPr/>
        </p:nvSpPr>
        <p:spPr>
          <a:xfrm>
            <a:off x="13573125" y="5800725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失水信息"/>
          <p:cNvSpPr txBox="1"/>
          <p:nvPr/>
        </p:nvSpPr>
        <p:spPr>
          <a:xfrm>
            <a:off x="4876800" y="5953125"/>
            <a:ext cx="9906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失水信息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阶段判断"/>
          <p:cNvSpPr txBox="1"/>
          <p:nvPr/>
        </p:nvSpPr>
        <p:spPr>
          <a:xfrm>
            <a:off x="8401050" y="6124575"/>
            <a:ext cx="790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阶段判断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成熟度指数"/>
          <p:cNvSpPr txBox="1"/>
          <p:nvPr/>
        </p:nvSpPr>
        <p:spPr>
          <a:xfrm>
            <a:off x="9629775" y="6124575"/>
            <a:ext cx="95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3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成熟度指数</a:t>
            </a:r>
            <a:endParaRPr sz="13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模型置信度"/>
          <p:cNvSpPr txBox="1"/>
          <p:nvPr/>
        </p:nvSpPr>
        <p:spPr>
          <a:xfrm>
            <a:off x="10934700" y="6124575"/>
            <a:ext cx="942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模型置信度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含水率变化与鲜叶柔软度"/>
          <p:cNvSpPr txBox="1"/>
          <p:nvPr/>
        </p:nvSpPr>
        <p:spPr>
          <a:xfrm>
            <a:off x="4886325" y="6257925"/>
            <a:ext cx="18954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含水率变化与鲜叶柔软度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安全约束"/>
          <p:cNvSpPr txBox="1"/>
          <p:nvPr/>
        </p:nvSpPr>
        <p:spPr>
          <a:xfrm>
            <a:off x="13087350" y="6276975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安全约束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初期/中期/"/>
          <p:cNvSpPr txBox="1"/>
          <p:nvPr/>
        </p:nvSpPr>
        <p:spPr>
          <a:xfrm>
            <a:off x="8277225" y="6448425"/>
            <a:ext cx="10382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初期/中期/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0-100"/>
          <p:cNvSpPr txBox="1"/>
          <p:nvPr/>
        </p:nvSpPr>
        <p:spPr>
          <a:xfrm>
            <a:off x="9753600" y="653415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0-100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高/中/低"/>
          <p:cNvSpPr txBox="1"/>
          <p:nvPr/>
        </p:nvSpPr>
        <p:spPr>
          <a:xfrm>
            <a:off x="10944225" y="6515100"/>
            <a:ext cx="9334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高/中/低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当置信度不足时，回退至保守工艺，"/>
          <p:cNvSpPr txBox="1"/>
          <p:nvPr/>
        </p:nvSpPr>
        <p:spPr>
          <a:xfrm>
            <a:off x="13096875" y="6515100"/>
            <a:ext cx="23241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当置信度不足时，回退至保守工艺，</a:t>
            </a:r>
            <a:endParaRPr sz="1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多源同步输入"/>
          <p:cNvSpPr txBox="1"/>
          <p:nvPr/>
        </p:nvSpPr>
        <p:spPr>
          <a:xfrm>
            <a:off x="5238750" y="6696075"/>
            <a:ext cx="13620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6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多源同步输入</a:t>
            </a:r>
            <a:endParaRPr sz="16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临界成熟"/>
          <p:cNvSpPr txBox="1"/>
          <p:nvPr/>
        </p:nvSpPr>
        <p:spPr>
          <a:xfrm>
            <a:off x="8410575" y="6657975"/>
            <a:ext cx="781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临界成熟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不盲目自动控制。"/>
          <p:cNvSpPr txBox="1"/>
          <p:nvPr/>
        </p:nvSpPr>
        <p:spPr>
          <a:xfrm>
            <a:off x="13106400" y="6743700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不盲目自动控制。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先回答“茶叶现在怎么样”，再决定“下一步怎么做”"/>
          <p:cNvSpPr txBox="1"/>
          <p:nvPr/>
        </p:nvSpPr>
        <p:spPr>
          <a:xfrm>
            <a:off x="6819900" y="7803356"/>
            <a:ext cx="5324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先回答“茶叶现在怎么样”，再决定“下一步怎么做”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状态估计是连接多模态感知与自适应控制的关键桥梁。"/>
          <p:cNvSpPr txBox="1"/>
          <p:nvPr/>
        </p:nvSpPr>
        <p:spPr>
          <a:xfrm>
            <a:off x="7239000" y="8162925"/>
            <a:ext cx="4400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状态估计是连接多模态感知与自适应控制的关键桥梁。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⌛"/>
          <p:cNvSpPr txBox="1"/>
          <p:nvPr/>
        </p:nvSpPr>
        <p:spPr>
          <a:xfrm>
            <a:off x="12906375" y="5715000"/>
            <a:ext cx="28575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073F32"/>
                </a:solidFill>
                <a:latin typeface="Segoe UI Symbol" panose="020B0502040204020203"/>
                <a:ea typeface="Segoe UI Symbol" panose="020B0502040204020203"/>
              </a:rPr>
              <a:t>⌛</a:t>
            </a:r>
            <a:endParaRPr sz="2550" b="0">
              <a:solidFill>
                <a:srgbClr val="073F32"/>
              </a:solidFill>
              <a:latin typeface="Segoe UI Symbol" panose="020B0502040204020203"/>
              <a:ea typeface="Segoe UI Symbol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0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10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控得稳，关键在于&#10; 先判得准，再调得对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“控得稳，关键在于</a:t>
            </a:r>
            <a:b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93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先判得准，再调得对。”</a:t>
            </a:r>
            <a:endParaRPr sz="193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4 自适应闭环控制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3.4 自适应闭环控制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让做青决策从固定程序走向状态驱动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让做青决策从固定程序走向状态驱动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314575"/>
            <a:ext cx="4562475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8582025" y="2314575"/>
            <a:ext cx="3752850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2487275" y="2314575"/>
            <a:ext cx="3086100" cy="47720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4000500" y="2838450"/>
            <a:ext cx="2047875" cy="6000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6343650" y="2838450"/>
            <a:ext cx="1990725" cy="6000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2314575"/>
            <a:ext cx="4562475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8582025" y="2314575"/>
            <a:ext cx="3752850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2487275" y="2314575"/>
            <a:ext cx="3086100" cy="4286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12706350" y="3200400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12706350" y="37242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框架"/>
          <p:cNvSpPr/>
          <p:nvPr/>
        </p:nvSpPr>
        <p:spPr>
          <a:xfrm>
            <a:off x="12706350" y="42576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框架"/>
          <p:cNvSpPr/>
          <p:nvPr/>
        </p:nvSpPr>
        <p:spPr>
          <a:xfrm>
            <a:off x="12706350" y="4791075"/>
            <a:ext cx="2657475" cy="4381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独立图标或流程线" descr="p10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050" y="3228975"/>
            <a:ext cx="390525" cy="390525"/>
          </a:xfrm>
          <a:prstGeom prst="rect">
            <a:avLst/>
          </a:prstGeom>
        </p:spPr>
      </p:pic>
      <p:pic>
        <p:nvPicPr>
          <p:cNvPr id="47" name="独立图标或流程线" descr="p10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0" y="3581400"/>
            <a:ext cx="419100" cy="285750"/>
          </a:xfrm>
          <a:prstGeom prst="rect">
            <a:avLst/>
          </a:prstGeom>
        </p:spPr>
      </p:pic>
      <p:pic>
        <p:nvPicPr>
          <p:cNvPr id="48" name="独立图标或流程线" descr="p10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3667125"/>
            <a:ext cx="400050" cy="400050"/>
          </a:xfrm>
          <a:prstGeom prst="rect">
            <a:avLst/>
          </a:prstGeom>
        </p:spPr>
      </p:pic>
      <p:pic>
        <p:nvPicPr>
          <p:cNvPr id="49" name="独立图标或流程线" descr="p10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3676649"/>
            <a:ext cx="533400" cy="400050"/>
          </a:xfrm>
          <a:prstGeom prst="rect">
            <a:avLst/>
          </a:prstGeom>
        </p:spPr>
      </p:pic>
      <p:pic>
        <p:nvPicPr>
          <p:cNvPr id="50" name="独立图标或流程线" descr="p10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3705224"/>
            <a:ext cx="438150" cy="314325"/>
          </a:xfrm>
          <a:prstGeom prst="rect">
            <a:avLst/>
          </a:prstGeom>
        </p:spPr>
      </p:pic>
      <p:pic>
        <p:nvPicPr>
          <p:cNvPr id="51" name="独立图标或流程线" descr="p10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3525" y="3733799"/>
            <a:ext cx="400050" cy="419100"/>
          </a:xfrm>
          <a:prstGeom prst="rect">
            <a:avLst/>
          </a:prstGeom>
        </p:spPr>
      </p:pic>
      <p:pic>
        <p:nvPicPr>
          <p:cNvPr id="52" name="独立图标或流程线" descr="p10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3771900"/>
            <a:ext cx="200025" cy="257175"/>
          </a:xfrm>
          <a:prstGeom prst="rect">
            <a:avLst/>
          </a:prstGeom>
        </p:spPr>
      </p:pic>
      <p:pic>
        <p:nvPicPr>
          <p:cNvPr id="53" name="独立图标或流程线" descr="p10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5650" y="3762374"/>
            <a:ext cx="447675" cy="419100"/>
          </a:xfrm>
          <a:prstGeom prst="rect">
            <a:avLst/>
          </a:prstGeom>
        </p:spPr>
      </p:pic>
      <p:pic>
        <p:nvPicPr>
          <p:cNvPr id="54" name="独立图标或流程线" descr="p10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2575" y="4267200"/>
            <a:ext cx="371475" cy="409575"/>
          </a:xfrm>
          <a:prstGeom prst="rect">
            <a:avLst/>
          </a:prstGeom>
        </p:spPr>
      </p:pic>
      <p:pic>
        <p:nvPicPr>
          <p:cNvPr id="55" name="独立图标或流程线" descr="p10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7350" y="4276725"/>
            <a:ext cx="400050" cy="390525"/>
          </a:xfrm>
          <a:prstGeom prst="rect">
            <a:avLst/>
          </a:prstGeom>
        </p:spPr>
      </p:pic>
      <p:pic>
        <p:nvPicPr>
          <p:cNvPr id="56" name="独立图标或流程线" descr="p10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68075" y="4295775"/>
            <a:ext cx="342900" cy="352425"/>
          </a:xfrm>
          <a:prstGeom prst="rect">
            <a:avLst/>
          </a:prstGeom>
        </p:spPr>
      </p:pic>
      <p:pic>
        <p:nvPicPr>
          <p:cNvPr id="57" name="独立图标或流程线" descr="p10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6525" y="4419600"/>
            <a:ext cx="381000" cy="400050"/>
          </a:xfrm>
          <a:prstGeom prst="rect">
            <a:avLst/>
          </a:prstGeom>
        </p:spPr>
      </p:pic>
      <p:pic>
        <p:nvPicPr>
          <p:cNvPr id="58" name="独立图标或流程线" descr="p10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4325" y="4467225"/>
            <a:ext cx="333375" cy="381000"/>
          </a:xfrm>
          <a:prstGeom prst="rect">
            <a:avLst/>
          </a:prstGeom>
        </p:spPr>
      </p:pic>
      <p:pic>
        <p:nvPicPr>
          <p:cNvPr id="59" name="独立图标或流程线" descr="p10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825" y="4476750"/>
            <a:ext cx="371475" cy="361950"/>
          </a:xfrm>
          <a:prstGeom prst="rect">
            <a:avLst/>
          </a:prstGeom>
        </p:spPr>
      </p:pic>
      <p:pic>
        <p:nvPicPr>
          <p:cNvPr id="60" name="独立图标或流程线" descr="p10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7925" y="4600575"/>
            <a:ext cx="152400" cy="190500"/>
          </a:xfrm>
          <a:prstGeom prst="rect">
            <a:avLst/>
          </a:prstGeom>
        </p:spPr>
      </p:pic>
      <p:pic>
        <p:nvPicPr>
          <p:cNvPr id="61" name="独立图标或流程线" descr="p10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82125" y="4791075"/>
            <a:ext cx="276225" cy="552450"/>
          </a:xfrm>
          <a:prstGeom prst="rect">
            <a:avLst/>
          </a:prstGeom>
        </p:spPr>
      </p:pic>
      <p:pic>
        <p:nvPicPr>
          <p:cNvPr id="62" name="独立图标或流程线" descr="p10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11150" y="4800600"/>
            <a:ext cx="314325" cy="409575"/>
          </a:xfrm>
          <a:prstGeom prst="rect">
            <a:avLst/>
          </a:prstGeom>
        </p:spPr>
      </p:pic>
      <p:pic>
        <p:nvPicPr>
          <p:cNvPr id="63" name="独立图标或流程线" descr="p10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0450" y="4895850"/>
            <a:ext cx="247649" cy="504825"/>
          </a:xfrm>
          <a:prstGeom prst="rect">
            <a:avLst/>
          </a:prstGeom>
        </p:spPr>
      </p:pic>
      <p:pic>
        <p:nvPicPr>
          <p:cNvPr id="64" name="独立图标或流程线" descr="p10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33849" y="5267325"/>
            <a:ext cx="333375" cy="438150"/>
          </a:xfrm>
          <a:prstGeom prst="rect">
            <a:avLst/>
          </a:prstGeom>
        </p:spPr>
      </p:pic>
      <p:pic>
        <p:nvPicPr>
          <p:cNvPr id="65" name="独立图标或流程线" descr="p10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19875" y="5267325"/>
            <a:ext cx="352425" cy="447675"/>
          </a:xfrm>
          <a:prstGeom prst="rect">
            <a:avLst/>
          </a:prstGeom>
        </p:spPr>
      </p:pic>
      <p:pic>
        <p:nvPicPr>
          <p:cNvPr id="66" name="独立图标或流程线" descr="p10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677775" y="5372100"/>
            <a:ext cx="342900" cy="400050"/>
          </a:xfrm>
          <a:prstGeom prst="rect">
            <a:avLst/>
          </a:prstGeom>
        </p:spPr>
      </p:pic>
      <p:pic>
        <p:nvPicPr>
          <p:cNvPr id="67" name="独立图标或流程线" descr="p10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57925" y="5400675"/>
            <a:ext cx="152400" cy="228600"/>
          </a:xfrm>
          <a:prstGeom prst="rect">
            <a:avLst/>
          </a:prstGeom>
        </p:spPr>
      </p:pic>
      <p:pic>
        <p:nvPicPr>
          <p:cNvPr id="68" name="独立图标或流程线" descr="p10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2625" y="5467350"/>
            <a:ext cx="371475" cy="400050"/>
          </a:xfrm>
          <a:prstGeom prst="rect">
            <a:avLst/>
          </a:prstGeom>
        </p:spPr>
      </p:pic>
      <p:pic>
        <p:nvPicPr>
          <p:cNvPr id="69" name="独立图标或流程线" descr="p10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5650" y="5476875"/>
            <a:ext cx="390525" cy="381000"/>
          </a:xfrm>
          <a:prstGeom prst="rect">
            <a:avLst/>
          </a:prstGeom>
        </p:spPr>
      </p:pic>
      <p:pic>
        <p:nvPicPr>
          <p:cNvPr id="70" name="独立图标或流程线" descr="p10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77450" y="5676900"/>
            <a:ext cx="666750" cy="238125"/>
          </a:xfrm>
          <a:prstGeom prst="rect">
            <a:avLst/>
          </a:prstGeom>
        </p:spPr>
      </p:pic>
      <p:pic>
        <p:nvPicPr>
          <p:cNvPr id="71" name="独立图标或流程线" descr="p10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887325" y="5772150"/>
            <a:ext cx="352425" cy="352425"/>
          </a:xfrm>
          <a:prstGeom prst="rect">
            <a:avLst/>
          </a:prstGeom>
        </p:spPr>
      </p:pic>
      <p:pic>
        <p:nvPicPr>
          <p:cNvPr id="72" name="独立图标或流程线" descr="p10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15900" y="6191250"/>
            <a:ext cx="295275" cy="323850"/>
          </a:xfrm>
          <a:prstGeom prst="rect">
            <a:avLst/>
          </a:prstGeom>
        </p:spPr>
      </p:pic>
      <p:pic>
        <p:nvPicPr>
          <p:cNvPr id="73" name="独立图标或流程线" descr="p10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6225" y="6229350"/>
            <a:ext cx="419100" cy="371475"/>
          </a:xfrm>
          <a:prstGeom prst="rect">
            <a:avLst/>
          </a:prstGeom>
        </p:spPr>
      </p:pic>
      <p:pic>
        <p:nvPicPr>
          <p:cNvPr id="74" name="独立图标或流程线" descr="p10_icon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00825" y="6219825"/>
            <a:ext cx="361950" cy="381000"/>
          </a:xfrm>
          <a:prstGeom prst="rect">
            <a:avLst/>
          </a:prstGeom>
        </p:spPr>
      </p:pic>
      <p:pic>
        <p:nvPicPr>
          <p:cNvPr id="75" name="独立图标或流程线" descr="p10_icon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24600" y="6381750"/>
            <a:ext cx="85725" cy="85725"/>
          </a:xfrm>
          <a:prstGeom prst="rect">
            <a:avLst/>
          </a:prstGeom>
        </p:spPr>
      </p:pic>
      <p:pic>
        <p:nvPicPr>
          <p:cNvPr id="76" name="独立图标或流程线" descr="p10_icon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868275" y="6581775"/>
            <a:ext cx="381000" cy="342900"/>
          </a:xfrm>
          <a:prstGeom prst="rect">
            <a:avLst/>
          </a:prstGeom>
        </p:spPr>
      </p:pic>
      <p:sp>
        <p:nvSpPr>
          <p:cNvPr id="77" name="文字：系统依据状态估计结果，不再按固定时间表执行翻动，而是根据鲜叶当前状态动"/>
          <p:cNvSpPr txBox="1"/>
          <p:nvPr/>
        </p:nvSpPr>
        <p:spPr>
          <a:xfrm>
            <a:off x="3886200" y="1619250"/>
            <a:ext cx="11125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系统依据状态估计结果，不再按固定时间表执行翻动，而是根据鲜叶当前状态动态决定翻动时机、强度、持续时间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与静置时长，从而实现更稳定的做青过程控制。"/>
          <p:cNvSpPr txBox="1"/>
          <p:nvPr/>
        </p:nvSpPr>
        <p:spPr>
          <a:xfrm>
            <a:off x="3895725" y="1905000"/>
            <a:ext cx="4467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与静置时长，从而实现更稳定的做青过程控制。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传统方式VS状态驱动方式"/>
          <p:cNvSpPr txBox="1"/>
          <p:nvPr/>
        </p:nvSpPr>
        <p:spPr>
          <a:xfrm>
            <a:off x="4095750" y="2400300"/>
            <a:ext cx="31908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传统方式VS状态驱动方式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闭环控制流程"/>
          <p:cNvSpPr txBox="1"/>
          <p:nvPr/>
        </p:nvSpPr>
        <p:spPr>
          <a:xfrm>
            <a:off x="8791575" y="2381250"/>
            <a:ext cx="15906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闭环控制流程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控制输出与安全约束"/>
          <p:cNvSpPr txBox="1"/>
          <p:nvPr/>
        </p:nvSpPr>
        <p:spPr>
          <a:xfrm>
            <a:off x="12677775" y="2381250"/>
            <a:ext cx="22860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控制输出与安全约束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传统方式"/>
          <p:cNvSpPr txBox="1"/>
          <p:nvPr/>
        </p:nvSpPr>
        <p:spPr>
          <a:xfrm>
            <a:off x="4600575" y="2867025"/>
            <a:ext cx="9906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传统方式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驱动方式"/>
          <p:cNvSpPr txBox="1"/>
          <p:nvPr/>
        </p:nvSpPr>
        <p:spPr>
          <a:xfrm>
            <a:off x="6705600" y="2867025"/>
            <a:ext cx="1390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7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状态驱动方式</a:t>
            </a:r>
            <a:endParaRPr sz="17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多模态感知"/>
          <p:cNvSpPr txBox="1"/>
          <p:nvPr/>
        </p:nvSpPr>
        <p:spPr>
          <a:xfrm>
            <a:off x="9953625" y="2847975"/>
            <a:ext cx="1133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控制输出（决策参数）"/>
          <p:cNvSpPr txBox="1"/>
          <p:nvPr/>
        </p:nvSpPr>
        <p:spPr>
          <a:xfrm>
            <a:off x="12782550" y="2857500"/>
            <a:ext cx="1962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4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控制输出（决策参数）</a:t>
            </a:r>
            <a:endParaRPr sz="14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（固定程序）"/>
          <p:cNvSpPr txBox="1"/>
          <p:nvPr/>
        </p:nvSpPr>
        <p:spPr>
          <a:xfrm>
            <a:off x="4591050" y="3133725"/>
            <a:ext cx="1019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（固定程序）</a:t>
            </a:r>
            <a:endParaRPr sz="12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（自适应控制）"/>
          <p:cNvSpPr txBox="1"/>
          <p:nvPr/>
        </p:nvSpPr>
        <p:spPr>
          <a:xfrm>
            <a:off x="6800850" y="3133725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（自适应控制）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气味、视觉、温湿度、失水"/>
          <p:cNvSpPr txBox="1"/>
          <p:nvPr/>
        </p:nvSpPr>
        <p:spPr>
          <a:xfrm>
            <a:off x="9591675" y="3114675"/>
            <a:ext cx="1914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气味、视觉、温湿度、失水</a:t>
            </a:r>
            <a:endParaRPr sz="12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下一次翻动时机"/>
          <p:cNvSpPr txBox="1"/>
          <p:nvPr/>
        </p:nvSpPr>
        <p:spPr>
          <a:xfrm>
            <a:off x="13706475" y="3305175"/>
            <a:ext cx="13430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下一次翻动时机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固定时间表"/>
          <p:cNvSpPr txBox="1"/>
          <p:nvPr/>
        </p:nvSpPr>
        <p:spPr>
          <a:xfrm>
            <a:off x="4657725" y="3638550"/>
            <a:ext cx="1009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固定时间表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实时感知状态"/>
          <p:cNvSpPr txBox="1"/>
          <p:nvPr/>
        </p:nvSpPr>
        <p:spPr>
          <a:xfrm>
            <a:off x="7162800" y="3638550"/>
            <a:ext cx="11430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实时感知状态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按经验设定时间点"/>
          <p:cNvSpPr txBox="1"/>
          <p:nvPr/>
        </p:nvSpPr>
        <p:spPr>
          <a:xfrm>
            <a:off x="4657725" y="38862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按经验设定时间点</a:t>
            </a:r>
            <a:endParaRPr sz="1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多源信息融合判断"/>
          <p:cNvSpPr txBox="1"/>
          <p:nvPr/>
        </p:nvSpPr>
        <p:spPr>
          <a:xfrm>
            <a:off x="7172325" y="3886200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多源信息融合判断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翻动强度"/>
          <p:cNvSpPr txBox="1"/>
          <p:nvPr/>
        </p:nvSpPr>
        <p:spPr>
          <a:xfrm>
            <a:off x="13649325" y="3810000"/>
            <a:ext cx="8763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翻动强度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同批同程序"/>
          <p:cNvSpPr txBox="1"/>
          <p:nvPr/>
        </p:nvSpPr>
        <p:spPr>
          <a:xfrm>
            <a:off x="4648200" y="4419600"/>
            <a:ext cx="1009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5"/>
              </a:lnSpc>
              <a:spcBef>
                <a:spcPts val="0"/>
              </a:spcBef>
              <a:spcAft>
                <a:spcPts val="0"/>
              </a:spcAft>
            </a:pPr>
            <a:r>
              <a:rPr sz="14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同批同程序</a:t>
            </a:r>
            <a:endParaRPr sz="14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动态调整参数"/>
          <p:cNvSpPr txBox="1"/>
          <p:nvPr/>
        </p:nvSpPr>
        <p:spPr>
          <a:xfrm>
            <a:off x="7172325" y="4438650"/>
            <a:ext cx="1123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动态调整参数</a:t>
            </a:r>
            <a:endParaRPr sz="13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持续时间"/>
          <p:cNvSpPr txBox="1"/>
          <p:nvPr/>
        </p:nvSpPr>
        <p:spPr>
          <a:xfrm>
            <a:off x="13658850" y="4352925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持续时间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不同原料采用相同工艺"/>
          <p:cNvSpPr txBox="1"/>
          <p:nvPr/>
        </p:nvSpPr>
        <p:spPr>
          <a:xfrm>
            <a:off x="4667250" y="4657725"/>
            <a:ext cx="1438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不同原料采用相同工艺</a:t>
            </a:r>
            <a:endParaRPr sz="10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按状态生成控制策略"/>
          <p:cNvSpPr txBox="1"/>
          <p:nvPr/>
        </p:nvSpPr>
        <p:spPr>
          <a:xfrm>
            <a:off x="7153275" y="4695825"/>
            <a:ext cx="13144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75"/>
              </a:lnSpc>
              <a:spcBef>
                <a:spcPts val="0"/>
              </a:spcBef>
              <a:spcAft>
                <a:spcPts val="0"/>
              </a:spcAft>
            </a:pPr>
            <a:r>
              <a:rPr sz="10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按状态生成控制策略</a:t>
            </a:r>
            <a:endParaRPr sz="10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反馈修正"/>
          <p:cNvSpPr txBox="1"/>
          <p:nvPr/>
        </p:nvSpPr>
        <p:spPr>
          <a:xfrm>
            <a:off x="8686800" y="4667250"/>
            <a:ext cx="7905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5"/>
              </a:lnSpc>
              <a:spcBef>
                <a:spcPts val="0"/>
              </a:spcBef>
              <a:spcAft>
                <a:spcPts val="0"/>
              </a:spcAft>
            </a:pPr>
            <a:r>
              <a:rPr sz="13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反馈修正</a:t>
            </a:r>
            <a:endParaRPr sz="13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状态判断"/>
          <p:cNvSpPr txBox="1"/>
          <p:nvPr/>
        </p:nvSpPr>
        <p:spPr>
          <a:xfrm>
            <a:off x="11544300" y="4657725"/>
            <a:ext cx="8001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状态判断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状态驱动"/>
          <p:cNvSpPr txBox="1"/>
          <p:nvPr/>
        </p:nvSpPr>
        <p:spPr>
          <a:xfrm>
            <a:off x="10106025" y="4800600"/>
            <a:ext cx="819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4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</a:t>
            </a:r>
            <a:endParaRPr sz="14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结果回采与"/>
          <p:cNvSpPr txBox="1"/>
          <p:nvPr/>
        </p:nvSpPr>
        <p:spPr>
          <a:xfrm>
            <a:off x="8658225" y="4914900"/>
            <a:ext cx="8286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结果回采与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阶段、成熟度、"/>
          <p:cNvSpPr txBox="1"/>
          <p:nvPr/>
        </p:nvSpPr>
        <p:spPr>
          <a:xfrm>
            <a:off x="11525250" y="4895850"/>
            <a:ext cx="942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9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阶段、成熟度、</a:t>
            </a:r>
            <a:endParaRPr sz="9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静置时长"/>
          <p:cNvSpPr txBox="1"/>
          <p:nvPr/>
        </p:nvSpPr>
        <p:spPr>
          <a:xfrm>
            <a:off x="13658850" y="4876800"/>
            <a:ext cx="86677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模型更新"/>
          <p:cNvSpPr txBox="1"/>
          <p:nvPr/>
        </p:nvSpPr>
        <p:spPr>
          <a:xfrm>
            <a:off x="8724900" y="5095875"/>
            <a:ext cx="7048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模型更新</a:t>
            </a:r>
            <a:endParaRPr sz="12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闭环控制"/>
          <p:cNvSpPr txBox="1"/>
          <p:nvPr/>
        </p:nvSpPr>
        <p:spPr>
          <a:xfrm>
            <a:off x="10106025" y="5019675"/>
            <a:ext cx="819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趋势"/>
          <p:cNvSpPr txBox="1"/>
          <p:nvPr/>
        </p:nvSpPr>
        <p:spPr>
          <a:xfrm>
            <a:off x="11534775" y="5067300"/>
            <a:ext cx="419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3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趋势</a:t>
            </a:r>
            <a:endParaRPr sz="13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难适应原料差异"/>
          <p:cNvSpPr txBox="1"/>
          <p:nvPr/>
        </p:nvSpPr>
        <p:spPr>
          <a:xfrm>
            <a:off x="4676775" y="5248275"/>
            <a:ext cx="13430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难适应原料差异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适应批次差异"/>
          <p:cNvSpPr txBox="1"/>
          <p:nvPr/>
        </p:nvSpPr>
        <p:spPr>
          <a:xfrm>
            <a:off x="7162800" y="5276850"/>
            <a:ext cx="11334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3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适应批次差异</a:t>
            </a:r>
            <a:endParaRPr sz="13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受品种、季节、鲜叶"/>
          <p:cNvSpPr txBox="1"/>
          <p:nvPr/>
        </p:nvSpPr>
        <p:spPr>
          <a:xfrm>
            <a:off x="4676775" y="5486400"/>
            <a:ext cx="13239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10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受品种、季节、鲜叶</a:t>
            </a:r>
            <a:endParaRPr sz="10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安全约束"/>
          <p:cNvSpPr txBox="1"/>
          <p:nvPr/>
        </p:nvSpPr>
        <p:spPr>
          <a:xfrm>
            <a:off x="13077825" y="5410200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安全约束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个性化、柔性化控制"/>
          <p:cNvSpPr txBox="1"/>
          <p:nvPr/>
        </p:nvSpPr>
        <p:spPr>
          <a:xfrm>
            <a:off x="7172325" y="5524500"/>
            <a:ext cx="12954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个性化、柔性化控制</a:t>
            </a:r>
            <a:endParaRPr sz="10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状态影响大"/>
          <p:cNvSpPr txBox="1"/>
          <p:nvPr/>
        </p:nvSpPr>
        <p:spPr>
          <a:xfrm>
            <a:off x="4648200" y="5648325"/>
            <a:ext cx="838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85"/>
              </a:lnSpc>
              <a:spcBef>
                <a:spcPts val="0"/>
              </a:spcBef>
              <a:spcAft>
                <a:spcPts val="0"/>
              </a:spcAft>
            </a:pPr>
            <a:r>
              <a:rPr sz="11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状态影响大</a:t>
            </a:r>
            <a:endParaRPr sz="11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置信度不足时回退保守工艺"/>
          <p:cNvSpPr txBox="1"/>
          <p:nvPr/>
        </p:nvSpPr>
        <p:spPr>
          <a:xfrm>
            <a:off x="13363575" y="58293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55"/>
              </a:lnSpc>
              <a:spcBef>
                <a:spcPts val="0"/>
              </a:spcBef>
              <a:spcAft>
                <a:spcPts val="0"/>
              </a:spcAft>
            </a:pPr>
            <a:r>
              <a:rPr sz="12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置信度不足时回退保守工艺</a:t>
            </a:r>
            <a:endParaRPr sz="12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字：执行控制"/>
          <p:cNvSpPr txBox="1"/>
          <p:nvPr/>
        </p:nvSpPr>
        <p:spPr>
          <a:xfrm>
            <a:off x="9163050" y="596265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执行控制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文字：策略生成"/>
          <p:cNvSpPr txBox="1"/>
          <p:nvPr/>
        </p:nvSpPr>
        <p:spPr>
          <a:xfrm>
            <a:off x="11239500" y="5962650"/>
            <a:ext cx="838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策略生成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文字：品质波动较大"/>
          <p:cNvSpPr txBox="1"/>
          <p:nvPr/>
        </p:nvSpPr>
        <p:spPr>
          <a:xfrm>
            <a:off x="4686300" y="6200775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品质波动较大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9" name="文字：更利于品质稳定"/>
          <p:cNvSpPr txBox="1"/>
          <p:nvPr/>
        </p:nvSpPr>
        <p:spPr>
          <a:xfrm>
            <a:off x="7172325" y="6219825"/>
            <a:ext cx="13239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更利于品质稳定</a:t>
            </a:r>
            <a:endParaRPr sz="13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文字：转速、持续时间、"/>
          <p:cNvSpPr txBox="1"/>
          <p:nvPr/>
        </p:nvSpPr>
        <p:spPr>
          <a:xfrm>
            <a:off x="8858250" y="6238875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转速、持续时间、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1" name="文字：翻动时机与"/>
          <p:cNvSpPr txBox="1"/>
          <p:nvPr/>
        </p:nvSpPr>
        <p:spPr>
          <a:xfrm>
            <a:off x="11249025" y="6238875"/>
            <a:ext cx="895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翻动时机与</a:t>
            </a:r>
            <a:endParaRPr sz="12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文字：允许人工确认关键节点"/>
          <p:cNvSpPr txBox="1"/>
          <p:nvPr/>
        </p:nvSpPr>
        <p:spPr>
          <a:xfrm>
            <a:off x="13363575" y="6238875"/>
            <a:ext cx="16954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2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允许人工确认关键节点</a:t>
            </a:r>
            <a:endParaRPr sz="12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" name="文字：易出现过青或欠青"/>
          <p:cNvSpPr txBox="1"/>
          <p:nvPr/>
        </p:nvSpPr>
        <p:spPr>
          <a:xfrm>
            <a:off x="4686300" y="6477000"/>
            <a:ext cx="12763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易出现过青或欠青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4" name="文字：过程可控、结果更一致"/>
          <p:cNvSpPr txBox="1"/>
          <p:nvPr/>
        </p:nvSpPr>
        <p:spPr>
          <a:xfrm>
            <a:off x="7143750" y="6477000"/>
            <a:ext cx="13811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过程可控、结果更一致</a:t>
            </a:r>
            <a:endParaRPr sz="10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" name="文字：静置时长"/>
          <p:cNvSpPr txBox="1"/>
          <p:nvPr/>
        </p:nvSpPr>
        <p:spPr>
          <a:xfrm>
            <a:off x="9124950" y="6438900"/>
            <a:ext cx="781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静置时长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文字：参数推荐"/>
          <p:cNvSpPr txBox="1"/>
          <p:nvPr/>
        </p:nvSpPr>
        <p:spPr>
          <a:xfrm>
            <a:off x="11239500" y="6419850"/>
            <a:ext cx="7715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参数推荐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7" name="文字：异常状态触发报警与停机保护"/>
          <p:cNvSpPr txBox="1"/>
          <p:nvPr/>
        </p:nvSpPr>
        <p:spPr>
          <a:xfrm>
            <a:off x="13363575" y="6648450"/>
            <a:ext cx="21717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2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异常状态触发报警与停机保护</a:t>
            </a:r>
            <a:endParaRPr sz="12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" name="文字：不再按“几点钟摇青”，而是按“茶叶现在需要什么”来决定下一步"/>
          <p:cNvSpPr txBox="1"/>
          <p:nvPr/>
        </p:nvSpPr>
        <p:spPr>
          <a:xfrm>
            <a:off x="6286500" y="7821216"/>
            <a:ext cx="64960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不再按“几点钟摇青”，而是按“茶叶现在需要什么”来决定下一步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" name="文字：自适应闭环控制是实现品质稳定与工艺可复制的关键环节。"/>
          <p:cNvSpPr txBox="1"/>
          <p:nvPr/>
        </p:nvSpPr>
        <p:spPr>
          <a:xfrm>
            <a:off x="7153275" y="8162925"/>
            <a:ext cx="47815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自适应闭环控制是实现品质稳定与工艺可复制的关键环节。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02042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1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11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3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03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关键技术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多模态感知、&#10;状态估计与自适应控制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状态估计与自适应控制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创新不在传感器更多，&#10; 而在状态真正进入&#10; 工艺决策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“创新不在传感器更多，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而在状态真正进入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工艺决策。”</a:t>
            </a:r>
            <a:endParaRPr sz="18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3.5 技术创新与方案对比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3.5 技术创新与方案对比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创新不在“多一个传感器”，而在于把多模态状态表征真正接入工艺决策闭环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60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创新不在“多一个传感器”，而在于把多模态状态表征真正接入工艺决策闭环</a:t>
            </a:r>
            <a:endParaRPr sz="160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12506325" y="2314575"/>
            <a:ext cx="3067050" cy="456247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2506325" y="2314575"/>
            <a:ext cx="3067050" cy="54292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6" name="可编辑方案对比表"/>
          <p:cNvGraphicFramePr>
            <a:graphicFrameLocks noGrp="1"/>
          </p:cNvGraphicFramePr>
          <p:nvPr/>
        </p:nvGraphicFramePr>
        <p:xfrm>
          <a:off x="3867150" y="2314575"/>
          <a:ext cx="8467725" cy="4562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725"/>
                <a:gridCol w="1571625"/>
                <a:gridCol w="1619250"/>
                <a:gridCol w="1676400"/>
                <a:gridCol w="1609725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对比维度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传统人工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固定程序自动化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单一电子鼻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  <a:p>
                      <a:pPr algn="ctr"/>
                      <a:r>
                        <a:rPr sz="1650" b="1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识别研究</a:t>
                      </a:r>
                      <a:endParaRPr sz="1650" b="1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</a:rPr>
                        <a:t>青韵智控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</a:endParaRPr>
                    </a:p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</a:rPr>
                        <a:t>目标方案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155644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自动执行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VOC 在线感知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视觉 / 失水融合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经验判断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跨批次校准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依赖师傅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弱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部分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状态驱动控制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无  ×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 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成茶品质闭环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581025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有但不可量化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弱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少  −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73F32"/>
                          </a:solidFill>
                          <a:latin typeface="宋体" panose="02010600030101010101" pitchFamily="2" charset="-122"/>
                        </a:rPr>
                        <a:t>目标建立 ✓</a:t>
                      </a:r>
                      <a:endParaRPr sz="1425" b="0">
                        <a:solidFill>
                          <a:srgbClr val="073F32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76200" marR="76200" anchor="ctr">
                    <a:solidFill>
                      <a:srgbClr val="E4F3ED"/>
                    </a:solidFill>
                  </a:tcPr>
                </a:tc>
              </a:tr>
            </a:tbl>
          </a:graphicData>
        </a:graphic>
      </p:graphicFrame>
      <p:pic>
        <p:nvPicPr>
          <p:cNvPr id="37" name="独立表格行图标" descr="table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49" y="3190875"/>
            <a:ext cx="438150" cy="428625"/>
          </a:xfrm>
          <a:prstGeom prst="rect">
            <a:avLst/>
          </a:prstGeom>
        </p:spPr>
      </p:pic>
      <p:pic>
        <p:nvPicPr>
          <p:cNvPr id="38" name="独立表格行图标" descr="table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549" y="3822700"/>
            <a:ext cx="438150" cy="428625"/>
          </a:xfrm>
          <a:prstGeom prst="rect">
            <a:avLst/>
          </a:prstGeom>
        </p:spPr>
      </p:pic>
      <p:pic>
        <p:nvPicPr>
          <p:cNvPr id="39" name="独立表格行图标" descr="table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49" y="4454525"/>
            <a:ext cx="438150" cy="428625"/>
          </a:xfrm>
          <a:prstGeom prst="rect">
            <a:avLst/>
          </a:prstGeom>
        </p:spPr>
      </p:pic>
      <p:pic>
        <p:nvPicPr>
          <p:cNvPr id="40" name="独立表格行图标" descr="table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49" y="5086350"/>
            <a:ext cx="438150" cy="428625"/>
          </a:xfrm>
          <a:prstGeom prst="rect">
            <a:avLst/>
          </a:prstGeom>
        </p:spPr>
      </p:pic>
      <p:pic>
        <p:nvPicPr>
          <p:cNvPr id="41" name="独立表格行图标" descr="table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9549" y="5718174"/>
            <a:ext cx="438150" cy="428625"/>
          </a:xfrm>
          <a:prstGeom prst="rect">
            <a:avLst/>
          </a:prstGeom>
        </p:spPr>
      </p:pic>
      <p:pic>
        <p:nvPicPr>
          <p:cNvPr id="42" name="独立表格行图标" descr="table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9549" y="6349999"/>
            <a:ext cx="438150" cy="428625"/>
          </a:xfrm>
          <a:prstGeom prst="rect">
            <a:avLst/>
          </a:prstGeom>
        </p:spPr>
      </p:pic>
      <p:pic>
        <p:nvPicPr>
          <p:cNvPr id="43" name="独立图标或流程线" descr="p11_icon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9675" y="2990850"/>
            <a:ext cx="390525" cy="390525"/>
          </a:xfrm>
          <a:prstGeom prst="rect">
            <a:avLst/>
          </a:prstGeom>
        </p:spPr>
      </p:pic>
      <p:pic>
        <p:nvPicPr>
          <p:cNvPr id="44" name="独立图标或流程线" descr="p11_icon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9725" y="3200400"/>
            <a:ext cx="409575" cy="533400"/>
          </a:xfrm>
          <a:prstGeom prst="rect">
            <a:avLst/>
          </a:prstGeom>
        </p:spPr>
      </p:pic>
      <p:pic>
        <p:nvPicPr>
          <p:cNvPr id="45" name="独立图标或流程线" descr="p11_icon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9675" y="4362450"/>
            <a:ext cx="390525" cy="390525"/>
          </a:xfrm>
          <a:prstGeom prst="rect">
            <a:avLst/>
          </a:prstGeom>
        </p:spPr>
      </p:pic>
      <p:pic>
        <p:nvPicPr>
          <p:cNvPr id="46" name="独立图标或流程线" descr="p11_icon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58775" y="4552950"/>
            <a:ext cx="400050" cy="428625"/>
          </a:xfrm>
          <a:prstGeom prst="rect">
            <a:avLst/>
          </a:prstGeom>
        </p:spPr>
      </p:pic>
      <p:pic>
        <p:nvPicPr>
          <p:cNvPr id="47" name="独立图标或流程线" descr="p11_icon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9675" y="5753100"/>
            <a:ext cx="390525" cy="381000"/>
          </a:xfrm>
          <a:prstGeom prst="rect">
            <a:avLst/>
          </a:prstGeom>
        </p:spPr>
      </p:pic>
      <p:pic>
        <p:nvPicPr>
          <p:cNvPr id="48" name="独立图标或流程线" descr="p11_icon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20675" y="5943600"/>
            <a:ext cx="485775" cy="485775"/>
          </a:xfrm>
          <a:prstGeom prst="rect">
            <a:avLst/>
          </a:prstGeom>
        </p:spPr>
      </p:pic>
      <p:sp>
        <p:nvSpPr>
          <p:cNvPr id="49" name="文字：相比传统人工和现有技术方案，青韵智控通过多模态感知、跨批次校准与状态驱"/>
          <p:cNvSpPr txBox="1"/>
          <p:nvPr/>
        </p:nvSpPr>
        <p:spPr>
          <a:xfrm>
            <a:off x="3867150" y="1609725"/>
            <a:ext cx="11620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相比传统人工和现有技术方案，青韵智控通过多模态感知、跨批次校准与状态驱动控制，实现从“经验判断”到“数据驱动”、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字：从“被动执行”到“主动决策”的转变。"/>
          <p:cNvSpPr txBox="1"/>
          <p:nvPr/>
        </p:nvSpPr>
        <p:spPr>
          <a:xfrm>
            <a:off x="3876675" y="1905000"/>
            <a:ext cx="37242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从“被动执行”到“主动决策”的转变。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字：三项创新"/>
          <p:cNvSpPr txBox="1"/>
          <p:nvPr/>
        </p:nvSpPr>
        <p:spPr>
          <a:xfrm>
            <a:off x="12734925" y="2409825"/>
            <a:ext cx="13239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三项创新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文字：多模态状态表征"/>
          <p:cNvSpPr txBox="1"/>
          <p:nvPr/>
        </p:nvSpPr>
        <p:spPr>
          <a:xfrm>
            <a:off x="13620750" y="3067050"/>
            <a:ext cx="15525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多模态状态表征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文字：融合气味、视觉、温湿度、"/>
          <p:cNvSpPr txBox="1"/>
          <p:nvPr/>
        </p:nvSpPr>
        <p:spPr>
          <a:xfrm>
            <a:off x="13630275" y="3419475"/>
            <a:ext cx="16954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55"/>
              </a:lnSpc>
              <a:spcBef>
                <a:spcPts val="0"/>
              </a:spcBef>
              <a:spcAft>
                <a:spcPts val="0"/>
              </a:spcAft>
            </a:pPr>
            <a:r>
              <a:rPr sz="10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融合气味、视觉、温湿度、</a:t>
            </a:r>
            <a:endParaRPr sz="10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文字：失水等多源信息，构建更全面"/>
          <p:cNvSpPr txBox="1"/>
          <p:nvPr/>
        </p:nvSpPr>
        <p:spPr>
          <a:xfrm>
            <a:off x="13611225" y="3619500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失水等多源信息，构建更全面</a:t>
            </a:r>
            <a:endParaRPr sz="11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字：的做青状态表征。"/>
          <p:cNvSpPr txBox="1"/>
          <p:nvPr/>
        </p:nvSpPr>
        <p:spPr>
          <a:xfrm>
            <a:off x="13620750" y="3829050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7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的做青状态表征。</a:t>
            </a:r>
            <a:endParaRPr sz="10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字：跨批次稳定校准"/>
          <p:cNvSpPr txBox="1"/>
          <p:nvPr/>
        </p:nvSpPr>
        <p:spPr>
          <a:xfrm>
            <a:off x="13611225" y="4448175"/>
            <a:ext cx="15716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6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跨批次稳定校准</a:t>
            </a:r>
            <a:endParaRPr sz="16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字：建立跨原料、跨批次的状态"/>
          <p:cNvSpPr txBox="1"/>
          <p:nvPr/>
        </p:nvSpPr>
        <p:spPr>
          <a:xfrm>
            <a:off x="13611225" y="4781550"/>
            <a:ext cx="1866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建立跨原料、跨批次的状态</a:t>
            </a:r>
            <a:endParaRPr sz="11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文字：校准与自适应机制，提升"/>
          <p:cNvSpPr txBox="1"/>
          <p:nvPr/>
        </p:nvSpPr>
        <p:spPr>
          <a:xfrm>
            <a:off x="13620750" y="4991100"/>
            <a:ext cx="1704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校准与自适应机制，提升</a:t>
            </a:r>
            <a:endParaRPr sz="11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文字：模型泛化能力。"/>
          <p:cNvSpPr txBox="1"/>
          <p:nvPr/>
        </p:nvSpPr>
        <p:spPr>
          <a:xfrm>
            <a:off x="13620750" y="5210175"/>
            <a:ext cx="1047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模型泛化能力。</a:t>
            </a:r>
            <a:endParaRPr sz="10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字：状态驱动闭环决策"/>
          <p:cNvSpPr txBox="1"/>
          <p:nvPr/>
        </p:nvSpPr>
        <p:spPr>
          <a:xfrm>
            <a:off x="13620750" y="5857875"/>
            <a:ext cx="17240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状态驱动闭环决策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让多模态感知结果直接驱动"/>
          <p:cNvSpPr txBox="1"/>
          <p:nvPr/>
        </p:nvSpPr>
        <p:spPr>
          <a:xfrm>
            <a:off x="13611225" y="6181725"/>
            <a:ext cx="18764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让多模态感知结果直接驱动</a:t>
            </a:r>
            <a:endParaRPr sz="1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工艺决策，实现从感知到执行"/>
          <p:cNvSpPr txBox="1"/>
          <p:nvPr/>
        </p:nvSpPr>
        <p:spPr>
          <a:xfrm>
            <a:off x="13649325" y="6410325"/>
            <a:ext cx="192405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115"/>
              </a:lnSpc>
              <a:spcBef>
                <a:spcPts val="0"/>
              </a:spcBef>
              <a:spcAft>
                <a:spcPts val="0"/>
              </a:spcAft>
            </a:pPr>
            <a:r>
              <a:rPr sz="11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工艺决策，实现从感知到执行</a:t>
            </a:r>
            <a:endParaRPr sz="11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的闭环控制。"/>
          <p:cNvSpPr txBox="1"/>
          <p:nvPr/>
        </p:nvSpPr>
        <p:spPr>
          <a:xfrm>
            <a:off x="13620750" y="6610350"/>
            <a:ext cx="895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0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的闭环控制。</a:t>
            </a:r>
            <a:endParaRPr sz="10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正式结论需以文献、产品资料或真实实验结果为依据。"/>
          <p:cNvSpPr txBox="1"/>
          <p:nvPr/>
        </p:nvSpPr>
        <p:spPr>
          <a:xfrm>
            <a:off x="12515850" y="6924675"/>
            <a:ext cx="3067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正式结论需以文献、产品资料或真实实验结果为依据。</a:t>
            </a:r>
            <a:endParaRPr sz="9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关键不是把监测手段叠加，而是让“感知结果”真正决定下一步做青动作"/>
          <p:cNvSpPr txBox="1"/>
          <p:nvPr/>
        </p:nvSpPr>
        <p:spPr>
          <a:xfrm>
            <a:off x="6219825" y="7830145"/>
            <a:ext cx="68389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关键不是把监测手段叠加，而是让“感知结果”真正决定下一步做青动作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以数据传承经验，让制茶技艺在可感知、可决策、可复制中持续进化。"/>
          <p:cNvSpPr txBox="1"/>
          <p:nvPr/>
        </p:nvSpPr>
        <p:spPr>
          <a:xfrm>
            <a:off x="6934200" y="8162925"/>
            <a:ext cx="54959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以数据传承经验，让制茶技艺在可感知、可决策、可复制中持续进化。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5390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2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12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4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实施与验证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48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实验路径、对照验证&#10;与品质评价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实验路径、对照验证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与品质评价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先证明测得准，&#10; 再证明判断对，&#10; 最后证明控制有效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5"/>
              </a:lnSpc>
              <a:spcBef>
                <a:spcPts val="0"/>
              </a:spcBef>
              <a:spcAft>
                <a:spcPts val="0"/>
              </a:spcAft>
            </a:pP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“先证明测得准，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再证明判断对，</a:t>
            </a:r>
            <a:b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0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最后证明控制有效。”</a:t>
            </a:r>
            <a:endParaRPr sz="210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4.1 分阶段验证路线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4.1 分阶段验证路线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先证明“测得准”，再证明“判断对”，最后证明“控制有效”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先证明“测得准”，再证明“判断对”，最后证明“控制有效”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5972175"/>
            <a:ext cx="8839200" cy="6477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5686425" y="6076950"/>
            <a:ext cx="1619250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8191500" y="6076950"/>
            <a:ext cx="1619250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10687050" y="6076950"/>
            <a:ext cx="1704975" cy="45720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3867150" y="2447925"/>
            <a:ext cx="3019425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7029450" y="2447925"/>
            <a:ext cx="3000375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0172700" y="2447925"/>
            <a:ext cx="2667000" cy="6477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图标或流程线" descr="p12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925" y="2457450"/>
            <a:ext cx="523874" cy="542925"/>
          </a:xfrm>
          <a:prstGeom prst="rect">
            <a:avLst/>
          </a:prstGeom>
        </p:spPr>
      </p:pic>
      <p:pic>
        <p:nvPicPr>
          <p:cNvPr id="42" name="独立图标或流程线" descr="p12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5" y="3352800"/>
            <a:ext cx="400050" cy="409575"/>
          </a:xfrm>
          <a:prstGeom prst="rect">
            <a:avLst/>
          </a:prstGeom>
        </p:spPr>
      </p:pic>
      <p:pic>
        <p:nvPicPr>
          <p:cNvPr id="43" name="独立图标或流程线" descr="p12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725" y="3409950"/>
            <a:ext cx="657225" cy="676275"/>
          </a:xfrm>
          <a:prstGeom prst="rect">
            <a:avLst/>
          </a:prstGeom>
        </p:spPr>
      </p:pic>
      <p:pic>
        <p:nvPicPr>
          <p:cNvPr id="44" name="独立图标或流程线" descr="p12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674" y="3419475"/>
            <a:ext cx="676275" cy="657225"/>
          </a:xfrm>
          <a:prstGeom prst="rect">
            <a:avLst/>
          </a:prstGeom>
        </p:spPr>
      </p:pic>
      <p:pic>
        <p:nvPicPr>
          <p:cNvPr id="45" name="独立图标或流程线" descr="p12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3476625"/>
            <a:ext cx="590550" cy="619125"/>
          </a:xfrm>
          <a:prstGeom prst="rect">
            <a:avLst/>
          </a:prstGeom>
        </p:spPr>
      </p:pic>
      <p:pic>
        <p:nvPicPr>
          <p:cNvPr id="46" name="独立图标或流程线" descr="p12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7050" y="3619500"/>
            <a:ext cx="295275" cy="400050"/>
          </a:xfrm>
          <a:prstGeom prst="rect">
            <a:avLst/>
          </a:prstGeom>
        </p:spPr>
      </p:pic>
      <p:pic>
        <p:nvPicPr>
          <p:cNvPr id="47" name="独立图标或流程线" descr="p12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900" y="3629025"/>
            <a:ext cx="295275" cy="390525"/>
          </a:xfrm>
          <a:prstGeom prst="rect">
            <a:avLst/>
          </a:prstGeom>
        </p:spPr>
      </p:pic>
      <p:pic>
        <p:nvPicPr>
          <p:cNvPr id="48" name="独立图标或流程线" descr="p12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2900" y="4410075"/>
            <a:ext cx="180975" cy="190500"/>
          </a:xfrm>
          <a:prstGeom prst="rect">
            <a:avLst/>
          </a:prstGeom>
        </p:spPr>
      </p:pic>
      <p:pic>
        <p:nvPicPr>
          <p:cNvPr id="49" name="独立图标或流程线" descr="p12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299" y="4410075"/>
            <a:ext cx="180975" cy="190500"/>
          </a:xfrm>
          <a:prstGeom prst="rect">
            <a:avLst/>
          </a:prstGeom>
        </p:spPr>
      </p:pic>
      <p:pic>
        <p:nvPicPr>
          <p:cNvPr id="50" name="独立图标或流程线" descr="p12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0" y="4419600"/>
            <a:ext cx="180975" cy="180975"/>
          </a:xfrm>
          <a:prstGeom prst="rect">
            <a:avLst/>
          </a:prstGeom>
        </p:spPr>
      </p:pic>
      <p:pic>
        <p:nvPicPr>
          <p:cNvPr id="51" name="独立图标或流程线" descr="p12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6875" y="4429125"/>
            <a:ext cx="400050" cy="409575"/>
          </a:xfrm>
          <a:prstGeom prst="rect">
            <a:avLst/>
          </a:prstGeom>
        </p:spPr>
      </p:pic>
      <p:pic>
        <p:nvPicPr>
          <p:cNvPr id="52" name="独立图标或流程线" descr="p12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2900" y="4733925"/>
            <a:ext cx="180975" cy="190500"/>
          </a:xfrm>
          <a:prstGeom prst="rect">
            <a:avLst/>
          </a:prstGeom>
        </p:spPr>
      </p:pic>
      <p:pic>
        <p:nvPicPr>
          <p:cNvPr id="53" name="独立图标或流程线" descr="p12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3299" y="4733925"/>
            <a:ext cx="180975" cy="190500"/>
          </a:xfrm>
          <a:prstGeom prst="rect">
            <a:avLst/>
          </a:prstGeom>
        </p:spPr>
      </p:pic>
      <p:pic>
        <p:nvPicPr>
          <p:cNvPr id="54" name="独立图标或流程线" descr="p12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6500" y="4743450"/>
            <a:ext cx="180975" cy="180975"/>
          </a:xfrm>
          <a:prstGeom prst="rect">
            <a:avLst/>
          </a:prstGeom>
        </p:spPr>
      </p:pic>
      <p:pic>
        <p:nvPicPr>
          <p:cNvPr id="55" name="独立图标或流程线" descr="p12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2900" y="5076825"/>
            <a:ext cx="180975" cy="190500"/>
          </a:xfrm>
          <a:prstGeom prst="rect">
            <a:avLst/>
          </a:prstGeom>
        </p:spPr>
      </p:pic>
      <p:pic>
        <p:nvPicPr>
          <p:cNvPr id="56" name="独立图标或流程线" descr="p12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3299" y="5086350"/>
            <a:ext cx="190500" cy="180975"/>
          </a:xfrm>
          <a:prstGeom prst="rect">
            <a:avLst/>
          </a:prstGeom>
        </p:spPr>
      </p:pic>
      <p:pic>
        <p:nvPicPr>
          <p:cNvPr id="57" name="独立图标或流程线" descr="p12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6500" y="5086350"/>
            <a:ext cx="180975" cy="190500"/>
          </a:xfrm>
          <a:prstGeom prst="rect">
            <a:avLst/>
          </a:prstGeom>
        </p:spPr>
      </p:pic>
      <p:pic>
        <p:nvPicPr>
          <p:cNvPr id="58" name="独立图标或流程线" descr="p12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86975" y="6115050"/>
            <a:ext cx="400050" cy="361950"/>
          </a:xfrm>
          <a:prstGeom prst="rect">
            <a:avLst/>
          </a:prstGeom>
        </p:spPr>
      </p:pic>
      <p:pic>
        <p:nvPicPr>
          <p:cNvPr id="59" name="独立图标或流程线" descr="p12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00950" y="6124575"/>
            <a:ext cx="400050" cy="352425"/>
          </a:xfrm>
          <a:prstGeom prst="rect">
            <a:avLst/>
          </a:prstGeom>
        </p:spPr>
      </p:pic>
      <p:sp>
        <p:nvSpPr>
          <p:cNvPr id="60" name="文字：项目采用渐进式验证路线，先完成真实做青过程的在线监测与数据同步，再进入"/>
          <p:cNvSpPr txBox="1"/>
          <p:nvPr/>
        </p:nvSpPr>
        <p:spPr>
          <a:xfrm>
            <a:off x="3876675" y="1619250"/>
            <a:ext cx="10582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7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项目采用渐进式验证路线，先完成真实做青过程的在线监测与数据同步，再进入师傅确认的半自动验证，</a:t>
            </a:r>
            <a:endParaRPr sz="17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字：最后在安全边界内探索状态驱动的闭环控制，逐步建立从感知到控制的可信证据"/>
          <p:cNvSpPr txBox="1"/>
          <p:nvPr/>
        </p:nvSpPr>
        <p:spPr>
          <a:xfrm>
            <a:off x="3886200" y="1981200"/>
            <a:ext cx="8496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最后在安全边界内探索状态驱动的闭环控制，逐步建立从感知到控制的可信证据链。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字：当前目标"/>
          <p:cNvSpPr txBox="1"/>
          <p:nvPr/>
        </p:nvSpPr>
        <p:spPr>
          <a:xfrm>
            <a:off x="13744575" y="2533650"/>
            <a:ext cx="124777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85"/>
              </a:lnSpc>
              <a:spcBef>
                <a:spcPts val="0"/>
              </a:spcBef>
              <a:spcAft>
                <a:spcPts val="0"/>
              </a:spcAft>
            </a:pPr>
            <a:r>
              <a:rPr sz="22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当前目标</a:t>
            </a:r>
            <a:endParaRPr sz="22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文字：阶段1|在线监测"/>
          <p:cNvSpPr txBox="1"/>
          <p:nvPr/>
        </p:nvSpPr>
        <p:spPr>
          <a:xfrm>
            <a:off x="4333875" y="2628900"/>
            <a:ext cx="20383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阶段1|在线监测</a:t>
            </a:r>
            <a:endParaRPr sz="20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阶段2丨人工确认半自动"/>
          <p:cNvSpPr txBox="1"/>
          <p:nvPr/>
        </p:nvSpPr>
        <p:spPr>
          <a:xfrm>
            <a:off x="7258050" y="2638425"/>
            <a:ext cx="25717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65"/>
              </a:lnSpc>
              <a:spcBef>
                <a:spcPts val="0"/>
              </a:spcBef>
              <a:spcAft>
                <a:spcPts val="0"/>
              </a:spcAft>
            </a:pPr>
            <a:r>
              <a:rPr sz="18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阶段2丨人工确认半自动</a:t>
            </a:r>
            <a:endParaRPr sz="18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阶段3丨自适应闭环"/>
          <p:cNvSpPr txBox="1"/>
          <p:nvPr/>
        </p:nvSpPr>
        <p:spPr>
          <a:xfrm>
            <a:off x="10477500" y="2647950"/>
            <a:ext cx="21717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阶段3丨自适应闭环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完成第一批真实做青"/>
          <p:cNvSpPr txBox="1"/>
          <p:nvPr/>
        </p:nvSpPr>
        <p:spPr>
          <a:xfrm>
            <a:off x="13649325" y="3429000"/>
            <a:ext cx="1771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完成第一批真实做青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数据采集"/>
          <p:cNvSpPr txBox="1"/>
          <p:nvPr/>
        </p:nvSpPr>
        <p:spPr>
          <a:xfrm>
            <a:off x="13620750" y="371475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数据采集</a:t>
            </a:r>
            <a:endParaRPr sz="16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传感稳定性验证"/>
          <p:cNvSpPr txBox="1"/>
          <p:nvPr/>
        </p:nvSpPr>
        <p:spPr>
          <a:xfrm>
            <a:off x="4429125" y="4381500"/>
            <a:ext cx="1476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传感稳定性验证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系统生成做青建议"/>
          <p:cNvSpPr txBox="1"/>
          <p:nvPr/>
        </p:nvSpPr>
        <p:spPr>
          <a:xfrm>
            <a:off x="7658100" y="4381500"/>
            <a:ext cx="1638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系统生成做青建议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状态驱动工艺参数输出"/>
          <p:cNvSpPr txBox="1"/>
          <p:nvPr/>
        </p:nvSpPr>
        <p:spPr>
          <a:xfrm>
            <a:off x="10325100" y="4391025"/>
            <a:ext cx="2009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状态驱动工艺参数输出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建立验证用标准记录表"/>
          <p:cNvSpPr txBox="1"/>
          <p:nvPr/>
        </p:nvSpPr>
        <p:spPr>
          <a:xfrm>
            <a:off x="13649325" y="45339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建立验证用标准记录表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多源数据同步采集"/>
          <p:cNvSpPr txBox="1"/>
          <p:nvPr/>
        </p:nvSpPr>
        <p:spPr>
          <a:xfrm>
            <a:off x="4438650" y="4714875"/>
            <a:ext cx="1647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多源数据同步采集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师傅确认后执行"/>
          <p:cNvSpPr txBox="1"/>
          <p:nvPr/>
        </p:nvSpPr>
        <p:spPr>
          <a:xfrm>
            <a:off x="7648575" y="470535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师傅确认后执行</a:t>
            </a:r>
            <a:endParaRPr sz="15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在安全边界内自动控制"/>
          <p:cNvSpPr txBox="1"/>
          <p:nvPr/>
        </p:nvSpPr>
        <p:spPr>
          <a:xfrm>
            <a:off x="10353675" y="4724400"/>
            <a:ext cx="19716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在安全边界内自动控制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真实做青过程被动记录"/>
          <p:cNvSpPr txBox="1"/>
          <p:nvPr/>
        </p:nvSpPr>
        <p:spPr>
          <a:xfrm>
            <a:off x="4438650" y="5048250"/>
            <a:ext cx="2038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真实做青过程被动记录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记录建议与实际差异"/>
          <p:cNvSpPr txBox="1"/>
          <p:nvPr/>
        </p:nvSpPr>
        <p:spPr>
          <a:xfrm>
            <a:off x="7658100" y="5048250"/>
            <a:ext cx="18192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记录建议与实际差异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形成执行一反馈一再优化闭环"/>
          <p:cNvSpPr txBox="1"/>
          <p:nvPr/>
        </p:nvSpPr>
        <p:spPr>
          <a:xfrm>
            <a:off x="10353675" y="5067300"/>
            <a:ext cx="2533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形成执行一反馈一再优化闭环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为A/B/C对照试验"/>
          <p:cNvSpPr txBox="1"/>
          <p:nvPr/>
        </p:nvSpPr>
        <p:spPr>
          <a:xfrm>
            <a:off x="13630275" y="5305425"/>
            <a:ext cx="18097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10"/>
              </a:lnSpc>
              <a:spcBef>
                <a:spcPts val="0"/>
              </a:spcBef>
              <a:spcAft>
                <a:spcPts val="0"/>
              </a:spcAft>
            </a:pPr>
            <a:r>
              <a:rPr sz="181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为A/B/C对照试验</a:t>
            </a:r>
            <a:endParaRPr sz="181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做准备"/>
          <p:cNvSpPr txBox="1"/>
          <p:nvPr/>
        </p:nvSpPr>
        <p:spPr>
          <a:xfrm>
            <a:off x="13611225" y="5600700"/>
            <a:ext cx="7429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做准备</a:t>
            </a:r>
            <a:endParaRPr sz="17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验证逻辑"/>
          <p:cNvSpPr txBox="1"/>
          <p:nvPr/>
        </p:nvSpPr>
        <p:spPr>
          <a:xfrm>
            <a:off x="4029075" y="6153150"/>
            <a:ext cx="1066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验证逻辑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采得到"/>
          <p:cNvSpPr txBox="1"/>
          <p:nvPr/>
        </p:nvSpPr>
        <p:spPr>
          <a:xfrm>
            <a:off x="6143625" y="6143625"/>
            <a:ext cx="8191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sz="19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采得到</a:t>
            </a:r>
            <a:endParaRPr sz="19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判得对"/>
          <p:cNvSpPr txBox="1"/>
          <p:nvPr/>
        </p:nvSpPr>
        <p:spPr>
          <a:xfrm>
            <a:off x="8620125" y="6143625"/>
            <a:ext cx="8286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判得对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控得住"/>
          <p:cNvSpPr txBox="1"/>
          <p:nvPr/>
        </p:nvSpPr>
        <p:spPr>
          <a:xfrm>
            <a:off x="11201400" y="6143625"/>
            <a:ext cx="82867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控得住</a:t>
            </a:r>
            <a:endParaRPr sz="19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分阶段验证不是保守，而是为真实落地建立可信边界"/>
          <p:cNvSpPr txBox="1"/>
          <p:nvPr/>
        </p:nvSpPr>
        <p:spPr>
          <a:xfrm>
            <a:off x="6515100" y="7828085"/>
            <a:ext cx="56483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分阶段验证不是保守，而是为真实落地建立可信边界</a:t>
            </a:r>
            <a:endParaRPr sz="16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当前项目处于原型研发与真实数据采集准备阶段，第一阶段以旁路在线监测与状"/>
          <p:cNvSpPr txBox="1"/>
          <p:nvPr/>
        </p:nvSpPr>
        <p:spPr>
          <a:xfrm>
            <a:off x="4895850" y="8162925"/>
            <a:ext cx="92678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当前项目处于原型研发与真实数据采集准备阶段，第一阶段以旁路在线监测与状态评估为主，不直接接管生产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可编辑框架"/>
          <p:cNvSpPr/>
          <p:nvPr/>
        </p:nvSpPr>
        <p:spPr>
          <a:xfrm>
            <a:off x="4476750" y="5457825"/>
            <a:ext cx="1647825" cy="342900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文字：当前阶段"/>
          <p:cNvSpPr txBox="1"/>
          <p:nvPr/>
        </p:nvSpPr>
        <p:spPr>
          <a:xfrm>
            <a:off x="4552950" y="5457825"/>
            <a:ext cx="14954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当前阶段</a:t>
            </a:r>
            <a:endParaRPr sz="187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3134975" y="5305425"/>
            <a:ext cx="323850" cy="323850"/>
          </a:xfrm>
          <a:prstGeom prst="ellipse">
            <a:avLst/>
          </a:prstGeom>
          <a:solidFill>
            <a:srgbClr val="07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文字：3"/>
          <p:cNvSpPr txBox="1"/>
          <p:nvPr/>
        </p:nvSpPr>
        <p:spPr>
          <a:xfrm>
            <a:off x="13144500" y="5305425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endParaRPr sz="2025" b="0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5390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3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13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4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04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实施与验证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48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实验路径、对照验证&#10;与品质评价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实验路径、对照验证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与品质评价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不仅要看模型表现，&#10; 更要看成茶结果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“不仅要看模型表现，</a:t>
            </a:r>
            <a:b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更要看成茶结果。”</a:t>
            </a:r>
            <a:endParaRPr sz="21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4.2 A/B/C 对照试验设计"/>
          <p:cNvSpPr txBox="1"/>
          <p:nvPr/>
        </p:nvSpPr>
        <p:spPr>
          <a:xfrm>
            <a:off x="3867150" y="9810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4.2 A/B/C 对照试验设计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4010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用同原料、同后处理、不同做青策略，验证系统是否真正有效"/>
          <p:cNvSpPr txBox="1"/>
          <p:nvPr/>
        </p:nvSpPr>
        <p:spPr>
          <a:xfrm>
            <a:off x="8572500" y="1038225"/>
            <a:ext cx="69342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20"/>
              </a:lnSpc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用同原料、同后处理、不同做青策略，验证系统是否真正有效</a:t>
            </a:r>
            <a:endParaRPr sz="202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2428875"/>
            <a:ext cx="36385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772400" y="2428875"/>
            <a:ext cx="36004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1639550" y="2428875"/>
            <a:ext cx="3905250" cy="5238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86200" y="5924550"/>
            <a:ext cx="330517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8001000" y="5924550"/>
            <a:ext cx="303847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1906250" y="5924550"/>
            <a:ext cx="3514725" cy="4000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3867150" y="8153400"/>
            <a:ext cx="11677650" cy="266700"/>
          </a:xfrm>
          <a:prstGeom prst="rect">
            <a:avLst/>
          </a:prstGeom>
          <a:solidFill>
            <a:srgbClr val="F1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独立图标或流程线" descr="p13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3181350"/>
            <a:ext cx="180975" cy="180975"/>
          </a:xfrm>
          <a:prstGeom prst="rect">
            <a:avLst/>
          </a:prstGeom>
        </p:spPr>
      </p:pic>
      <p:pic>
        <p:nvPicPr>
          <p:cNvPr id="41" name="独立图标或流程线" descr="p13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475" y="3190875"/>
            <a:ext cx="104775" cy="161925"/>
          </a:xfrm>
          <a:prstGeom prst="rect">
            <a:avLst/>
          </a:prstGeom>
        </p:spPr>
      </p:pic>
      <p:pic>
        <p:nvPicPr>
          <p:cNvPr id="42" name="独立图标或流程线" descr="p13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8300" y="3200400"/>
            <a:ext cx="180975" cy="180975"/>
          </a:xfrm>
          <a:prstGeom prst="rect">
            <a:avLst/>
          </a:prstGeom>
        </p:spPr>
      </p:pic>
      <p:pic>
        <p:nvPicPr>
          <p:cNvPr id="43" name="独立图标或流程线" descr="p13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219450"/>
            <a:ext cx="676275" cy="742950"/>
          </a:xfrm>
          <a:prstGeom prst="rect">
            <a:avLst/>
          </a:prstGeom>
        </p:spPr>
      </p:pic>
      <p:pic>
        <p:nvPicPr>
          <p:cNvPr id="44" name="独立图标或流程线" descr="p13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4" y="3276600"/>
            <a:ext cx="676275" cy="647700"/>
          </a:xfrm>
          <a:prstGeom prst="rect">
            <a:avLst/>
          </a:prstGeom>
        </p:spPr>
      </p:pic>
      <p:pic>
        <p:nvPicPr>
          <p:cNvPr id="45" name="独立图标或流程线" descr="p13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5775" y="3276600"/>
            <a:ext cx="685800" cy="657225"/>
          </a:xfrm>
          <a:prstGeom prst="rect">
            <a:avLst/>
          </a:prstGeom>
        </p:spPr>
      </p:pic>
      <p:pic>
        <p:nvPicPr>
          <p:cNvPr id="46" name="独立图标或流程线" descr="p13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0" y="3514725"/>
            <a:ext cx="180975" cy="180975"/>
          </a:xfrm>
          <a:prstGeom prst="rect">
            <a:avLst/>
          </a:prstGeom>
        </p:spPr>
      </p:pic>
      <p:pic>
        <p:nvPicPr>
          <p:cNvPr id="47" name="独立图标或流程线" descr="p13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475" y="3514725"/>
            <a:ext cx="133350" cy="180975"/>
          </a:xfrm>
          <a:prstGeom prst="rect">
            <a:avLst/>
          </a:prstGeom>
        </p:spPr>
      </p:pic>
      <p:pic>
        <p:nvPicPr>
          <p:cNvPr id="48" name="独立图标或流程线" descr="p13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68300" y="3524250"/>
            <a:ext cx="180975" cy="180975"/>
          </a:xfrm>
          <a:prstGeom prst="rect">
            <a:avLst/>
          </a:prstGeom>
        </p:spPr>
      </p:pic>
      <p:pic>
        <p:nvPicPr>
          <p:cNvPr id="49" name="独立图标或流程线" descr="p13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0" y="3848099"/>
            <a:ext cx="180975" cy="190500"/>
          </a:xfrm>
          <a:prstGeom prst="rect">
            <a:avLst/>
          </a:prstGeom>
        </p:spPr>
      </p:pic>
      <p:pic>
        <p:nvPicPr>
          <p:cNvPr id="50" name="独立图标或流程线" descr="p13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4475" y="3848099"/>
            <a:ext cx="152400" cy="190500"/>
          </a:xfrm>
          <a:prstGeom prst="rect">
            <a:avLst/>
          </a:prstGeom>
        </p:spPr>
      </p:pic>
      <p:pic>
        <p:nvPicPr>
          <p:cNvPr id="51" name="独立图标或流程线" descr="p13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68300" y="3848099"/>
            <a:ext cx="180975" cy="190500"/>
          </a:xfrm>
          <a:prstGeom prst="rect">
            <a:avLst/>
          </a:prstGeom>
        </p:spPr>
      </p:pic>
      <p:pic>
        <p:nvPicPr>
          <p:cNvPr id="52" name="独立图标或流程线" descr="p13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49050" y="4067175"/>
            <a:ext cx="85725" cy="123824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5667375" y="4476750"/>
            <a:ext cx="98869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独立图标或流程线" descr="p13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10025" y="4829175"/>
            <a:ext cx="390525" cy="381000"/>
          </a:xfrm>
          <a:prstGeom prst="rect">
            <a:avLst/>
          </a:prstGeom>
        </p:spPr>
      </p:pic>
      <p:pic>
        <p:nvPicPr>
          <p:cNvPr id="55" name="独立图标或流程线" descr="p13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6975" y="4838700"/>
            <a:ext cx="371475" cy="400050"/>
          </a:xfrm>
          <a:prstGeom prst="rect">
            <a:avLst/>
          </a:prstGeom>
        </p:spPr>
      </p:pic>
      <p:pic>
        <p:nvPicPr>
          <p:cNvPr id="56" name="独立图标或流程线" descr="p13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4875" y="4829175"/>
            <a:ext cx="400050" cy="409575"/>
          </a:xfrm>
          <a:prstGeom prst="rect">
            <a:avLst/>
          </a:prstGeom>
        </p:spPr>
      </p:pic>
      <p:pic>
        <p:nvPicPr>
          <p:cNvPr id="57" name="独立图标或流程线" descr="p13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34725" y="4838700"/>
            <a:ext cx="447675" cy="381000"/>
          </a:xfrm>
          <a:prstGeom prst="rect">
            <a:avLst/>
          </a:prstGeom>
        </p:spPr>
      </p:pic>
      <p:pic>
        <p:nvPicPr>
          <p:cNvPr id="58" name="独立图标或流程线" descr="p13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06450" y="4829175"/>
            <a:ext cx="352425" cy="409575"/>
          </a:xfrm>
          <a:prstGeom prst="rect">
            <a:avLst/>
          </a:prstGeom>
        </p:spPr>
      </p:pic>
      <p:pic>
        <p:nvPicPr>
          <p:cNvPr id="59" name="独立图标或流程线" descr="p13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91200" y="4886325"/>
            <a:ext cx="171450" cy="295275"/>
          </a:xfrm>
          <a:prstGeom prst="rect">
            <a:avLst/>
          </a:prstGeom>
        </p:spPr>
      </p:pic>
      <p:pic>
        <p:nvPicPr>
          <p:cNvPr id="60" name="独立图标或流程线" descr="p13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8150" y="4886325"/>
            <a:ext cx="171450" cy="295275"/>
          </a:xfrm>
          <a:prstGeom prst="rect">
            <a:avLst/>
          </a:prstGeom>
        </p:spPr>
      </p:pic>
      <p:pic>
        <p:nvPicPr>
          <p:cNvPr id="61" name="独立图标或流程线" descr="p13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77525" y="4886325"/>
            <a:ext cx="171450" cy="295275"/>
          </a:xfrm>
          <a:prstGeom prst="rect">
            <a:avLst/>
          </a:prstGeom>
        </p:spPr>
      </p:pic>
      <p:pic>
        <p:nvPicPr>
          <p:cNvPr id="62" name="独立图标或流程线" descr="p13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906375" y="4886325"/>
            <a:ext cx="171450" cy="295275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667375" y="5695950"/>
            <a:ext cx="98869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独立图标或流程线" descr="p13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58175" y="5905500"/>
            <a:ext cx="333375" cy="390525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7596188" y="5924550"/>
            <a:ext cx="0" cy="133350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独立图标或流程线" descr="p13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439525" y="5915025"/>
            <a:ext cx="85725" cy="85725"/>
          </a:xfrm>
          <a:prstGeom prst="rect">
            <a:avLst/>
          </a:prstGeom>
        </p:spPr>
      </p:pic>
      <p:pic>
        <p:nvPicPr>
          <p:cNvPr id="67" name="独立图标或流程线" descr="p13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182475" y="5915025"/>
            <a:ext cx="333375" cy="409575"/>
          </a:xfrm>
          <a:prstGeom prst="rect">
            <a:avLst/>
          </a:prstGeom>
        </p:spPr>
      </p:pic>
      <p:pic>
        <p:nvPicPr>
          <p:cNvPr id="68" name="独立图标或流程线" descr="p13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1950" y="5943600"/>
            <a:ext cx="342900" cy="352425"/>
          </a:xfrm>
          <a:prstGeom prst="rect">
            <a:avLst/>
          </a:prstGeom>
        </p:spPr>
      </p:pic>
      <p:pic>
        <p:nvPicPr>
          <p:cNvPr id="69" name="独立图标或流程线" descr="p13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38625" y="6438900"/>
            <a:ext cx="171450" cy="180975"/>
          </a:xfrm>
          <a:prstGeom prst="rect">
            <a:avLst/>
          </a:prstGeom>
        </p:spPr>
      </p:pic>
      <p:pic>
        <p:nvPicPr>
          <p:cNvPr id="70" name="独立图标或流程线" descr="p13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34375" y="6438900"/>
            <a:ext cx="171450" cy="180975"/>
          </a:xfrm>
          <a:prstGeom prst="rect">
            <a:avLst/>
          </a:prstGeom>
        </p:spPr>
      </p:pic>
      <p:pic>
        <p:nvPicPr>
          <p:cNvPr id="71" name="独立图标或流程线" descr="p13_icon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306300" y="6438900"/>
            <a:ext cx="180975" cy="180975"/>
          </a:xfrm>
          <a:prstGeom prst="rect">
            <a:avLst/>
          </a:prstGeom>
        </p:spPr>
      </p:pic>
      <p:pic>
        <p:nvPicPr>
          <p:cNvPr id="72" name="独立图标或流程线" descr="p13_icon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439525" y="6629400"/>
            <a:ext cx="85725" cy="180975"/>
          </a:xfrm>
          <a:prstGeom prst="rect">
            <a:avLst/>
          </a:prstGeom>
        </p:spPr>
      </p:pic>
      <p:pic>
        <p:nvPicPr>
          <p:cNvPr id="73" name="独立图标或流程线" descr="p13_icon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38625" y="6724650"/>
            <a:ext cx="171450" cy="190500"/>
          </a:xfrm>
          <a:prstGeom prst="rect">
            <a:avLst/>
          </a:prstGeom>
        </p:spPr>
      </p:pic>
      <p:pic>
        <p:nvPicPr>
          <p:cNvPr id="74" name="独立图标或流程线" descr="p13_icon3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34375" y="6724650"/>
            <a:ext cx="171450" cy="180975"/>
          </a:xfrm>
          <a:prstGeom prst="rect">
            <a:avLst/>
          </a:prstGeom>
        </p:spPr>
      </p:pic>
      <p:pic>
        <p:nvPicPr>
          <p:cNvPr id="75" name="独立图标或流程线" descr="p13_icon3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306300" y="6734175"/>
            <a:ext cx="180975" cy="180975"/>
          </a:xfrm>
          <a:prstGeom prst="rect">
            <a:avLst/>
          </a:prstGeom>
        </p:spPr>
      </p:pic>
      <p:pic>
        <p:nvPicPr>
          <p:cNvPr id="76" name="独立图标或流程线" descr="p13_icon3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439525" y="6981825"/>
            <a:ext cx="85725" cy="285750"/>
          </a:xfrm>
          <a:prstGeom prst="rect">
            <a:avLst/>
          </a:prstGeom>
        </p:spPr>
      </p:pic>
      <p:pic>
        <p:nvPicPr>
          <p:cNvPr id="77" name="独立图标或流程线" descr="p13_icon3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38625" y="7019925"/>
            <a:ext cx="171450" cy="180975"/>
          </a:xfrm>
          <a:prstGeom prst="rect">
            <a:avLst/>
          </a:prstGeom>
        </p:spPr>
      </p:pic>
      <p:pic>
        <p:nvPicPr>
          <p:cNvPr id="78" name="独立图标或流程线" descr="p13_icon3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34375" y="7019925"/>
            <a:ext cx="171450" cy="180975"/>
          </a:xfrm>
          <a:prstGeom prst="rect">
            <a:avLst/>
          </a:prstGeom>
        </p:spPr>
      </p:pic>
      <p:pic>
        <p:nvPicPr>
          <p:cNvPr id="79" name="独立图标或流程线" descr="p13_icon3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306300" y="7019925"/>
            <a:ext cx="180975" cy="180975"/>
          </a:xfrm>
          <a:prstGeom prst="rect">
            <a:avLst/>
          </a:prstGeom>
        </p:spPr>
      </p:pic>
      <p:sp>
        <p:nvSpPr>
          <p:cNvPr id="80" name="文字：项目将在相同原料、相同后处理条件下，设置A/B/C三组对照试验，通过过"/>
          <p:cNvSpPr txBox="1"/>
          <p:nvPr/>
        </p:nvSpPr>
        <p:spPr>
          <a:xfrm>
            <a:off x="3886200" y="1628775"/>
            <a:ext cx="110490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项目将在相同原料、相同后处理条件下，设置A/B/C三组对照试验，通过过程数据与成茶品质的综合评价，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验证智能化系统是否能够提升做青过程的质量稳定性与工艺可控性。"/>
          <p:cNvSpPr txBox="1"/>
          <p:nvPr/>
        </p:nvSpPr>
        <p:spPr>
          <a:xfrm>
            <a:off x="3886200" y="1971675"/>
            <a:ext cx="69532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验证智能化系统是否能够提升做青过程的质量稳定性与工艺可控性。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A组丨老师傅传统做青"/>
          <p:cNvSpPr txBox="1"/>
          <p:nvPr/>
        </p:nvSpPr>
        <p:spPr>
          <a:xfrm>
            <a:off x="4095750" y="2514600"/>
            <a:ext cx="25622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A组丨老师傅传统做青</a:t>
            </a:r>
            <a:endParaRPr sz="20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B组丨固定程序自动做青"/>
          <p:cNvSpPr txBox="1"/>
          <p:nvPr/>
        </p:nvSpPr>
        <p:spPr>
          <a:xfrm>
            <a:off x="7991475" y="2514600"/>
            <a:ext cx="28384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206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B组丨固定程序自动做青</a:t>
            </a:r>
            <a:endParaRPr sz="206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C组丨青韵智控状态驱动做青"/>
          <p:cNvSpPr txBox="1"/>
          <p:nvPr/>
        </p:nvSpPr>
        <p:spPr>
          <a:xfrm>
            <a:off x="11839575" y="251460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35"/>
              </a:lnSpc>
              <a:spcBef>
                <a:spcPts val="0"/>
              </a:spcBef>
              <a:spcAft>
                <a:spcPts val="0"/>
              </a:spcAft>
            </a:pPr>
            <a:r>
              <a:rPr sz="20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C组丨青韵智控状态驱动做青</a:t>
            </a:r>
            <a:endParaRPr sz="20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依经验判断翻动时机"/>
          <p:cNvSpPr txBox="1"/>
          <p:nvPr/>
        </p:nvSpPr>
        <p:spPr>
          <a:xfrm>
            <a:off x="5514975" y="3152775"/>
            <a:ext cx="1866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依经验判断翻动时机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• 按预设时间表执行"/>
          <p:cNvSpPr txBox="1"/>
          <p:nvPr/>
        </p:nvSpPr>
        <p:spPr>
          <a:xfrm>
            <a:off x="9229725" y="3152775"/>
            <a:ext cx="1819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按预设时间表执行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多模态感知状态"/>
          <p:cNvSpPr txBox="1"/>
          <p:nvPr/>
        </p:nvSpPr>
        <p:spPr>
          <a:xfrm>
            <a:off x="13325475" y="3162300"/>
            <a:ext cx="15049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多模态感知状态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人工控制强度与静置"/>
          <p:cNvSpPr txBox="1"/>
          <p:nvPr/>
        </p:nvSpPr>
        <p:spPr>
          <a:xfrm>
            <a:off x="5505450" y="3486150"/>
            <a:ext cx="1876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人工控制强度与静置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• 参数固定不随状态变化"/>
          <p:cNvSpPr txBox="1"/>
          <p:nvPr/>
        </p:nvSpPr>
        <p:spPr>
          <a:xfrm>
            <a:off x="9258300" y="3486150"/>
            <a:ext cx="21621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参数固定不随状态变化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动态生成做青建议/参数"/>
          <p:cNvSpPr txBox="1"/>
          <p:nvPr/>
        </p:nvSpPr>
        <p:spPr>
          <a:xfrm>
            <a:off x="13344525" y="3495675"/>
            <a:ext cx="2152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动态生成做青建议/参数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作为品质基准组"/>
          <p:cNvSpPr txBox="1"/>
          <p:nvPr/>
        </p:nvSpPr>
        <p:spPr>
          <a:xfrm>
            <a:off x="5514975" y="3819525"/>
            <a:ext cx="14763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作为品质基准组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作为自动化对照组"/>
          <p:cNvSpPr txBox="1"/>
          <p:nvPr/>
        </p:nvSpPr>
        <p:spPr>
          <a:xfrm>
            <a:off x="9277350" y="3810000"/>
            <a:ext cx="1781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作为自动化对照组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作为核心验证组"/>
          <p:cNvSpPr txBox="1"/>
          <p:nvPr/>
        </p:nvSpPr>
        <p:spPr>
          <a:xfrm>
            <a:off x="13344525" y="3810000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作为核心验证组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统一控制条件"/>
          <p:cNvSpPr txBox="1"/>
          <p:nvPr/>
        </p:nvSpPr>
        <p:spPr>
          <a:xfrm>
            <a:off x="3857625" y="4276725"/>
            <a:ext cx="18097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60"/>
              </a:lnSpc>
              <a:spcBef>
                <a:spcPts val="0"/>
              </a:spcBef>
              <a:spcAft>
                <a:spcPts val="0"/>
              </a:spcAft>
            </a:pPr>
            <a:r>
              <a:rPr sz="22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统一控制条件</a:t>
            </a:r>
            <a:endParaRPr sz="22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同品种鲜叶"/>
          <p:cNvSpPr txBox="1"/>
          <p:nvPr/>
        </p:nvSpPr>
        <p:spPr>
          <a:xfrm>
            <a:off x="4638675" y="4905375"/>
            <a:ext cx="1028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同品种鲜叶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同采摘标准"/>
          <p:cNvSpPr txBox="1"/>
          <p:nvPr/>
        </p:nvSpPr>
        <p:spPr>
          <a:xfrm>
            <a:off x="6896100" y="4914900"/>
            <a:ext cx="10477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同采摘标准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同杀青揉捻烘焙"/>
          <p:cNvSpPr txBox="1"/>
          <p:nvPr/>
        </p:nvSpPr>
        <p:spPr>
          <a:xfrm>
            <a:off x="9163050" y="4924425"/>
            <a:ext cx="1390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同杀青揉捻烘焙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随机分组"/>
          <p:cNvSpPr txBox="1"/>
          <p:nvPr/>
        </p:nvSpPr>
        <p:spPr>
          <a:xfrm>
            <a:off x="11839575" y="4905375"/>
            <a:ext cx="8763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随机分组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同一评价流程"/>
          <p:cNvSpPr txBox="1"/>
          <p:nvPr/>
        </p:nvSpPr>
        <p:spPr>
          <a:xfrm>
            <a:off x="14201775" y="4914900"/>
            <a:ext cx="12287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同一评价流程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评价指标体系"/>
          <p:cNvSpPr txBox="1"/>
          <p:nvPr/>
        </p:nvSpPr>
        <p:spPr>
          <a:xfrm>
            <a:off x="3876675" y="5495925"/>
            <a:ext cx="17716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评价指标体系</a:t>
            </a:r>
            <a:endParaRPr sz="20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过程指标"/>
          <p:cNvSpPr txBox="1"/>
          <p:nvPr/>
        </p:nvSpPr>
        <p:spPr>
          <a:xfrm>
            <a:off x="4514850" y="5943600"/>
            <a:ext cx="1257300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过程指标</a:t>
            </a:r>
            <a:endParaRPr sz="21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品质指标"/>
          <p:cNvSpPr txBox="1"/>
          <p:nvPr/>
        </p:nvSpPr>
        <p:spPr>
          <a:xfrm>
            <a:off x="8801100" y="5962650"/>
            <a:ext cx="10382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品质指标</a:t>
            </a:r>
            <a:endParaRPr sz="187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验证输出"/>
          <p:cNvSpPr txBox="1"/>
          <p:nvPr/>
        </p:nvSpPr>
        <p:spPr>
          <a:xfrm>
            <a:off x="12725400" y="5972175"/>
            <a:ext cx="102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验证输出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状态识别一致性"/>
          <p:cNvSpPr txBox="1"/>
          <p:nvPr/>
        </p:nvSpPr>
        <p:spPr>
          <a:xfrm>
            <a:off x="4514850" y="64008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状态识别一致性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感官审评"/>
          <p:cNvSpPr txBox="1"/>
          <p:nvPr/>
        </p:nvSpPr>
        <p:spPr>
          <a:xfrm>
            <a:off x="8610600" y="6362700"/>
            <a:ext cx="9525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05"/>
              </a:lnSpc>
              <a:spcBef>
                <a:spcPts val="0"/>
              </a:spcBef>
              <a:spcAft>
                <a:spcPts val="0"/>
              </a:spcAft>
            </a:pPr>
            <a:r>
              <a:rPr sz="170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感官审评</a:t>
            </a:r>
            <a:endParaRPr sz="170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A/B/C结果对比"/>
          <p:cNvSpPr txBox="1"/>
          <p:nvPr/>
        </p:nvSpPr>
        <p:spPr>
          <a:xfrm>
            <a:off x="12592050" y="6381750"/>
            <a:ext cx="16002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18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A/B/C结果对比</a:t>
            </a:r>
            <a:endParaRPr sz="18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做青时机偏差"/>
          <p:cNvSpPr txBox="1"/>
          <p:nvPr/>
        </p:nvSpPr>
        <p:spPr>
          <a:xfrm>
            <a:off x="4505325" y="66865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做青时机偏差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香气与滋味评分"/>
          <p:cNvSpPr txBox="1"/>
          <p:nvPr/>
        </p:nvSpPr>
        <p:spPr>
          <a:xfrm>
            <a:off x="8629650" y="6686550"/>
            <a:ext cx="1514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香气与滋味评分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是否降低波动"/>
          <p:cNvSpPr txBox="1"/>
          <p:nvPr/>
        </p:nvSpPr>
        <p:spPr>
          <a:xfrm>
            <a:off x="12601575" y="66865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是否降低波动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含水率/环境记录"/>
          <p:cNvSpPr txBox="1"/>
          <p:nvPr/>
        </p:nvSpPr>
        <p:spPr>
          <a:xfrm>
            <a:off x="4514850" y="6972300"/>
            <a:ext cx="16383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6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含水率/环境记录</a:t>
            </a:r>
            <a:endParaRPr sz="16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批次稳定性"/>
          <p:cNvSpPr txBox="1"/>
          <p:nvPr/>
        </p:nvSpPr>
        <p:spPr>
          <a:xfrm>
            <a:off x="8620125" y="6972300"/>
            <a:ext cx="1133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批次稳定性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是否具备推广价值"/>
          <p:cNvSpPr txBox="1"/>
          <p:nvPr/>
        </p:nvSpPr>
        <p:spPr>
          <a:xfrm>
            <a:off x="12601575" y="6991350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是否具备推广价值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真正的验证，不是参数更复杂，而是最终茶更稳定、更可复制"/>
          <p:cNvSpPr txBox="1"/>
          <p:nvPr/>
        </p:nvSpPr>
        <p:spPr>
          <a:xfrm>
            <a:off x="6296025" y="7822266"/>
            <a:ext cx="6486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真正的验证，不是参数更复杂，而是最终茶更稳定、更可复制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当前以试验设计与验证框架展示为主，具体结果待实测数据形成后补充。"/>
          <p:cNvSpPr txBox="1"/>
          <p:nvPr/>
        </p:nvSpPr>
        <p:spPr>
          <a:xfrm>
            <a:off x="6734175" y="8162925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当前以试验设计与验证框架展示为主，具体结果待实测数据形成后补充。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873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4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14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5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商业模式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应用场景、目标客户&#10;与商业路径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与商业路径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让好技术真正走进产区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“让好技术真正走进产区。”</a:t>
            </a:r>
            <a:endParaRPr sz="178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5.1 商业模式"/>
          <p:cNvSpPr txBox="1"/>
          <p:nvPr/>
        </p:nvSpPr>
        <p:spPr>
          <a:xfrm>
            <a:off x="3867150" y="981075"/>
            <a:ext cx="2447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 商业模式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面向茶产业的可持续落地路径"/>
          <p:cNvSpPr txBox="1"/>
          <p:nvPr/>
        </p:nvSpPr>
        <p:spPr>
          <a:xfrm>
            <a:off x="6572250" y="1038225"/>
            <a:ext cx="89344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面向茶产业的可持续落地路径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7839075" y="3019425"/>
            <a:ext cx="3705225" cy="7810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7839075" y="3924300"/>
            <a:ext cx="3705225" cy="8858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7839075" y="4943475"/>
            <a:ext cx="3705225" cy="1114425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67150" y="2428875"/>
            <a:ext cx="3552825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839075" y="2428875"/>
            <a:ext cx="3790950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11944350" y="2428875"/>
            <a:ext cx="3609975" cy="45720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4543425" y="6715125"/>
            <a:ext cx="2619375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8391525" y="6715125"/>
            <a:ext cx="276225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12687300" y="6715125"/>
            <a:ext cx="2828925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独立照片或曲线图（内部为像素）" descr="p14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074" y="3019425"/>
            <a:ext cx="1743075" cy="781050"/>
          </a:xfrm>
          <a:prstGeom prst="rect">
            <a:avLst/>
          </a:prstGeom>
        </p:spPr>
      </p:pic>
      <p:pic>
        <p:nvPicPr>
          <p:cNvPr id="43" name="独立照片或曲线图（内部为像素）" descr="p14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4" y="3924300"/>
            <a:ext cx="1743075" cy="885825"/>
          </a:xfrm>
          <a:prstGeom prst="rect">
            <a:avLst/>
          </a:prstGeom>
        </p:spPr>
      </p:pic>
      <p:pic>
        <p:nvPicPr>
          <p:cNvPr id="44" name="独立照片或曲线图（内部为像素）" descr="p14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074" y="4943475"/>
            <a:ext cx="1743075" cy="1114425"/>
          </a:xfrm>
          <a:prstGeom prst="rect">
            <a:avLst/>
          </a:prstGeom>
        </p:spPr>
      </p:pic>
      <p:cxnSp>
        <p:nvCxnSpPr>
          <p:cNvPr id="45" name="Connector 44"/>
          <p:cNvCxnSpPr/>
          <p:nvPr/>
        </p:nvCxnSpPr>
        <p:spPr>
          <a:xfrm>
            <a:off x="7605712" y="2400300"/>
            <a:ext cx="0" cy="371475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独立图标或流程线" descr="p14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4325" y="2447925"/>
            <a:ext cx="85725" cy="590550"/>
          </a:xfrm>
          <a:prstGeom prst="rect">
            <a:avLst/>
          </a:prstGeom>
        </p:spPr>
      </p:pic>
      <p:pic>
        <p:nvPicPr>
          <p:cNvPr id="47" name="独立图标或流程线" descr="p14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4375" y="3095625"/>
            <a:ext cx="419100" cy="447675"/>
          </a:xfrm>
          <a:prstGeom prst="rect">
            <a:avLst/>
          </a:prstGeom>
        </p:spPr>
      </p:pic>
      <p:pic>
        <p:nvPicPr>
          <p:cNvPr id="48" name="独立图标或流程线" descr="p14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225" y="3114675"/>
            <a:ext cx="409575" cy="428625"/>
          </a:xfrm>
          <a:prstGeom prst="rect">
            <a:avLst/>
          </a:prstGeom>
        </p:spPr>
      </p:pic>
      <p:pic>
        <p:nvPicPr>
          <p:cNvPr id="49" name="独立图标或流程线" descr="p14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699" y="3876674"/>
            <a:ext cx="428625" cy="476250"/>
          </a:xfrm>
          <a:prstGeom prst="rect">
            <a:avLst/>
          </a:prstGeom>
        </p:spPr>
      </p:pic>
      <p:pic>
        <p:nvPicPr>
          <p:cNvPr id="50" name="独立图标或流程线" descr="p14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4375" y="3895725"/>
            <a:ext cx="419100" cy="428625"/>
          </a:xfrm>
          <a:prstGeom prst="rect">
            <a:avLst/>
          </a:prstGeom>
        </p:spPr>
      </p:pic>
      <p:pic>
        <p:nvPicPr>
          <p:cNvPr id="51" name="独立图标或流程线" descr="p14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3425" y="4705350"/>
            <a:ext cx="371475" cy="428625"/>
          </a:xfrm>
          <a:prstGeom prst="rect">
            <a:avLst/>
          </a:prstGeom>
        </p:spPr>
      </p:pic>
      <p:pic>
        <p:nvPicPr>
          <p:cNvPr id="52" name="独立图标或流程线" descr="p14_icon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7175" y="4714875"/>
            <a:ext cx="457200" cy="400050"/>
          </a:xfrm>
          <a:prstGeom prst="rect">
            <a:avLst/>
          </a:prstGeom>
        </p:spPr>
      </p:pic>
      <p:pic>
        <p:nvPicPr>
          <p:cNvPr id="53" name="独立图标或流程线" descr="p14_icon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76699" y="5495925"/>
            <a:ext cx="438150" cy="447675"/>
          </a:xfrm>
          <a:prstGeom prst="rect">
            <a:avLst/>
          </a:prstGeom>
        </p:spPr>
      </p:pic>
      <p:pic>
        <p:nvPicPr>
          <p:cNvPr id="54" name="独立图标或流程线" descr="p14_icon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77700" y="5553075"/>
            <a:ext cx="552450" cy="390525"/>
          </a:xfrm>
          <a:prstGeom prst="rect">
            <a:avLst/>
          </a:prstGeom>
        </p:spPr>
      </p:pic>
      <p:cxnSp>
        <p:nvCxnSpPr>
          <p:cNvPr id="55" name="Connector 54"/>
          <p:cNvCxnSpPr/>
          <p:nvPr/>
        </p:nvCxnSpPr>
        <p:spPr>
          <a:xfrm>
            <a:off x="5181600" y="6419850"/>
            <a:ext cx="1038225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独立图标或流程线" descr="p14_icon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4" y="6838950"/>
            <a:ext cx="428625" cy="438150"/>
          </a:xfrm>
          <a:prstGeom prst="rect">
            <a:avLst/>
          </a:prstGeom>
        </p:spPr>
      </p:pic>
      <p:pic>
        <p:nvPicPr>
          <p:cNvPr id="57" name="独立图标或流程线" descr="p14_icon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2900" y="6829425"/>
            <a:ext cx="400050" cy="447675"/>
          </a:xfrm>
          <a:prstGeom prst="rect">
            <a:avLst/>
          </a:prstGeom>
        </p:spPr>
      </p:pic>
      <p:pic>
        <p:nvPicPr>
          <p:cNvPr id="58" name="独立图标或流程线" descr="p14_icon1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58650" y="6829425"/>
            <a:ext cx="419100" cy="447675"/>
          </a:xfrm>
          <a:prstGeom prst="rect">
            <a:avLst/>
          </a:prstGeom>
        </p:spPr>
      </p:pic>
      <p:pic>
        <p:nvPicPr>
          <p:cNvPr id="59" name="独立图标或流程线" descr="p14_icon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81874" y="6905625"/>
            <a:ext cx="190500" cy="314325"/>
          </a:xfrm>
          <a:prstGeom prst="rect">
            <a:avLst/>
          </a:prstGeom>
        </p:spPr>
      </p:pic>
      <p:pic>
        <p:nvPicPr>
          <p:cNvPr id="60" name="独立图标或流程线" descr="p14_icon1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77625" y="6905625"/>
            <a:ext cx="190500" cy="314325"/>
          </a:xfrm>
          <a:prstGeom prst="rect">
            <a:avLst/>
          </a:prstGeom>
        </p:spPr>
      </p:pic>
      <p:pic>
        <p:nvPicPr>
          <p:cNvPr id="61" name="独立图标或流程线" descr="p14_icon1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81425" y="7410449"/>
            <a:ext cx="228600" cy="152400"/>
          </a:xfrm>
          <a:prstGeom prst="rect">
            <a:avLst/>
          </a:prstGeom>
        </p:spPr>
      </p:pic>
      <p:pic>
        <p:nvPicPr>
          <p:cNvPr id="62" name="独立图标或流程线" descr="p14_icon1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44800" y="7448550"/>
            <a:ext cx="114300" cy="114300"/>
          </a:xfrm>
          <a:prstGeom prst="rect">
            <a:avLst/>
          </a:prstGeom>
        </p:spPr>
      </p:pic>
      <p:sp>
        <p:nvSpPr>
          <p:cNvPr id="63" name="文字：青韵智控面向凤凰单丛及名优茶做青场景，提供集感知硬件、决策软件与工艺服"/>
          <p:cNvSpPr txBox="1"/>
          <p:nvPr/>
        </p:nvSpPr>
        <p:spPr>
          <a:xfrm>
            <a:off x="3867150" y="1619250"/>
            <a:ext cx="110204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青韵智控面向凤凰单丛及名优茶做青场景，提供集感知硬件、决策软件与工艺服务于一体的整体解决方案，</a:t>
            </a:r>
            <a:endParaRPr sz="18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字：从示范产线起步，逐步向区域化、产业化服务落地，助力传统制茶向智能化、标"/>
          <p:cNvSpPr txBox="1"/>
          <p:nvPr/>
        </p:nvSpPr>
        <p:spPr>
          <a:xfrm>
            <a:off x="3876675" y="1952625"/>
            <a:ext cx="10325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从示范产线起步，逐步向区域化、产业化服务落地，助力传统制茶向智能化、标准化、可持续发展。</a:t>
            </a:r>
            <a:endParaRPr sz="18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字：目标客户"/>
          <p:cNvSpPr txBox="1"/>
          <p:nvPr/>
        </p:nvSpPr>
        <p:spPr>
          <a:xfrm>
            <a:off x="4133850" y="2476500"/>
            <a:ext cx="12668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目标客户</a:t>
            </a:r>
            <a:endParaRPr sz="232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文字：应用场景"/>
          <p:cNvSpPr txBox="1"/>
          <p:nvPr/>
        </p:nvSpPr>
        <p:spPr>
          <a:xfrm>
            <a:off x="8105775" y="2466975"/>
            <a:ext cx="12763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sz="234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</a:t>
            </a:r>
            <a:endParaRPr sz="234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文字：盈利模式"/>
          <p:cNvSpPr txBox="1"/>
          <p:nvPr/>
        </p:nvSpPr>
        <p:spPr>
          <a:xfrm>
            <a:off x="12144375" y="2486025"/>
            <a:ext cx="12954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盈利模式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字：茶叶生产企业"/>
          <p:cNvSpPr txBox="1"/>
          <p:nvPr/>
        </p:nvSpPr>
        <p:spPr>
          <a:xfrm>
            <a:off x="4905375" y="3048000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茶叶生产企业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文字：设备销售"/>
          <p:cNvSpPr txBox="1"/>
          <p:nvPr/>
        </p:nvSpPr>
        <p:spPr>
          <a:xfrm>
            <a:off x="12906375" y="3038475"/>
            <a:ext cx="1000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设备销售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文字：名优茶（凤凰单丛等）"/>
          <p:cNvSpPr txBox="1"/>
          <p:nvPr/>
        </p:nvSpPr>
        <p:spPr>
          <a:xfrm>
            <a:off x="9753600" y="3190875"/>
            <a:ext cx="18192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36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名优茶（凤凰单丛等）</a:t>
            </a:r>
            <a:endParaRPr sz="136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名优茶产区、茶企、合作社"/>
          <p:cNvSpPr txBox="1"/>
          <p:nvPr/>
        </p:nvSpPr>
        <p:spPr>
          <a:xfrm>
            <a:off x="4933950" y="3371850"/>
            <a:ext cx="2419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名优茶产区、茶企、合作社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做青产线"/>
          <p:cNvSpPr txBox="1"/>
          <p:nvPr/>
        </p:nvSpPr>
        <p:spPr>
          <a:xfrm>
            <a:off x="9725025" y="341947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做青产线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智能做青感知系统及集成设备"/>
          <p:cNvSpPr txBox="1"/>
          <p:nvPr/>
        </p:nvSpPr>
        <p:spPr>
          <a:xfrm>
            <a:off x="12925425" y="3343275"/>
            <a:ext cx="24574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智能做青感知系统及集成设备</a:t>
            </a:r>
            <a:endParaRPr sz="14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茶叶加工设备厂商"/>
          <p:cNvSpPr txBox="1"/>
          <p:nvPr/>
        </p:nvSpPr>
        <p:spPr>
          <a:xfrm>
            <a:off x="4914900" y="3876675"/>
            <a:ext cx="18573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茶叶加工设备厂商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技术服务"/>
          <p:cNvSpPr txBox="1"/>
          <p:nvPr/>
        </p:nvSpPr>
        <p:spPr>
          <a:xfrm>
            <a:off x="12906375" y="3867150"/>
            <a:ext cx="10096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技术服务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智能化升级需求"/>
          <p:cNvSpPr txBox="1"/>
          <p:nvPr/>
        </p:nvSpPr>
        <p:spPr>
          <a:xfrm>
            <a:off x="4905375" y="4171950"/>
            <a:ext cx="14668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5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智能化升级需求</a:t>
            </a:r>
            <a:endParaRPr sz="15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现有生产线"/>
          <p:cNvSpPr txBox="1"/>
          <p:nvPr/>
        </p:nvSpPr>
        <p:spPr>
          <a:xfrm>
            <a:off x="9744075" y="4105275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现有生产线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工艺优化、数据分析、远程运维"/>
          <p:cNvSpPr txBox="1"/>
          <p:nvPr/>
        </p:nvSpPr>
        <p:spPr>
          <a:xfrm>
            <a:off x="12934950" y="4181475"/>
            <a:ext cx="26384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工艺优化、数据分析、远程运维</a:t>
            </a:r>
            <a:endParaRPr sz="14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智能化改造"/>
          <p:cNvSpPr txBox="1"/>
          <p:nvPr/>
        </p:nvSpPr>
        <p:spPr>
          <a:xfrm>
            <a:off x="9753600" y="4333875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智能化改造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农业科技服务机构"/>
          <p:cNvSpPr txBox="1"/>
          <p:nvPr/>
        </p:nvSpPr>
        <p:spPr>
          <a:xfrm>
            <a:off x="4924425" y="4705350"/>
            <a:ext cx="18764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农业科技服务机构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软件订阅"/>
          <p:cNvSpPr txBox="1"/>
          <p:nvPr/>
        </p:nvSpPr>
        <p:spPr>
          <a:xfrm>
            <a:off x="12925425" y="4695825"/>
            <a:ext cx="1000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软件订阅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推广与技术服务"/>
          <p:cNvSpPr txBox="1"/>
          <p:nvPr/>
        </p:nvSpPr>
        <p:spPr>
          <a:xfrm>
            <a:off x="4905375" y="4991100"/>
            <a:ext cx="14573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推广与技术服务</a:t>
            </a:r>
            <a:endParaRPr sz="15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智能决策系统、数据平台"/>
          <p:cNvSpPr txBox="1"/>
          <p:nvPr/>
        </p:nvSpPr>
        <p:spPr>
          <a:xfrm>
            <a:off x="12944475" y="5019675"/>
            <a:ext cx="20955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智能决策系统、数据平台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新建智能化"/>
          <p:cNvSpPr txBox="1"/>
          <p:nvPr/>
        </p:nvSpPr>
        <p:spPr>
          <a:xfrm>
            <a:off x="9763125" y="5229225"/>
            <a:ext cx="10858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新建智能化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政府与产业园区"/>
          <p:cNvSpPr txBox="1"/>
          <p:nvPr/>
        </p:nvSpPr>
        <p:spPr>
          <a:xfrm>
            <a:off x="4914900" y="5486400"/>
            <a:ext cx="16573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政府与产业园区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做青示范线"/>
          <p:cNvSpPr txBox="1"/>
          <p:nvPr/>
        </p:nvSpPr>
        <p:spPr>
          <a:xfrm>
            <a:off x="9763125" y="5495925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做青示范线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定制化解决方案"/>
          <p:cNvSpPr txBox="1"/>
          <p:nvPr/>
        </p:nvSpPr>
        <p:spPr>
          <a:xfrm>
            <a:off x="12925425" y="5505450"/>
            <a:ext cx="16668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定制化解决方案</a:t>
            </a:r>
            <a:endParaRPr sz="17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乡村振兴、产业升级"/>
          <p:cNvSpPr txBox="1"/>
          <p:nvPr/>
        </p:nvSpPr>
        <p:spPr>
          <a:xfrm>
            <a:off x="4905375" y="5800725"/>
            <a:ext cx="18097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乡村振兴、产业升级</a:t>
            </a:r>
            <a:endParaRPr sz="15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按产线需求提供整体方案"/>
          <p:cNvSpPr txBox="1"/>
          <p:nvPr/>
        </p:nvSpPr>
        <p:spPr>
          <a:xfrm>
            <a:off x="12934950" y="5838825"/>
            <a:ext cx="21145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按产线需求提供整体方案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发展路径"/>
          <p:cNvSpPr txBox="1"/>
          <p:nvPr/>
        </p:nvSpPr>
        <p:spPr>
          <a:xfrm>
            <a:off x="3867150" y="6238875"/>
            <a:ext cx="12763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发展路径</a:t>
            </a:r>
            <a:endParaRPr sz="22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短期 (1-2年)"/>
          <p:cNvSpPr txBox="1"/>
          <p:nvPr/>
        </p:nvSpPr>
        <p:spPr>
          <a:xfrm>
            <a:off x="4943475" y="6762750"/>
            <a:ext cx="14192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短期 (1-2年)</a:t>
            </a:r>
            <a:endParaRPr sz="17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中期 (3-5年)"/>
          <p:cNvSpPr txBox="1"/>
          <p:nvPr/>
        </p:nvSpPr>
        <p:spPr>
          <a:xfrm>
            <a:off x="8810625" y="6762750"/>
            <a:ext cx="14192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中期 (3-5年)</a:t>
            </a:r>
            <a:endParaRPr sz="17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长期 (5年以上)"/>
          <p:cNvSpPr txBox="1"/>
          <p:nvPr/>
        </p:nvSpPr>
        <p:spPr>
          <a:xfrm>
            <a:off x="12877800" y="6762750"/>
            <a:ext cx="15811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长期 (5年以上)</a:t>
            </a:r>
            <a:endParaRPr sz="16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打磨产品，试点推广"/>
          <p:cNvSpPr txBox="1"/>
          <p:nvPr/>
        </p:nvSpPr>
        <p:spPr>
          <a:xfrm>
            <a:off x="4962525" y="7153275"/>
            <a:ext cx="18192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15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打磨产品，试点推广</a:t>
            </a:r>
            <a:endParaRPr sz="15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扩大应用，形成标准化方案"/>
          <p:cNvSpPr txBox="1"/>
          <p:nvPr/>
        </p:nvSpPr>
        <p:spPr>
          <a:xfrm>
            <a:off x="8810625" y="7134225"/>
            <a:ext cx="24098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5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扩大应用，形成标准化方案</a:t>
            </a:r>
            <a:endParaRPr sz="15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拓展茶类与区域，打造行业标杆"/>
          <p:cNvSpPr txBox="1"/>
          <p:nvPr/>
        </p:nvSpPr>
        <p:spPr>
          <a:xfrm>
            <a:off x="12868275" y="7153275"/>
            <a:ext cx="27146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拓展茶类与区域，打造行业标杆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先在产区验证价值，再把智能做青推向更广阔的茶产业场景"/>
          <p:cNvSpPr txBox="1"/>
          <p:nvPr/>
        </p:nvSpPr>
        <p:spPr>
          <a:xfrm>
            <a:off x="6429375" y="7836327"/>
            <a:ext cx="6096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先在产区验证价值，再把智能做青推向更广阔的茶产业场景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287375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字：15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15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5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05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商业模式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应用场景、目标客户&#10;与商业路径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应用场景、目标客户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与商业路径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让好技术真正走进产区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“让好技术真正走进产区。”</a:t>
            </a:r>
            <a:endParaRPr sz="1780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5.2 商业落地策略"/>
          <p:cNvSpPr txBox="1"/>
          <p:nvPr/>
        </p:nvSpPr>
        <p:spPr>
          <a:xfrm>
            <a:off x="3867150" y="981075"/>
            <a:ext cx="324802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5.2 商业落地策略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20090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优先从低侵入、低风险的感知辅助与设备改造切入"/>
          <p:cNvSpPr txBox="1"/>
          <p:nvPr/>
        </p:nvSpPr>
        <p:spPr>
          <a:xfrm>
            <a:off x="7372350" y="1038225"/>
            <a:ext cx="813435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优先从低侵入、低风险的感知辅助与设备改造切入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7924800" y="2638425"/>
            <a:ext cx="2009775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0553700" y="2638425"/>
            <a:ext cx="2200275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13382625" y="2638425"/>
            <a:ext cx="2152650" cy="2952750"/>
          </a:xfrm>
          <a:prstGeom prst="roundRect">
            <a:avLst>
              <a:gd name="adj" fmla="val 2500"/>
            </a:avLst>
          </a:prstGeom>
          <a:solidFill>
            <a:srgbClr val="F2F9F6"/>
          </a:solidFill>
          <a:ln>
            <a:solidFill>
              <a:srgbClr val="C8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3876675" y="1628775"/>
            <a:ext cx="363855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924800" y="1628775"/>
            <a:ext cx="762000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独立照片或曲线图（内部为像素）" descr="p15_phot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3829050"/>
            <a:ext cx="1466850" cy="1743075"/>
          </a:xfrm>
          <a:prstGeom prst="rect">
            <a:avLst/>
          </a:prstGeom>
        </p:spPr>
      </p:pic>
      <p:pic>
        <p:nvPicPr>
          <p:cNvPr id="39" name="独立照片或曲线图（内部为像素）" descr="p15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5" y="3810000"/>
            <a:ext cx="1924049" cy="1762125"/>
          </a:xfrm>
          <a:prstGeom prst="rect">
            <a:avLst/>
          </a:prstGeom>
        </p:spPr>
      </p:pic>
      <p:pic>
        <p:nvPicPr>
          <p:cNvPr id="40" name="独立照片或曲线图（内部为像素）" descr="p15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5050" y="3581400"/>
            <a:ext cx="1504950" cy="2000250"/>
          </a:xfrm>
          <a:prstGeom prst="rect">
            <a:avLst/>
          </a:prstGeom>
        </p:spPr>
      </p:pic>
      <p:pic>
        <p:nvPicPr>
          <p:cNvPr id="41" name="独立图标或流程线" descr="p15_ico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2105025"/>
            <a:ext cx="85725" cy="419100"/>
          </a:xfrm>
          <a:prstGeom prst="rect">
            <a:avLst/>
          </a:prstGeom>
        </p:spPr>
      </p:pic>
      <p:pic>
        <p:nvPicPr>
          <p:cNvPr id="42" name="独立图标或流程线" descr="p15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400" y="2105025"/>
            <a:ext cx="1685925" cy="466724"/>
          </a:xfrm>
          <a:prstGeom prst="rect">
            <a:avLst/>
          </a:prstGeom>
        </p:spPr>
      </p:pic>
      <p:pic>
        <p:nvPicPr>
          <p:cNvPr id="43" name="独立图标或流程线" descr="p15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175" y="2247900"/>
            <a:ext cx="400050" cy="419100"/>
          </a:xfrm>
          <a:prstGeom prst="rect">
            <a:avLst/>
          </a:prstGeom>
        </p:spPr>
      </p:pic>
      <p:pic>
        <p:nvPicPr>
          <p:cNvPr id="44" name="独立图标或流程线" descr="p15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8124" y="2990850"/>
            <a:ext cx="438150" cy="390525"/>
          </a:xfrm>
          <a:prstGeom prst="rect">
            <a:avLst/>
          </a:prstGeom>
        </p:spPr>
      </p:pic>
      <p:pic>
        <p:nvPicPr>
          <p:cNvPr id="45" name="独立图标或流程线" descr="p15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4600" y="3667125"/>
            <a:ext cx="219075" cy="352425"/>
          </a:xfrm>
          <a:prstGeom prst="rect">
            <a:avLst/>
          </a:prstGeom>
        </p:spPr>
      </p:pic>
      <p:pic>
        <p:nvPicPr>
          <p:cNvPr id="46" name="独立图标或流程线" descr="p15_icon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73050" y="3667125"/>
            <a:ext cx="219075" cy="352425"/>
          </a:xfrm>
          <a:prstGeom prst="rect">
            <a:avLst/>
          </a:prstGeom>
        </p:spPr>
      </p:pic>
      <p:pic>
        <p:nvPicPr>
          <p:cNvPr id="47" name="独立图标或流程线" descr="p15_icon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8124" y="3714750"/>
            <a:ext cx="419100" cy="457200"/>
          </a:xfrm>
          <a:prstGeom prst="rect">
            <a:avLst/>
          </a:prstGeom>
        </p:spPr>
      </p:pic>
      <p:pic>
        <p:nvPicPr>
          <p:cNvPr id="48" name="独立图标或流程线" descr="p15_icon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9049" y="3990974"/>
            <a:ext cx="85725" cy="133350"/>
          </a:xfrm>
          <a:prstGeom prst="rect">
            <a:avLst/>
          </a:prstGeom>
        </p:spPr>
      </p:pic>
      <p:pic>
        <p:nvPicPr>
          <p:cNvPr id="49" name="独立图标或流程线" descr="p15_icon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049" y="4286250"/>
            <a:ext cx="85725" cy="638175"/>
          </a:xfrm>
          <a:prstGeom prst="rect">
            <a:avLst/>
          </a:prstGeom>
        </p:spPr>
      </p:pic>
      <p:pic>
        <p:nvPicPr>
          <p:cNvPr id="50" name="独立图标或流程线" descr="p15_icon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124" y="4505325"/>
            <a:ext cx="419100" cy="419100"/>
          </a:xfrm>
          <a:prstGeom prst="rect">
            <a:avLst/>
          </a:prstGeom>
        </p:spPr>
      </p:pic>
      <p:pic>
        <p:nvPicPr>
          <p:cNvPr id="51" name="独立图标或流程线" descr="p15_icon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9049" y="5210175"/>
            <a:ext cx="85725" cy="600075"/>
          </a:xfrm>
          <a:prstGeom prst="rect">
            <a:avLst/>
          </a:prstGeom>
        </p:spPr>
      </p:pic>
      <p:pic>
        <p:nvPicPr>
          <p:cNvPr id="52" name="独立图标或流程线" descr="p15_icon1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29075" y="5238750"/>
            <a:ext cx="485775" cy="400050"/>
          </a:xfrm>
          <a:prstGeom prst="rect">
            <a:avLst/>
          </a:prstGeom>
        </p:spPr>
      </p:pic>
      <p:cxnSp>
        <p:nvCxnSpPr>
          <p:cNvPr id="53" name="Connector 52"/>
          <p:cNvCxnSpPr/>
          <p:nvPr/>
        </p:nvCxnSpPr>
        <p:spPr>
          <a:xfrm>
            <a:off x="10434638" y="5915025"/>
            <a:ext cx="0" cy="1638300"/>
          </a:xfrm>
          <a:prstGeom prst="line">
            <a:avLst/>
          </a:prstGeom>
          <a:ln w="9525">
            <a:solidFill>
              <a:srgbClr val="A6C5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715000" y="6115050"/>
            <a:ext cx="453390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306425" y="6124575"/>
            <a:ext cx="2247900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独立图标或流程线" descr="p15_icon1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53725" y="6362700"/>
            <a:ext cx="314325" cy="304800"/>
          </a:xfrm>
          <a:prstGeom prst="rect">
            <a:avLst/>
          </a:prstGeom>
        </p:spPr>
      </p:pic>
      <p:pic>
        <p:nvPicPr>
          <p:cNvPr id="57" name="独立图标或流程线" descr="p15_icon1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58800" y="6353175"/>
            <a:ext cx="295275" cy="295275"/>
          </a:xfrm>
          <a:prstGeom prst="rect">
            <a:avLst/>
          </a:prstGeom>
        </p:spPr>
      </p:pic>
      <p:pic>
        <p:nvPicPr>
          <p:cNvPr id="58" name="独立图标或流程线" descr="p15_icon1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62900" y="6496050"/>
            <a:ext cx="85725" cy="476250"/>
          </a:xfrm>
          <a:prstGeom prst="rect">
            <a:avLst/>
          </a:prstGeom>
        </p:spPr>
      </p:pic>
      <p:pic>
        <p:nvPicPr>
          <p:cNvPr id="59" name="独立图标或流程线" descr="p15_icon1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62399" y="6505575"/>
            <a:ext cx="381000" cy="409575"/>
          </a:xfrm>
          <a:prstGeom prst="rect">
            <a:avLst/>
          </a:prstGeom>
        </p:spPr>
      </p:pic>
      <p:pic>
        <p:nvPicPr>
          <p:cNvPr id="60" name="独立图标或流程线" descr="p15_icon1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43575" y="6505575"/>
            <a:ext cx="85725" cy="285750"/>
          </a:xfrm>
          <a:prstGeom prst="rect">
            <a:avLst/>
          </a:prstGeom>
        </p:spPr>
      </p:pic>
      <p:pic>
        <p:nvPicPr>
          <p:cNvPr id="61" name="独立图标或流程线" descr="p15_icon1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19800" y="6515100"/>
            <a:ext cx="390525" cy="390525"/>
          </a:xfrm>
          <a:prstGeom prst="rect">
            <a:avLst/>
          </a:prstGeom>
        </p:spPr>
      </p:pic>
      <p:pic>
        <p:nvPicPr>
          <p:cNvPr id="62" name="独立图标或流程线" descr="p15_icon1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6750" y="6515100"/>
            <a:ext cx="352425" cy="390525"/>
          </a:xfrm>
          <a:prstGeom prst="rect">
            <a:avLst/>
          </a:prstGeom>
        </p:spPr>
      </p:pic>
      <p:pic>
        <p:nvPicPr>
          <p:cNvPr id="63" name="独立图标或流程线" descr="p15_icon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58800" y="6715125"/>
            <a:ext cx="285750" cy="295275"/>
          </a:xfrm>
          <a:prstGeom prst="rect">
            <a:avLst/>
          </a:prstGeom>
        </p:spPr>
      </p:pic>
      <p:pic>
        <p:nvPicPr>
          <p:cNvPr id="64" name="独立图标或流程线" descr="p15_icon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53725" y="6753225"/>
            <a:ext cx="314325" cy="276225"/>
          </a:xfrm>
          <a:prstGeom prst="rect">
            <a:avLst/>
          </a:prstGeom>
        </p:spPr>
      </p:pic>
      <p:pic>
        <p:nvPicPr>
          <p:cNvPr id="65" name="独立图标或流程线" descr="p15_icon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63250" y="7124700"/>
            <a:ext cx="304800" cy="314325"/>
          </a:xfrm>
          <a:prstGeom prst="rect">
            <a:avLst/>
          </a:prstGeom>
        </p:spPr>
      </p:pic>
      <p:pic>
        <p:nvPicPr>
          <p:cNvPr id="66" name="独立图标或流程线" descr="p15_icon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53100" y="7162800"/>
            <a:ext cx="85725" cy="285750"/>
          </a:xfrm>
          <a:prstGeom prst="rect">
            <a:avLst/>
          </a:prstGeom>
        </p:spPr>
      </p:pic>
      <p:pic>
        <p:nvPicPr>
          <p:cNvPr id="67" name="独立图标或流程线" descr="p15_icon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62900" y="7153275"/>
            <a:ext cx="85725" cy="295275"/>
          </a:xfrm>
          <a:prstGeom prst="rect">
            <a:avLst/>
          </a:prstGeom>
        </p:spPr>
      </p:pic>
      <p:pic>
        <p:nvPicPr>
          <p:cNvPr id="68" name="独立图标或流程线" descr="p15_icon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81425" y="7400925"/>
            <a:ext cx="200025" cy="161925"/>
          </a:xfrm>
          <a:prstGeom prst="rect">
            <a:avLst/>
          </a:prstGeom>
        </p:spPr>
      </p:pic>
      <p:pic>
        <p:nvPicPr>
          <p:cNvPr id="69" name="独立图标或流程线" descr="p15_icon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420974" y="7439024"/>
            <a:ext cx="238125" cy="123824"/>
          </a:xfrm>
          <a:prstGeom prst="rect">
            <a:avLst/>
          </a:prstGeom>
        </p:spPr>
      </p:pic>
      <p:sp>
        <p:nvSpPr>
          <p:cNvPr id="70" name="文字：目标客户"/>
          <p:cNvSpPr txBox="1"/>
          <p:nvPr/>
        </p:nvSpPr>
        <p:spPr>
          <a:xfrm>
            <a:off x="4114800" y="1647825"/>
            <a:ext cx="12858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目标客户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产品假设"/>
          <p:cNvSpPr txBox="1"/>
          <p:nvPr/>
        </p:nvSpPr>
        <p:spPr>
          <a:xfrm>
            <a:off x="8134350" y="1647825"/>
            <a:ext cx="13049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产品假设</a:t>
            </a:r>
            <a:endParaRPr sz="24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凤凰单丛中小茶企"/>
          <p:cNvSpPr txBox="1"/>
          <p:nvPr/>
        </p:nvSpPr>
        <p:spPr>
          <a:xfrm>
            <a:off x="4876800" y="2219325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凤凰单丛中小茶企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从低到高"/>
          <p:cNvSpPr txBox="1"/>
          <p:nvPr/>
        </p:nvSpPr>
        <p:spPr>
          <a:xfrm>
            <a:off x="9972675" y="220980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从低到高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逐步深入"/>
          <p:cNvSpPr txBox="1"/>
          <p:nvPr/>
        </p:nvSpPr>
        <p:spPr>
          <a:xfrm>
            <a:off x="10972800" y="2209800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逐步深入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持续创造价值"/>
          <p:cNvSpPr txBox="1"/>
          <p:nvPr/>
        </p:nvSpPr>
        <p:spPr>
          <a:xfrm>
            <a:off x="12001500" y="2209800"/>
            <a:ext cx="12001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持续创造价值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传统工艺、提质增效需求"/>
          <p:cNvSpPr txBox="1"/>
          <p:nvPr/>
        </p:nvSpPr>
        <p:spPr>
          <a:xfrm>
            <a:off x="4876800" y="2505075"/>
            <a:ext cx="20383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传统工艺、提质增效需求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感知辅助版"/>
          <p:cNvSpPr txBox="1"/>
          <p:nvPr/>
        </p:nvSpPr>
        <p:spPr>
          <a:xfrm>
            <a:off x="8286750" y="2695575"/>
            <a:ext cx="13049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感知辅助版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设备改造版"/>
          <p:cNvSpPr txBox="1"/>
          <p:nvPr/>
        </p:nvSpPr>
        <p:spPr>
          <a:xfrm>
            <a:off x="11049000" y="2686050"/>
            <a:ext cx="13144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93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设备改造版</a:t>
            </a:r>
            <a:endParaRPr sz="193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闭环控制版"/>
          <p:cNvSpPr txBox="1"/>
          <p:nvPr/>
        </p:nvSpPr>
        <p:spPr>
          <a:xfrm>
            <a:off x="13868400" y="2695575"/>
            <a:ext cx="13144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闭环控制版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茶叶合作社"/>
          <p:cNvSpPr txBox="1"/>
          <p:nvPr/>
        </p:nvSpPr>
        <p:spPr>
          <a:xfrm>
            <a:off x="4876800" y="2962275"/>
            <a:ext cx="11715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茶叶合作社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旁路在线监测+"/>
          <p:cNvSpPr txBox="1"/>
          <p:nvPr/>
        </p:nvSpPr>
        <p:spPr>
          <a:xfrm>
            <a:off x="8181975" y="3086100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旁路在线监测+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在现有做青设备上"/>
          <p:cNvSpPr txBox="1"/>
          <p:nvPr/>
        </p:nvSpPr>
        <p:spPr>
          <a:xfrm>
            <a:off x="10848975" y="3114675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在现有做青设备上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状态驱动的感知一"/>
          <p:cNvSpPr txBox="1"/>
          <p:nvPr/>
        </p:nvSpPr>
        <p:spPr>
          <a:xfrm>
            <a:off x="13649325" y="3114675"/>
            <a:ext cx="155257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状态驱动的感知一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标准化生产、统一管理"/>
          <p:cNvSpPr txBox="1"/>
          <p:nvPr/>
        </p:nvSpPr>
        <p:spPr>
          <a:xfrm>
            <a:off x="4876800" y="3257550"/>
            <a:ext cx="19431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标准化生产、统一管理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状态评估"/>
          <p:cNvSpPr txBox="1"/>
          <p:nvPr/>
        </p:nvSpPr>
        <p:spPr>
          <a:xfrm>
            <a:off x="8181975" y="3324225"/>
            <a:ext cx="8667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53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状态评估</a:t>
            </a:r>
            <a:endParaRPr sz="153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加装感知与控制模块"/>
          <p:cNvSpPr txBox="1"/>
          <p:nvPr/>
        </p:nvSpPr>
        <p:spPr>
          <a:xfrm>
            <a:off x="10839450" y="3352800"/>
            <a:ext cx="17526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加装感知与控制模块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决策一执行一体化系统"/>
          <p:cNvSpPr txBox="1"/>
          <p:nvPr/>
        </p:nvSpPr>
        <p:spPr>
          <a:xfrm>
            <a:off x="13649325" y="3352800"/>
            <a:ext cx="19050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决策一执行一体化系统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不直接接管生产"/>
          <p:cNvSpPr txBox="1"/>
          <p:nvPr/>
        </p:nvSpPr>
        <p:spPr>
          <a:xfrm>
            <a:off x="8172450" y="3562350"/>
            <a:ext cx="14097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不直接接管生产</a:t>
            </a:r>
            <a:endParaRPr sz="14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规模化茶企"/>
          <p:cNvSpPr txBox="1"/>
          <p:nvPr/>
        </p:nvSpPr>
        <p:spPr>
          <a:xfrm>
            <a:off x="4867275" y="3714750"/>
            <a:ext cx="11811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规模化茶企</a:t>
            </a:r>
            <a:endParaRPr sz="17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多基地、多产线智能化升级"/>
          <p:cNvSpPr txBox="1"/>
          <p:nvPr/>
        </p:nvSpPr>
        <p:spPr>
          <a:xfrm>
            <a:off x="4867275" y="4000500"/>
            <a:ext cx="2324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多基地、多产线智能化升级</a:t>
            </a:r>
            <a:endParaRPr sz="14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茶叶加工设备企业"/>
          <p:cNvSpPr txBox="1"/>
          <p:nvPr/>
        </p:nvSpPr>
        <p:spPr>
          <a:xfrm>
            <a:off x="4876800" y="4514850"/>
            <a:ext cx="1771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茶叶加工设备企业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设备智能化、产品差异化"/>
          <p:cNvSpPr txBox="1"/>
          <p:nvPr/>
        </p:nvSpPr>
        <p:spPr>
          <a:xfrm>
            <a:off x="4876800" y="4819650"/>
            <a:ext cx="21050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设备智能化、产品差异化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高校/科研机构"/>
          <p:cNvSpPr txBox="1"/>
          <p:nvPr/>
        </p:nvSpPr>
        <p:spPr>
          <a:xfrm>
            <a:off x="4876800" y="5257800"/>
            <a:ext cx="16287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高校/科研机构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工艺研究、技术验证与成果转化"/>
          <p:cNvSpPr txBox="1"/>
          <p:nvPr/>
        </p:nvSpPr>
        <p:spPr>
          <a:xfrm>
            <a:off x="4876800" y="5553075"/>
            <a:ext cx="26670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工艺研究、技术验证与成果转化</a:t>
            </a:r>
            <a:endParaRPr sz="14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商业模式假设"/>
          <p:cNvSpPr txBox="1"/>
          <p:nvPr/>
        </p:nvSpPr>
        <p:spPr>
          <a:xfrm>
            <a:off x="3905250" y="5962650"/>
            <a:ext cx="1790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商业模式假设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证据状态与商业边界"/>
          <p:cNvSpPr txBox="1"/>
          <p:nvPr/>
        </p:nvSpPr>
        <p:spPr>
          <a:xfrm>
            <a:off x="10715625" y="5962650"/>
            <a:ext cx="25908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9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证据状态与商业边界</a:t>
            </a:r>
            <a:endParaRPr sz="189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客户访谈：待开展"/>
          <p:cNvSpPr txBox="1"/>
          <p:nvPr/>
        </p:nvSpPr>
        <p:spPr>
          <a:xfrm>
            <a:off x="11182350" y="6400800"/>
            <a:ext cx="15049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13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客户访谈：待开展</a:t>
            </a:r>
            <a:endParaRPr sz="13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BOM：预研估算"/>
          <p:cNvSpPr txBox="1"/>
          <p:nvPr/>
        </p:nvSpPr>
        <p:spPr>
          <a:xfrm>
            <a:off x="13668375" y="63722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BOM：预研估算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设备销售"/>
          <p:cNvSpPr txBox="1"/>
          <p:nvPr/>
        </p:nvSpPr>
        <p:spPr>
          <a:xfrm>
            <a:off x="4533900" y="6515100"/>
            <a:ext cx="885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设备销售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改造与技术服务"/>
          <p:cNvSpPr txBox="1"/>
          <p:nvPr/>
        </p:nvSpPr>
        <p:spPr>
          <a:xfrm>
            <a:off x="6591300" y="6534150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改造与技术服务</a:t>
            </a:r>
            <a:endParaRPr sz="14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软件/数据服务"/>
          <p:cNvSpPr txBox="1"/>
          <p:nvPr/>
        </p:nvSpPr>
        <p:spPr>
          <a:xfrm>
            <a:off x="8858250" y="6524625"/>
            <a:ext cx="14573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软件/数据服务</a:t>
            </a:r>
            <a:endParaRPr sz="16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付费意愿：待验证"/>
          <p:cNvSpPr txBox="1"/>
          <p:nvPr/>
        </p:nvSpPr>
        <p:spPr>
          <a:xfrm>
            <a:off x="11201400" y="6772275"/>
            <a:ext cx="1485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付费意愿：待验证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MVP感知系统预算："/>
          <p:cNvSpPr txBox="1"/>
          <p:nvPr/>
        </p:nvSpPr>
        <p:spPr>
          <a:xfrm>
            <a:off x="13668375" y="6696075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MVP感知系统预算：</a:t>
            </a:r>
            <a:endParaRPr sz="14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标准化产品销售"/>
          <p:cNvSpPr txBox="1"/>
          <p:nvPr/>
        </p:nvSpPr>
        <p:spPr>
          <a:xfrm>
            <a:off x="4533900" y="6943725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标准化产品销售</a:t>
            </a:r>
            <a:endParaRPr sz="12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设备改造、安装调试"/>
          <p:cNvSpPr txBox="1"/>
          <p:nvPr/>
        </p:nvSpPr>
        <p:spPr>
          <a:xfrm>
            <a:off x="6581775" y="6943725"/>
            <a:ext cx="15049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设备改造、安装调试</a:t>
            </a:r>
            <a:endParaRPr sz="12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智能决策系统"/>
          <p:cNvSpPr txBox="1"/>
          <p:nvPr/>
        </p:nvSpPr>
        <p:spPr>
          <a:xfrm>
            <a:off x="8839200" y="6934200"/>
            <a:ext cx="1114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智能决策系统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约1000-3000元"/>
          <p:cNvSpPr txBox="1"/>
          <p:nvPr/>
        </p:nvSpPr>
        <p:spPr>
          <a:xfrm>
            <a:off x="13677900" y="6943725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约1000-3000元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获取初始收益"/>
          <p:cNvSpPr txBox="1"/>
          <p:nvPr/>
        </p:nvSpPr>
        <p:spPr>
          <a:xfrm>
            <a:off x="4514850" y="7181850"/>
            <a:ext cx="11144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获取初始收益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与持续运维服务"/>
          <p:cNvSpPr txBox="1"/>
          <p:nvPr/>
        </p:nvSpPr>
        <p:spPr>
          <a:xfrm>
            <a:off x="6600825" y="7181850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与持续运维服务</a:t>
            </a:r>
            <a:endParaRPr sz="12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数据平台与订阅服务"/>
          <p:cNvSpPr txBox="1"/>
          <p:nvPr/>
        </p:nvSpPr>
        <p:spPr>
          <a:xfrm>
            <a:off x="8858250" y="7181850"/>
            <a:ext cx="15716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数据平台与订阅服务</a:t>
            </a:r>
            <a:endParaRPr sz="13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市场规模：待核验"/>
          <p:cNvSpPr txBox="1"/>
          <p:nvPr/>
        </p:nvSpPr>
        <p:spPr>
          <a:xfrm>
            <a:off x="11201400" y="7153275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市场规模：待核验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正式材料以真实采购记录替换。"/>
          <p:cNvSpPr txBox="1"/>
          <p:nvPr/>
        </p:nvSpPr>
        <p:spPr>
          <a:xfrm>
            <a:off x="13211175" y="7305675"/>
            <a:ext cx="22479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12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正式材料以真实采购记录替换。</a:t>
            </a:r>
            <a:endParaRPr sz="12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先以感知辅助切入，再逐步走向设备改造与闭环控制"/>
          <p:cNvSpPr txBox="1"/>
          <p:nvPr/>
        </p:nvSpPr>
        <p:spPr>
          <a:xfrm>
            <a:off x="6772275" y="7818664"/>
            <a:ext cx="53435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先以感知辅助切入，再逐步走向设备改造与闭环控制</a:t>
            </a:r>
            <a:endParaRPr sz="15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4420850" y="628650"/>
            <a:ext cx="381000" cy="0"/>
          </a:xfrm>
          <a:prstGeom prst="line">
            <a:avLst/>
          </a:prstGeom>
          <a:ln w="19050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：16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16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71875" y="990600"/>
            <a:ext cx="0" cy="6896100"/>
          </a:xfrm>
          <a:prstGeom prst="line">
            <a:avLst/>
          </a:prstGeom>
          <a:ln w="9525">
            <a:solidFill>
              <a:srgbClr val="A4BCB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：06"/>
          <p:cNvSpPr txBox="1"/>
          <p:nvPr/>
        </p:nvSpPr>
        <p:spPr>
          <a:xfrm>
            <a:off x="457200" y="1409700"/>
            <a:ext cx="2286000" cy="1666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0"/>
              </a:lnSpc>
              <a:spcBef>
                <a:spcPts val="0"/>
              </a:spcBef>
              <a:spcAft>
                <a:spcPts val="0"/>
              </a:spcAft>
            </a:pPr>
            <a:r>
              <a:rPr sz="13500" b="1" i="1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06</a:t>
            </a:r>
            <a:endParaRPr sz="13500" b="1" i="1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19375" y="1704975"/>
            <a:ext cx="514350" cy="1190625"/>
          </a:xfrm>
          <a:prstGeom prst="line">
            <a:avLst/>
          </a:prstGeom>
          <a:ln w="11429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：未来展望"/>
          <p:cNvSpPr txBox="1"/>
          <p:nvPr/>
        </p:nvSpPr>
        <p:spPr>
          <a:xfrm>
            <a:off x="485775" y="3114675"/>
            <a:ext cx="300037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2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52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发展规划、风险控制&#10;与产业延展"/>
          <p:cNvSpPr txBox="1"/>
          <p:nvPr/>
        </p:nvSpPr>
        <p:spPr>
          <a:xfrm>
            <a:off x="552450" y="4076700"/>
            <a:ext cx="2905125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发展规划、风险控制</a:t>
            </a:r>
            <a:b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sz="21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与产业延展</a:t>
            </a:r>
            <a:endParaRPr sz="21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52450" y="5076825"/>
            <a:ext cx="400050" cy="0"/>
          </a:xfrm>
          <a:prstGeom prst="line">
            <a:avLst/>
          </a:prstGeom>
          <a:ln w="9525">
            <a:solidFill>
              <a:srgbClr val="073F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：“先做出可信样机，再逐步&#10; 走向真实茶季&#10; 与真实产线。”"/>
          <p:cNvSpPr txBox="1"/>
          <p:nvPr/>
        </p:nvSpPr>
        <p:spPr>
          <a:xfrm>
            <a:off x="457200" y="5314950"/>
            <a:ext cx="2990850" cy="1095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“先做出可信样机，再逐步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走向真实茶季</a:t>
            </a:r>
            <a:b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1875" b="0">
                <a:solidFill>
                  <a:srgbClr val="073F32"/>
                </a:solidFill>
                <a:latin typeface="楷体" panose="02010609060101010101" charset="-122"/>
                <a:ea typeface="楷体" panose="02010609060101010101" charset="-122"/>
              </a:rPr>
              <a:t> 与真实产线。”</a:t>
            </a:r>
            <a:endParaRPr sz="1875" b="0">
              <a:solidFill>
                <a:srgbClr val="073F3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中 国 茶 · 产 业 智 造 · 中 国 未 来"/>
          <p:cNvSpPr txBox="1"/>
          <p:nvPr/>
        </p:nvSpPr>
        <p:spPr>
          <a:xfrm>
            <a:off x="11791950" y="8439150"/>
            <a:ext cx="3619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 国 茶 · 产 业 智 造 · 中 国 未 来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字：6.1 未来展望与风险"/>
          <p:cNvSpPr txBox="1"/>
          <p:nvPr/>
        </p:nvSpPr>
        <p:spPr>
          <a:xfrm>
            <a:off x="3867150" y="981075"/>
            <a:ext cx="3648075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6.1 未来展望与风险</a:t>
            </a:r>
            <a:endParaRPr sz="315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0950" y="1085850"/>
            <a:ext cx="0" cy="304800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：先完成可信样机和真实证据，再扩展茶季、茶企和茶类"/>
          <p:cNvSpPr txBox="1"/>
          <p:nvPr/>
        </p:nvSpPr>
        <p:spPr>
          <a:xfrm>
            <a:off x="7772400" y="1038225"/>
            <a:ext cx="77343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先完成可信样机和真实证据，再扩展茶季、茶企和茶类</a:t>
            </a:r>
            <a:endParaRPr sz="210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可编辑框架"/>
          <p:cNvSpPr/>
          <p:nvPr/>
        </p:nvSpPr>
        <p:spPr>
          <a:xfrm>
            <a:off x="3867150" y="1628775"/>
            <a:ext cx="6781800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框架"/>
          <p:cNvSpPr/>
          <p:nvPr/>
        </p:nvSpPr>
        <p:spPr>
          <a:xfrm>
            <a:off x="11029950" y="1628775"/>
            <a:ext cx="4505325" cy="4476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框架"/>
          <p:cNvSpPr/>
          <p:nvPr/>
        </p:nvSpPr>
        <p:spPr>
          <a:xfrm>
            <a:off x="38671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框架"/>
          <p:cNvSpPr/>
          <p:nvPr/>
        </p:nvSpPr>
        <p:spPr>
          <a:xfrm>
            <a:off x="55816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框架"/>
          <p:cNvSpPr/>
          <p:nvPr/>
        </p:nvSpPr>
        <p:spPr>
          <a:xfrm>
            <a:off x="72961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框架"/>
          <p:cNvSpPr/>
          <p:nvPr/>
        </p:nvSpPr>
        <p:spPr>
          <a:xfrm>
            <a:off x="9010650" y="2400300"/>
            <a:ext cx="1600200" cy="361950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框架"/>
          <p:cNvSpPr/>
          <p:nvPr/>
        </p:nvSpPr>
        <p:spPr>
          <a:xfrm>
            <a:off x="11029950" y="5715000"/>
            <a:ext cx="1866900" cy="2952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框架"/>
          <p:cNvSpPr/>
          <p:nvPr/>
        </p:nvSpPr>
        <p:spPr>
          <a:xfrm>
            <a:off x="13173075" y="5715000"/>
            <a:ext cx="2352675" cy="295275"/>
          </a:xfrm>
          <a:prstGeom prst="rect">
            <a:avLst/>
          </a:prstGeom>
          <a:solidFill>
            <a:srgbClr val="E2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框架"/>
          <p:cNvSpPr/>
          <p:nvPr/>
        </p:nvSpPr>
        <p:spPr>
          <a:xfrm>
            <a:off x="3867150" y="7715250"/>
            <a:ext cx="11677650" cy="428625"/>
          </a:xfrm>
          <a:prstGeom prst="roundRect">
            <a:avLst>
              <a:gd name="adj" fmla="val 2500"/>
            </a:avLst>
          </a:prstGeom>
          <a:solidFill>
            <a:srgbClr val="095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独立图标或流程线" descr="p16_ico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950" y="2295525"/>
            <a:ext cx="438150" cy="371475"/>
          </a:xfrm>
          <a:prstGeom prst="rect">
            <a:avLst/>
          </a:prstGeom>
        </p:spPr>
      </p:pic>
      <p:pic>
        <p:nvPicPr>
          <p:cNvPr id="42" name="独立图标或流程线" descr="p16_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2819400"/>
            <a:ext cx="5448300" cy="314325"/>
          </a:xfrm>
          <a:prstGeom prst="rect">
            <a:avLst/>
          </a:prstGeom>
        </p:spPr>
      </p:pic>
      <p:pic>
        <p:nvPicPr>
          <p:cNvPr id="43" name="独立图标或流程线" descr="p16_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0475" y="3000375"/>
            <a:ext cx="400050" cy="409575"/>
          </a:xfrm>
          <a:prstGeom prst="rect">
            <a:avLst/>
          </a:prstGeom>
        </p:spPr>
      </p:pic>
      <p:pic>
        <p:nvPicPr>
          <p:cNvPr id="44" name="独立图标或流程线" descr="p16_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3371850"/>
            <a:ext cx="400050" cy="361950"/>
          </a:xfrm>
          <a:prstGeom prst="rect">
            <a:avLst/>
          </a:prstGeom>
        </p:spPr>
      </p:pic>
      <p:pic>
        <p:nvPicPr>
          <p:cNvPr id="45" name="独立图标或流程线" descr="p16_icon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3362325"/>
            <a:ext cx="409575" cy="371475"/>
          </a:xfrm>
          <a:prstGeom prst="rect">
            <a:avLst/>
          </a:prstGeom>
        </p:spPr>
      </p:pic>
      <p:pic>
        <p:nvPicPr>
          <p:cNvPr id="46" name="独立图标或流程线" descr="p16_icon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600" y="3362325"/>
            <a:ext cx="361950" cy="390525"/>
          </a:xfrm>
          <a:prstGeom prst="rect">
            <a:avLst/>
          </a:prstGeom>
        </p:spPr>
      </p:pic>
      <p:pic>
        <p:nvPicPr>
          <p:cNvPr id="47" name="独立图标或流程线" descr="p16_icon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25" y="3362325"/>
            <a:ext cx="342900" cy="390525"/>
          </a:xfrm>
          <a:prstGeom prst="rect">
            <a:avLst/>
          </a:prstGeom>
        </p:spPr>
      </p:pic>
      <p:pic>
        <p:nvPicPr>
          <p:cNvPr id="48" name="独立图标或流程线" descr="p16_icon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9525" y="3714750"/>
            <a:ext cx="371475" cy="428625"/>
          </a:xfrm>
          <a:prstGeom prst="rect">
            <a:avLst/>
          </a:prstGeom>
        </p:spPr>
      </p:pic>
      <p:pic>
        <p:nvPicPr>
          <p:cNvPr id="49" name="独立图标或流程线" descr="p16_icon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9525" y="4476750"/>
            <a:ext cx="381000" cy="381000"/>
          </a:xfrm>
          <a:prstGeom prst="rect">
            <a:avLst/>
          </a:prstGeom>
        </p:spPr>
      </p:pic>
      <p:pic>
        <p:nvPicPr>
          <p:cNvPr id="50" name="独立图标或流程线" descr="p16_icon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4495800"/>
            <a:ext cx="342900" cy="381000"/>
          </a:xfrm>
          <a:prstGeom prst="rect">
            <a:avLst/>
          </a:prstGeom>
        </p:spPr>
      </p:pic>
      <p:pic>
        <p:nvPicPr>
          <p:cNvPr id="51" name="独立图标或流程线" descr="p16_icon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29550" y="4552950"/>
            <a:ext cx="390525" cy="390525"/>
          </a:xfrm>
          <a:prstGeom prst="rect">
            <a:avLst/>
          </a:prstGeom>
        </p:spPr>
      </p:pic>
      <p:pic>
        <p:nvPicPr>
          <p:cNvPr id="52" name="独立图标或流程线" descr="p16_icon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4100" y="4591050"/>
            <a:ext cx="371475" cy="371475"/>
          </a:xfrm>
          <a:prstGeom prst="rect">
            <a:avLst/>
          </a:prstGeom>
        </p:spPr>
      </p:pic>
      <p:pic>
        <p:nvPicPr>
          <p:cNvPr id="53" name="独立图标或流程线" descr="p16_icon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25" y="4724400"/>
            <a:ext cx="342900" cy="381000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13144500" y="5472112"/>
            <a:ext cx="2409825" cy="0"/>
          </a:xfrm>
          <a:prstGeom prst="line">
            <a:avLst/>
          </a:prstGeom>
          <a:ln w="9525">
            <a:solidFill>
              <a:srgbClr val="86AA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独立图标或流程线" descr="p16_icon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15475" y="5638800"/>
            <a:ext cx="447675" cy="342900"/>
          </a:xfrm>
          <a:prstGeom prst="rect">
            <a:avLst/>
          </a:prstGeom>
        </p:spPr>
      </p:pic>
      <p:pic>
        <p:nvPicPr>
          <p:cNvPr id="56" name="独立图标或流程线" descr="p16_icon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625" y="5886450"/>
            <a:ext cx="342900" cy="371475"/>
          </a:xfrm>
          <a:prstGeom prst="rect">
            <a:avLst/>
          </a:prstGeom>
        </p:spPr>
      </p:pic>
      <p:pic>
        <p:nvPicPr>
          <p:cNvPr id="57" name="独立图标或流程线" descr="p16_icon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29550" y="6019800"/>
            <a:ext cx="400050" cy="361950"/>
          </a:xfrm>
          <a:prstGeom prst="rect">
            <a:avLst/>
          </a:prstGeom>
        </p:spPr>
      </p:pic>
      <p:pic>
        <p:nvPicPr>
          <p:cNvPr id="58" name="独立图标或流程线" descr="p16_icon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20450" y="6076950"/>
            <a:ext cx="285750" cy="295275"/>
          </a:xfrm>
          <a:prstGeom prst="rect">
            <a:avLst/>
          </a:prstGeom>
        </p:spPr>
      </p:pic>
      <p:pic>
        <p:nvPicPr>
          <p:cNvPr id="59" name="独立图标或流程线" descr="p16_icon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34925" y="6115050"/>
            <a:ext cx="152400" cy="219075"/>
          </a:xfrm>
          <a:prstGeom prst="rect">
            <a:avLst/>
          </a:prstGeom>
        </p:spPr>
      </p:pic>
      <p:pic>
        <p:nvPicPr>
          <p:cNvPr id="60" name="独立图标或流程线" descr="p16_icon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600" y="6124575"/>
            <a:ext cx="361950" cy="371475"/>
          </a:xfrm>
          <a:prstGeom prst="rect">
            <a:avLst/>
          </a:prstGeom>
        </p:spPr>
      </p:pic>
      <p:pic>
        <p:nvPicPr>
          <p:cNvPr id="61" name="独立图标或流程线" descr="p16_icon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20450" y="6477000"/>
            <a:ext cx="295275" cy="323850"/>
          </a:xfrm>
          <a:prstGeom prst="rect">
            <a:avLst/>
          </a:prstGeom>
        </p:spPr>
      </p:pic>
      <p:pic>
        <p:nvPicPr>
          <p:cNvPr id="62" name="独立图标或流程线" descr="p16_icon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34925" y="6524625"/>
            <a:ext cx="152400" cy="228600"/>
          </a:xfrm>
          <a:prstGeom prst="rect">
            <a:avLst/>
          </a:prstGeom>
        </p:spPr>
      </p:pic>
      <p:pic>
        <p:nvPicPr>
          <p:cNvPr id="63" name="独立图标或流程线" descr="p16_icon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29975" y="6886575"/>
            <a:ext cx="276225" cy="323850"/>
          </a:xfrm>
          <a:prstGeom prst="rect">
            <a:avLst/>
          </a:prstGeom>
        </p:spPr>
      </p:pic>
      <p:pic>
        <p:nvPicPr>
          <p:cNvPr id="64" name="独立图标或流程线" descr="p16_icon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34925" y="6943725"/>
            <a:ext cx="152400" cy="219075"/>
          </a:xfrm>
          <a:prstGeom prst="rect">
            <a:avLst/>
          </a:prstGeom>
        </p:spPr>
      </p:pic>
      <p:pic>
        <p:nvPicPr>
          <p:cNvPr id="65" name="独立图标或流程线" descr="p16_icon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39225" y="6962775"/>
            <a:ext cx="381000" cy="438150"/>
          </a:xfrm>
          <a:prstGeom prst="rect">
            <a:avLst/>
          </a:prstGeom>
        </p:spPr>
      </p:pic>
      <p:pic>
        <p:nvPicPr>
          <p:cNvPr id="66" name="独立图标或流程线" descr="p16_icon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20450" y="7315200"/>
            <a:ext cx="295275" cy="247649"/>
          </a:xfrm>
          <a:prstGeom prst="rect">
            <a:avLst/>
          </a:prstGeom>
        </p:spPr>
      </p:pic>
      <p:pic>
        <p:nvPicPr>
          <p:cNvPr id="67" name="独立图标或流程线" descr="p16_icon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34925" y="7343775"/>
            <a:ext cx="152400" cy="219075"/>
          </a:xfrm>
          <a:prstGeom prst="rect">
            <a:avLst/>
          </a:prstGeom>
        </p:spPr>
      </p:pic>
      <p:pic>
        <p:nvPicPr>
          <p:cNvPr id="68" name="独立图标或流程线" descr="p16_icon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81425" y="7410449"/>
            <a:ext cx="190500" cy="152400"/>
          </a:xfrm>
          <a:prstGeom prst="rect">
            <a:avLst/>
          </a:prstGeom>
        </p:spPr>
      </p:pic>
      <p:pic>
        <p:nvPicPr>
          <p:cNvPr id="69" name="独立图标或流程线" descr="p16_icon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440025" y="7439024"/>
            <a:ext cx="219075" cy="123824"/>
          </a:xfrm>
          <a:prstGeom prst="rect">
            <a:avLst/>
          </a:prstGeom>
        </p:spPr>
      </p:pic>
      <p:sp>
        <p:nvSpPr>
          <p:cNvPr id="70" name="文字：未来1年"/>
          <p:cNvSpPr txBox="1"/>
          <p:nvPr/>
        </p:nvSpPr>
        <p:spPr>
          <a:xfrm>
            <a:off x="4086225" y="1676400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未来1年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字：未来3年"/>
          <p:cNvSpPr txBox="1"/>
          <p:nvPr/>
        </p:nvSpPr>
        <p:spPr>
          <a:xfrm>
            <a:off x="11229975" y="1676400"/>
            <a:ext cx="134302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未来3年</a:t>
            </a:r>
            <a:endParaRPr sz="23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文字：茶企/合作社试用"/>
          <p:cNvSpPr txBox="1"/>
          <p:nvPr/>
        </p:nvSpPr>
        <p:spPr>
          <a:xfrm>
            <a:off x="12201525" y="223837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茶企/合作社试用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文字：0-3个月"/>
          <p:cNvSpPr txBox="1"/>
          <p:nvPr/>
        </p:nvSpPr>
        <p:spPr>
          <a:xfrm>
            <a:off x="4238625" y="2428875"/>
            <a:ext cx="9334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0-3个月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文字：4-6个月"/>
          <p:cNvSpPr txBox="1"/>
          <p:nvPr/>
        </p:nvSpPr>
        <p:spPr>
          <a:xfrm>
            <a:off x="5943600" y="2409825"/>
            <a:ext cx="942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4-6个月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" name="文字：7-9个月"/>
          <p:cNvSpPr txBox="1"/>
          <p:nvPr/>
        </p:nvSpPr>
        <p:spPr>
          <a:xfrm>
            <a:off x="7667625" y="2409825"/>
            <a:ext cx="9429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7-9个月</a:t>
            </a:r>
            <a:endParaRPr sz="193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字：10-12个月"/>
          <p:cNvSpPr txBox="1"/>
          <p:nvPr/>
        </p:nvSpPr>
        <p:spPr>
          <a:xfrm>
            <a:off x="9258300" y="2428875"/>
            <a:ext cx="11334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75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10-12个月</a:t>
            </a:r>
            <a:endParaRPr sz="175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字：在更多产区推广应用，形成可复制模式"/>
          <p:cNvSpPr txBox="1"/>
          <p:nvPr/>
        </p:nvSpPr>
        <p:spPr>
          <a:xfrm>
            <a:off x="12201525" y="2524125"/>
            <a:ext cx="29432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在更多产区推广应用，形成可复制模式</a:t>
            </a:r>
            <a:endParaRPr sz="13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文字：完善外挂改造和闭环设备"/>
          <p:cNvSpPr txBox="1"/>
          <p:nvPr/>
        </p:nvSpPr>
        <p:spPr>
          <a:xfrm>
            <a:off x="12201525" y="2971800"/>
            <a:ext cx="23336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完善外挂改造和闭环设备</a:t>
            </a:r>
            <a:endParaRPr sz="16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字：适配不同规模与场景，提升通用性"/>
          <p:cNvSpPr txBox="1"/>
          <p:nvPr/>
        </p:nvSpPr>
        <p:spPr>
          <a:xfrm>
            <a:off x="12201525" y="3257550"/>
            <a:ext cx="26193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适配不同规模与场景，提升通用性</a:t>
            </a:r>
            <a:endParaRPr sz="133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文字：建立工艺数据与知识库"/>
          <p:cNvSpPr txBox="1"/>
          <p:nvPr/>
        </p:nvSpPr>
        <p:spPr>
          <a:xfrm>
            <a:off x="12211050" y="3714750"/>
            <a:ext cx="2162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建立工艺数据与知识库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文字：完成多模态"/>
          <p:cNvSpPr txBox="1"/>
          <p:nvPr/>
        </p:nvSpPr>
        <p:spPr>
          <a:xfrm>
            <a:off x="3962400" y="394335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完成多模态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" name="文字：多批次状态模型"/>
          <p:cNvSpPr txBox="1"/>
          <p:nvPr/>
        </p:nvSpPr>
        <p:spPr>
          <a:xfrm>
            <a:off x="5676900" y="3943350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49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多批次状态模型</a:t>
            </a:r>
            <a:endParaRPr sz="149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字：人工确认半自动"/>
          <p:cNvSpPr txBox="1"/>
          <p:nvPr/>
        </p:nvSpPr>
        <p:spPr>
          <a:xfrm>
            <a:off x="7381875" y="3943350"/>
            <a:ext cx="14192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人工确认半自动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字：闭环验证"/>
          <p:cNvSpPr txBox="1"/>
          <p:nvPr/>
        </p:nvSpPr>
        <p:spPr>
          <a:xfrm>
            <a:off x="9067800" y="3943350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闭环验证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字：沉淀工艺规律，支持持续优化"/>
          <p:cNvSpPr txBox="1"/>
          <p:nvPr/>
        </p:nvSpPr>
        <p:spPr>
          <a:xfrm>
            <a:off x="12201525" y="4010025"/>
            <a:ext cx="229552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沉淀工艺规律，支持持续优化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文字：采集平台"/>
          <p:cNvSpPr txBox="1"/>
          <p:nvPr/>
        </p:nvSpPr>
        <p:spPr>
          <a:xfrm>
            <a:off x="3962400" y="4200525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采集平台</a:t>
            </a:r>
            <a:endParaRPr sz="157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7" name="文字：研究向其他乌龙茶迁移"/>
          <p:cNvSpPr txBox="1"/>
          <p:nvPr/>
        </p:nvSpPr>
        <p:spPr>
          <a:xfrm>
            <a:off x="12230100" y="4457700"/>
            <a:ext cx="21717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研究向其他乌龙茶迁移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字：逐步扩展至不同乌龙茶类与工艺"/>
          <p:cNvSpPr txBox="1"/>
          <p:nvPr/>
        </p:nvSpPr>
        <p:spPr>
          <a:xfrm>
            <a:off x="12201525" y="4743450"/>
            <a:ext cx="2466975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逐步扩展至不同乌龙茶类与工艺</a:t>
            </a:r>
            <a:endParaRPr sz="134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字：控制规则和"/>
          <p:cNvSpPr txBox="1"/>
          <p:nvPr/>
        </p:nvSpPr>
        <p:spPr>
          <a:xfrm>
            <a:off x="7372350" y="5124450"/>
            <a:ext cx="10763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控制规则和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字：成茶品质评价"/>
          <p:cNvSpPr txBox="1"/>
          <p:nvPr/>
        </p:nvSpPr>
        <p:spPr>
          <a:xfrm>
            <a:off x="9077325" y="5048250"/>
            <a:ext cx="12287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成茶品质评价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文字：稳定性/干扰/"/>
          <p:cNvSpPr txBox="1"/>
          <p:nvPr/>
        </p:nvSpPr>
        <p:spPr>
          <a:xfrm>
            <a:off x="3952875" y="5257800"/>
            <a:ext cx="1447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7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稳定性/干扰/</a:t>
            </a:r>
            <a:endParaRPr sz="17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" name="文字：多模态消融"/>
          <p:cNvSpPr txBox="1"/>
          <p:nvPr/>
        </p:nvSpPr>
        <p:spPr>
          <a:xfrm>
            <a:off x="5676900" y="5172075"/>
            <a:ext cx="10668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54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多模态消融</a:t>
            </a:r>
            <a:endParaRPr sz="154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字：安全回退"/>
          <p:cNvSpPr txBox="1"/>
          <p:nvPr/>
        </p:nvSpPr>
        <p:spPr>
          <a:xfrm>
            <a:off x="7362825" y="538162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安全回退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字：关键风险与应对"/>
          <p:cNvSpPr txBox="1"/>
          <p:nvPr/>
        </p:nvSpPr>
        <p:spPr>
          <a:xfrm>
            <a:off x="11106150" y="5295900"/>
            <a:ext cx="20478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95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关键风险与应对</a:t>
            </a:r>
            <a:endParaRPr sz="195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字：标定实验"/>
          <p:cNvSpPr txBox="1"/>
          <p:nvPr/>
        </p:nvSpPr>
        <p:spPr>
          <a:xfrm>
            <a:off x="3952875" y="5534025"/>
            <a:ext cx="9048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标定实验</a:t>
            </a:r>
            <a:endParaRPr sz="161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6" name="文字：主要风险"/>
          <p:cNvSpPr txBox="1"/>
          <p:nvPr/>
        </p:nvSpPr>
        <p:spPr>
          <a:xfrm>
            <a:off x="11620500" y="573405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主要风险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字：应对策略"/>
          <p:cNvSpPr txBox="1"/>
          <p:nvPr/>
        </p:nvSpPr>
        <p:spPr>
          <a:xfrm>
            <a:off x="13992225" y="5734050"/>
            <a:ext cx="8477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应对策略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文字：茶企／合作社"/>
          <p:cNvSpPr txBox="1"/>
          <p:nvPr/>
        </p:nvSpPr>
        <p:spPr>
          <a:xfrm>
            <a:off x="9077325" y="6162675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茶企／合作社</a:t>
            </a:r>
            <a:endParaRPr sz="15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字：传感漂移"/>
          <p:cNvSpPr txBox="1"/>
          <p:nvPr/>
        </p:nvSpPr>
        <p:spPr>
          <a:xfrm>
            <a:off x="11715750" y="6096000"/>
            <a:ext cx="8286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传感漂移</a:t>
            </a:r>
            <a:endParaRPr sz="14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0" name="文字：校准和补偿"/>
          <p:cNvSpPr txBox="1"/>
          <p:nvPr/>
        </p:nvSpPr>
        <p:spPr>
          <a:xfrm>
            <a:off x="13211175" y="6096000"/>
            <a:ext cx="10191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4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校准和补偿</a:t>
            </a:r>
            <a:endParaRPr sz="14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" name="文字：跨批次验证"/>
          <p:cNvSpPr txBox="1"/>
          <p:nvPr/>
        </p:nvSpPr>
        <p:spPr>
          <a:xfrm>
            <a:off x="5657850" y="6477000"/>
            <a:ext cx="10763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跨批次验证</a:t>
            </a:r>
            <a:endParaRPr sz="156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" name="文字：真实试点"/>
          <p:cNvSpPr txBox="1"/>
          <p:nvPr/>
        </p:nvSpPr>
        <p:spPr>
          <a:xfrm>
            <a:off x="9067800" y="6400800"/>
            <a:ext cx="8953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真实试点</a:t>
            </a:r>
            <a:endParaRPr sz="15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文字：数据不足"/>
          <p:cNvSpPr txBox="1"/>
          <p:nvPr/>
        </p:nvSpPr>
        <p:spPr>
          <a:xfrm>
            <a:off x="11696700" y="6486525"/>
            <a:ext cx="8572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数据不足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文字：A/B/C小规模"/>
          <p:cNvSpPr txBox="1"/>
          <p:nvPr/>
        </p:nvSpPr>
        <p:spPr>
          <a:xfrm>
            <a:off x="7372350" y="6581775"/>
            <a:ext cx="130492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A/B/C小规模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文字：小样本模型、多批次采集"/>
          <p:cNvSpPr txBox="1"/>
          <p:nvPr/>
        </p:nvSpPr>
        <p:spPr>
          <a:xfrm>
            <a:off x="13239750" y="6515100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小样本模型、多批次采集</a:t>
            </a:r>
            <a:endParaRPr sz="137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文字：获取首批"/>
          <p:cNvSpPr txBox="1"/>
          <p:nvPr/>
        </p:nvSpPr>
        <p:spPr>
          <a:xfrm>
            <a:off x="3962400" y="6677025"/>
            <a:ext cx="8953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59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获取首批</a:t>
            </a:r>
            <a:endParaRPr sz="159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" name="文字：对照"/>
          <p:cNvSpPr txBox="1"/>
          <p:nvPr/>
        </p:nvSpPr>
        <p:spPr>
          <a:xfrm>
            <a:off x="7362825" y="6838950"/>
            <a:ext cx="5334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对照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" name="文字：真实做青数据"/>
          <p:cNvSpPr txBox="1"/>
          <p:nvPr/>
        </p:nvSpPr>
        <p:spPr>
          <a:xfrm>
            <a:off x="3981450" y="6953250"/>
            <a:ext cx="1266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真实做青数据</a:t>
            </a:r>
            <a:endParaRPr sz="141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" name="文字：形成专利/软件/"/>
          <p:cNvSpPr txBox="1"/>
          <p:nvPr/>
        </p:nvSpPr>
        <p:spPr>
          <a:xfrm>
            <a:off x="9486900" y="69532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形成专利/软件/</a:t>
            </a:r>
            <a:endParaRPr sz="140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文字：闭环风险"/>
          <p:cNvSpPr txBox="1"/>
          <p:nvPr/>
        </p:nvSpPr>
        <p:spPr>
          <a:xfrm>
            <a:off x="11725275" y="6924675"/>
            <a:ext cx="8096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闭环风险</a:t>
            </a:r>
            <a:endParaRPr sz="142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字：分阶段、人工接管"/>
          <p:cNvSpPr txBox="1"/>
          <p:nvPr/>
        </p:nvSpPr>
        <p:spPr>
          <a:xfrm>
            <a:off x="13230225" y="6934200"/>
            <a:ext cx="1485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分阶段、人工接管</a:t>
            </a:r>
            <a:endParaRPr sz="138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字：数据资产"/>
          <p:cNvSpPr txBox="1"/>
          <p:nvPr/>
        </p:nvSpPr>
        <p:spPr>
          <a:xfrm>
            <a:off x="9477375" y="7200900"/>
            <a:ext cx="85725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数据资产</a:t>
            </a:r>
            <a:endParaRPr sz="15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3" name="文字：市场风险"/>
          <p:cNvSpPr txBox="1"/>
          <p:nvPr/>
        </p:nvSpPr>
        <p:spPr>
          <a:xfrm>
            <a:off x="11706225" y="7315200"/>
            <a:ext cx="84772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市场风险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文字：真实访谈和低侵入试用"/>
          <p:cNvSpPr txBox="1"/>
          <p:nvPr/>
        </p:nvSpPr>
        <p:spPr>
          <a:xfrm>
            <a:off x="13230225" y="7343775"/>
            <a:ext cx="182880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真实访谈和低侵入试用</a:t>
            </a:r>
            <a:endParaRPr sz="135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文字：路线不是一步到位，而是在安全边界内逐步完成从感知到控制的闭环"/>
          <p:cNvSpPr txBox="1"/>
          <p:nvPr/>
        </p:nvSpPr>
        <p:spPr>
          <a:xfrm>
            <a:off x="6086475" y="7827412"/>
            <a:ext cx="6648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</a:pPr>
            <a:r>
              <a:rPr sz="1485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路线不是一步到位，而是在安全边界内逐步完成从感知到控制的闭环</a:t>
            </a:r>
            <a:endParaRPr sz="1485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可编辑框架"/>
          <p:cNvSpPr/>
          <p:nvPr/>
        </p:nvSpPr>
        <p:spPr>
          <a:xfrm>
            <a:off x="0" y="0"/>
            <a:ext cx="159258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：青韵智控"/>
          <p:cNvSpPr txBox="1"/>
          <p:nvPr/>
        </p:nvSpPr>
        <p:spPr>
          <a:xfrm>
            <a:off x="361950" y="190500"/>
            <a:ext cx="1333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F32"/>
                </a:solidFill>
                <a:latin typeface="微软雅黑" panose="020B0503020204020204" charset="-122"/>
                <a:ea typeface="微软雅黑" panose="020B0503020204020204" charset="-122"/>
              </a:rPr>
              <a:t>青韵智控</a:t>
            </a:r>
            <a:endParaRPr sz="2400" b="1">
              <a:solidFill>
                <a:srgbClr val="073F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819275" y="257175"/>
            <a:ext cx="0" cy="2762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：让传统制茶更可控"/>
          <p:cNvSpPr txBox="1"/>
          <p:nvPr/>
        </p:nvSpPr>
        <p:spPr>
          <a:xfrm>
            <a:off x="2076450" y="2381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让传统制茶更可控</a:t>
            </a:r>
            <a:endParaRPr sz="18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字：项目背景"/>
          <p:cNvSpPr txBox="1"/>
          <p:nvPr/>
        </p:nvSpPr>
        <p:spPr>
          <a:xfrm>
            <a:off x="85153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项目背景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4869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：项目概述"/>
          <p:cNvSpPr txBox="1"/>
          <p:nvPr/>
        </p:nvSpPr>
        <p:spPr>
          <a:xfrm>
            <a:off x="96488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项目概述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062037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：关键技术"/>
          <p:cNvSpPr txBox="1"/>
          <p:nvPr/>
        </p:nvSpPr>
        <p:spPr>
          <a:xfrm>
            <a:off x="1078230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75385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：实施与验证"/>
          <p:cNvSpPr txBox="1"/>
          <p:nvPr/>
        </p:nvSpPr>
        <p:spPr>
          <a:xfrm>
            <a:off x="1191577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实施与验证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887325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：商业模式"/>
          <p:cNvSpPr txBox="1"/>
          <p:nvPr/>
        </p:nvSpPr>
        <p:spPr>
          <a:xfrm>
            <a:off x="13049250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商业模式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4020800" y="323850"/>
            <a:ext cx="0" cy="161925"/>
          </a:xfrm>
          <a:prstGeom prst="line">
            <a:avLst/>
          </a:prstGeom>
          <a:ln w="9525">
            <a:solidFill>
              <a:srgbClr val="94B5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：未来展望"/>
          <p:cNvSpPr txBox="1"/>
          <p:nvPr/>
        </p:nvSpPr>
        <p:spPr>
          <a:xfrm>
            <a:off x="14182725" y="257175"/>
            <a:ext cx="109537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未来展望</a:t>
            </a:r>
            <a:endParaRPr sz="15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字：17"/>
          <p:cNvSpPr txBox="1"/>
          <p:nvPr/>
        </p:nvSpPr>
        <p:spPr>
          <a:xfrm>
            <a:off x="15163800" y="257175"/>
            <a:ext cx="42862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073F32"/>
                </a:solidFill>
                <a:latin typeface="Times New Roman" panose="02020603050405020304"/>
                <a:ea typeface="Times New Roman" panose="02020603050405020304"/>
              </a:rPr>
              <a:t>17</a:t>
            </a:r>
            <a:endParaRPr sz="1950" b="0">
              <a:solidFill>
                <a:srgbClr val="073F32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0" y="723900"/>
            <a:ext cx="15725775" cy="0"/>
          </a:xfrm>
          <a:prstGeom prst="line">
            <a:avLst/>
          </a:prstGeom>
          <a:ln w="9525">
            <a:solidFill>
              <a:srgbClr val="C7D8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：让一片好茶，"/>
          <p:cNvSpPr txBox="1"/>
          <p:nvPr/>
        </p:nvSpPr>
        <p:spPr>
          <a:xfrm>
            <a:off x="6105525" y="1495425"/>
            <a:ext cx="3810000" cy="771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885"/>
              </a:lnSpc>
              <a:spcBef>
                <a:spcPts val="0"/>
              </a:spcBef>
              <a:spcAft>
                <a:spcPts val="0"/>
              </a:spcAft>
            </a:pPr>
            <a:r>
              <a:rPr sz="488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让一片好茶，</a:t>
            </a:r>
            <a:endParaRPr sz="488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字：“一片茶叶，"/>
          <p:cNvSpPr txBox="1"/>
          <p:nvPr/>
        </p:nvSpPr>
        <p:spPr>
          <a:xfrm>
            <a:off x="13477875" y="1457325"/>
            <a:ext cx="13525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“一片茶叶，</a:t>
            </a:r>
            <a:endParaRPr sz="166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字：连接传统与未来。”"/>
          <p:cNvSpPr txBox="1"/>
          <p:nvPr/>
        </p:nvSpPr>
        <p:spPr>
          <a:xfrm>
            <a:off x="13630275" y="1914525"/>
            <a:ext cx="20669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连接传统与未来。”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字：从经验走向可感知、可计算、可控制。"/>
          <p:cNvSpPr txBox="1"/>
          <p:nvPr/>
        </p:nvSpPr>
        <p:spPr>
          <a:xfrm>
            <a:off x="2886075" y="2505075"/>
            <a:ext cx="10325100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4740"/>
              </a:lnSpc>
              <a:spcBef>
                <a:spcPts val="0"/>
              </a:spcBef>
              <a:spcAft>
                <a:spcPts val="0"/>
              </a:spcAft>
            </a:pPr>
            <a:r>
              <a:rPr sz="4740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从经验走向可感知、可计算、可控制。</a:t>
            </a:r>
            <a:endParaRPr sz="4740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字：感谢聆听"/>
          <p:cNvSpPr txBox="1"/>
          <p:nvPr/>
        </p:nvSpPr>
        <p:spPr>
          <a:xfrm>
            <a:off x="6438900" y="5143500"/>
            <a:ext cx="325755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5195"/>
              </a:lnSpc>
              <a:spcBef>
                <a:spcPts val="0"/>
              </a:spcBef>
              <a:spcAft>
                <a:spcPts val="0"/>
              </a:spcAft>
            </a:pPr>
            <a:r>
              <a:rPr sz="5195" b="1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感谢聆听</a:t>
            </a:r>
            <a:endParaRPr sz="5195" b="1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字：广东工业大学"/>
          <p:cNvSpPr txBox="1"/>
          <p:nvPr/>
        </p:nvSpPr>
        <p:spPr>
          <a:xfrm>
            <a:off x="6915150" y="61912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685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广东工业大学</a:t>
            </a:r>
            <a:endParaRPr sz="1685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字：中国茶·产业智造·中国未来"/>
          <p:cNvSpPr txBox="1"/>
          <p:nvPr/>
        </p:nvSpPr>
        <p:spPr>
          <a:xfrm>
            <a:off x="5734050" y="6600190"/>
            <a:ext cx="4181475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中国茶·产业智造·中国未来</a:t>
            </a:r>
            <a:endParaRPr sz="162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文字：茶&#10;香&#10;中&#10;国"/>
          <p:cNvSpPr txBox="1"/>
          <p:nvPr/>
        </p:nvSpPr>
        <p:spPr>
          <a:xfrm>
            <a:off x="504825" y="1143000"/>
            <a:ext cx="342900" cy="2009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茶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香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中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国</a:t>
            </a:r>
            <a:endParaRPr sz="2175" b="0">
              <a:solidFill>
                <a:srgbClr val="92A89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字：智&#10;造&#10;未&#10;来"/>
          <p:cNvSpPr txBox="1"/>
          <p:nvPr/>
        </p:nvSpPr>
        <p:spPr>
          <a:xfrm>
            <a:off x="962025" y="1495425"/>
            <a:ext cx="342900" cy="171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智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造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未</a:t>
            </a:r>
            <a:b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</a:br>
            <a:r>
              <a:rPr sz="2175" b="0">
                <a:solidFill>
                  <a:srgbClr val="92A89B"/>
                </a:solidFill>
                <a:latin typeface="楷体" panose="02010609060101010101" charset="-122"/>
                <a:ea typeface="楷体" panose="02010609060101010101" charset="-122"/>
              </a:rPr>
              <a:t>来</a:t>
            </a:r>
            <a:endParaRPr sz="2175" b="0">
              <a:solidFill>
                <a:srgbClr val="92A89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文字：青韵智控——以数字技术守护传统制茶经验"/>
          <p:cNvSpPr txBox="1"/>
          <p:nvPr/>
        </p:nvSpPr>
        <p:spPr>
          <a:xfrm>
            <a:off x="4857750" y="4019550"/>
            <a:ext cx="6286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73F3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青韵智控——以数字技术守护传统制茶经验</a:t>
            </a:r>
            <a:endParaRPr sz="2100" b="0">
              <a:solidFill>
                <a:srgbClr val="073F3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7523</Words>
  <Application>WPS 演示</Application>
  <PresentationFormat>On-screen Show (4:3)</PresentationFormat>
  <Paragraphs>1690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Times New Roman</vt:lpstr>
      <vt:lpstr>楷体</vt:lpstr>
      <vt:lpstr>Segoe UI Symbol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面朝大海</cp:lastModifiedBy>
  <cp:revision>4</cp:revision>
  <dcterms:created xsi:type="dcterms:W3CDTF">2013-01-27T09:14:00Z</dcterms:created>
  <dcterms:modified xsi:type="dcterms:W3CDTF">2026-09-27T14:41:32Z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A44E0157000E48949150050406673F9D_12</vt:lpwstr>
  </property>
  <property fmtid="{D5CDD505-2E9C-101B-9397-08002B2CF9AE}" pid="3" name="KSOProductBuildVer">
    <vt:lpwstr>2052-12.1.0.28488</vt:lpwstr>
  </property>
</Properties>
</file>