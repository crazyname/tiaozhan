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0f0ab879eb4eb0" /><Relationship Type="http://schemas.openxmlformats.org/officeDocument/2006/relationships/extended-properties" Target="/docProps/app.xml" Id="Rd235d0073d9b4b3f" /><Relationship Type="http://schemas.openxmlformats.org/officeDocument/2006/relationships/officeDocument" Target="/ppt/presentation.xml" Id="R4f97241daea746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ed165f605f431e"/>
  </p:sldMasterIdLst>
  <p:notesMasterIdLst>
    <p:notesMasterId xmlns:r="http://schemas.openxmlformats.org/officeDocument/2006/relationships" r:id="Rd24322600e514797"/>
  </p:notesMasterIdLst>
  <p:sldIdLst>
    <p:sldId xmlns:r="http://schemas.openxmlformats.org/officeDocument/2006/relationships" id="256" r:id="R86823d6ac8b84de6"/>
    <p:sldId xmlns:r="http://schemas.openxmlformats.org/officeDocument/2006/relationships" id="257" r:id="R8b9e4e31f0ce40bd"/>
    <p:sldId xmlns:r="http://schemas.openxmlformats.org/officeDocument/2006/relationships" id="258" r:id="Rd08e531528674586"/>
    <p:sldId xmlns:r="http://schemas.openxmlformats.org/officeDocument/2006/relationships" id="259" r:id="R79ccbeab3a91497a"/>
    <p:sldId xmlns:r="http://schemas.openxmlformats.org/officeDocument/2006/relationships" id="260" r:id="Rc1c0d7d973724a4c"/>
    <p:sldId xmlns:r="http://schemas.openxmlformats.org/officeDocument/2006/relationships" id="261" r:id="Rc5e58db81ab4437d"/>
    <p:sldId xmlns:r="http://schemas.openxmlformats.org/officeDocument/2006/relationships" id="262" r:id="Rc8ac68fb15c04f58"/>
    <p:sldId xmlns:r="http://schemas.openxmlformats.org/officeDocument/2006/relationships" id="263" r:id="Rd736732b23e741ad"/>
    <p:sldId xmlns:r="http://schemas.openxmlformats.org/officeDocument/2006/relationships" id="264" r:id="R14e00221db874077"/>
    <p:sldId xmlns:r="http://schemas.openxmlformats.org/officeDocument/2006/relationships" id="265" r:id="R365fb550de0246dc"/>
    <p:sldId xmlns:r="http://schemas.openxmlformats.org/officeDocument/2006/relationships" id="266" r:id="Rd40e20a0218e4407"/>
    <p:sldId xmlns:r="http://schemas.openxmlformats.org/officeDocument/2006/relationships" id="267" r:id="Ra8cb32ff0a1744b8"/>
    <p:sldId xmlns:r="http://schemas.openxmlformats.org/officeDocument/2006/relationships" id="268" r:id="Re88d8edaaca54ecf"/>
    <p:sldId xmlns:r="http://schemas.openxmlformats.org/officeDocument/2006/relationships" id="269" r:id="Rca5b8828625948ec"/>
    <p:sldId xmlns:r="http://schemas.openxmlformats.org/officeDocument/2006/relationships" id="270" r:id="Rd6c83625380e4f49"/>
    <p:sldId xmlns:r="http://schemas.openxmlformats.org/officeDocument/2006/relationships" id="271" r:id="Ra2f3c3decf9949fa"/>
    <p:sldId xmlns:r="http://schemas.openxmlformats.org/officeDocument/2006/relationships" id="272" r:id="Rf655176cb02640c6"/>
  </p:sldIdLst>
  <p:sldSz cx="15925800" cy="8963025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fa6e0e64ab4832" /><Relationship Type="http://schemas.openxmlformats.org/officeDocument/2006/relationships/slideMaster" Target="/ppt/slideMasters/slideMaster1.xml" Id="Rd1ed165f605f431e" /><Relationship Type="http://schemas.openxmlformats.org/officeDocument/2006/relationships/notesMaster" Target="/ppt/notesMasters/notesMaster1.xml" Id="Rd24322600e514797" /><Relationship Type="http://schemas.openxmlformats.org/officeDocument/2006/relationships/presProps" Target="/ppt/presProps.xml" Id="R1d7fde8ed8ca4ff1" /><Relationship Type="http://schemas.openxmlformats.org/officeDocument/2006/relationships/viewProps" Target="/ppt/viewProps.xml" Id="R9667d3bb9e5649cd" /><Relationship Type="http://schemas.openxmlformats.org/officeDocument/2006/relationships/tableStyles" Target="/ppt/tableStyles.xml" Id="Re2b6097ac993478a" /><Relationship Type="http://schemas.openxmlformats.org/officeDocument/2006/relationships/slide" Target="/ppt/slides/slide1.xml" Id="R86823d6ac8b84de6" /><Relationship Type="http://schemas.openxmlformats.org/officeDocument/2006/relationships/slide" Target="/ppt/slides/slide2.xml" Id="R8b9e4e31f0ce40bd" /><Relationship Type="http://schemas.openxmlformats.org/officeDocument/2006/relationships/slide" Target="/ppt/slides/slide3.xml" Id="Rd08e531528674586" /><Relationship Type="http://schemas.openxmlformats.org/officeDocument/2006/relationships/slide" Target="/ppt/slides/slide4.xml" Id="R79ccbeab3a91497a" /><Relationship Type="http://schemas.openxmlformats.org/officeDocument/2006/relationships/slide" Target="/ppt/slides/slide5.xml" Id="Rc1c0d7d973724a4c" /><Relationship Type="http://schemas.openxmlformats.org/officeDocument/2006/relationships/slide" Target="/ppt/slides/slide6.xml" Id="Rc5e58db81ab4437d" /><Relationship Type="http://schemas.openxmlformats.org/officeDocument/2006/relationships/slide" Target="/ppt/slides/slide7.xml" Id="Rc8ac68fb15c04f58" /><Relationship Type="http://schemas.openxmlformats.org/officeDocument/2006/relationships/slide" Target="/ppt/slides/slide8.xml" Id="Rd736732b23e741ad" /><Relationship Type="http://schemas.openxmlformats.org/officeDocument/2006/relationships/slide" Target="/ppt/slides/slide9.xml" Id="R14e00221db874077" /><Relationship Type="http://schemas.openxmlformats.org/officeDocument/2006/relationships/slide" Target="/ppt/slides/slide10.xml" Id="R365fb550de0246dc" /><Relationship Type="http://schemas.openxmlformats.org/officeDocument/2006/relationships/slide" Target="/ppt/slides/slide11.xml" Id="Rd40e20a0218e4407" /><Relationship Type="http://schemas.openxmlformats.org/officeDocument/2006/relationships/slide" Target="/ppt/slides/slide12.xml" Id="Ra8cb32ff0a1744b8" /><Relationship Type="http://schemas.openxmlformats.org/officeDocument/2006/relationships/slide" Target="/ppt/slides/slide13.xml" Id="Re88d8edaaca54ecf" /><Relationship Type="http://schemas.openxmlformats.org/officeDocument/2006/relationships/slide" Target="/ppt/slides/slide14.xml" Id="Rca5b8828625948ec" /><Relationship Type="http://schemas.openxmlformats.org/officeDocument/2006/relationships/slide" Target="/ppt/slides/slide15.xml" Id="Rd6c83625380e4f49" /><Relationship Type="http://schemas.openxmlformats.org/officeDocument/2006/relationships/slide" Target="/ppt/slides/slide16.xml" Id="Ra2f3c3decf9949fa" /><Relationship Type="http://schemas.openxmlformats.org/officeDocument/2006/relationships/slide" Target="/ppt/slides/slide17.xml" Id="Rf655176cb02640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998e0d46fb4f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b4b33fba4a4b42" /><Relationship Type="http://schemas.openxmlformats.org/officeDocument/2006/relationships/notesMaster" Target="/ppt/notesMasters/notesMaster1.xml" Id="Rbe746a0d4f2e49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8c853b76e64aa2" /><Relationship Type="http://schemas.openxmlformats.org/officeDocument/2006/relationships/notesMaster" Target="/ppt/notesMasters/notesMaster1.xml" Id="Rc7442d57829e4a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62fb0242f94eda" /><Relationship Type="http://schemas.openxmlformats.org/officeDocument/2006/relationships/notesMaster" Target="/ppt/notesMasters/notesMaster1.xml" Id="R049d672a16af4a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9ea6dab6f54b79" /><Relationship Type="http://schemas.openxmlformats.org/officeDocument/2006/relationships/notesMaster" Target="/ppt/notesMasters/notesMaster1.xml" Id="Rb27384e97f604d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aea2048bd84d83" /><Relationship Type="http://schemas.openxmlformats.org/officeDocument/2006/relationships/notesMaster" Target="/ppt/notesMasters/notesMaster1.xml" Id="R0ca4de80faca46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3b032ff1344454" /><Relationship Type="http://schemas.openxmlformats.org/officeDocument/2006/relationships/notesMaster" Target="/ppt/notesMasters/notesMaster1.xml" Id="R38d0e4589a5546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5e7db48dd848b1" /><Relationship Type="http://schemas.openxmlformats.org/officeDocument/2006/relationships/notesMaster" Target="/ppt/notesMasters/notesMaster1.xml" Id="R5ec809a8777747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48aa9459b2453c" /><Relationship Type="http://schemas.openxmlformats.org/officeDocument/2006/relationships/notesMaster" Target="/ppt/notesMasters/notesMaster1.xml" Id="R08b36b7b675c46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dd1840367094f86" /><Relationship Type="http://schemas.openxmlformats.org/officeDocument/2006/relationships/notesMaster" Target="/ppt/notesMasters/notesMaster1.xml" Id="Rdb6b2b08e1dd4b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f3f244a15541e5" /><Relationship Type="http://schemas.openxmlformats.org/officeDocument/2006/relationships/notesMaster" Target="/ppt/notesMasters/notesMaster1.xml" Id="R1a405bea6c1d4f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08ed2f08054688" /><Relationship Type="http://schemas.openxmlformats.org/officeDocument/2006/relationships/notesMaster" Target="/ppt/notesMasters/notesMaster1.xml" Id="R3b1dbe68a24c4c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69ac00893754d6c" /><Relationship Type="http://schemas.openxmlformats.org/officeDocument/2006/relationships/notesMaster" Target="/ppt/notesMasters/notesMaster1.xml" Id="R26542cf271514a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edb4614c604a62" /><Relationship Type="http://schemas.openxmlformats.org/officeDocument/2006/relationships/notesMaster" Target="/ppt/notesMasters/notesMaster1.xml" Id="Ra7f3b141690444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3442d58d3c541b3" /><Relationship Type="http://schemas.openxmlformats.org/officeDocument/2006/relationships/notesMaster" Target="/ppt/notesMasters/notesMaster1.xml" Id="Rc538e41c0be44c2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71c19ff317f4926" /><Relationship Type="http://schemas.openxmlformats.org/officeDocument/2006/relationships/notesMaster" Target="/ppt/notesMasters/notesMaster1.xml" Id="Rfc61c7513d4144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ac8db6d2071460b" /><Relationship Type="http://schemas.openxmlformats.org/officeDocument/2006/relationships/notesMaster" Target="/ppt/notesMasters/notesMaster1.xml" Id="R2dc72152231444c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7f93b5013784432" /><Relationship Type="http://schemas.openxmlformats.org/officeDocument/2006/relationships/notesMaster" Target="/ppt/notesMasters/notesMaster1.xml" Id="Rc0701163350746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约20秒。当前作品以多参数采集、过程记录和批次追溯为核心。硬件指标引用项目归档的数据结果.xlsx，状态识别、自适应执行及品质改善属于后续验证。负责人沿用原PPT信息。背景沿用原文件，仅作装饰，不表示真实样机或应用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约15秒。六个章节按问题、方案和成果组织，保持原17页总数，不增加团队正文页。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30秒。本页为项目问题定义，来源为项目说明书与研发路线，并非客户调研统计。项目希望研究多参数数据如何辅助师傅判断，尚未证明生产效率或品质提高。来源：submission/03_作品说明书/青韵智控_作品说明书主稿.md，docs/13_硬件测试后完整研发路线与验收标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约25秒。这是记录方式的功能示意，未针对任何具体竞品给出性能排名。当前项目可证明的是档案组织能力，决策有效性待独立批次验证。来源：software/host_mvp/README.md。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约30秒。固件QY-FW-0.4.0，JSONL-v0.3，上位机host_mvp-v0.9.0。设备约1 Hz顺序读取，统一时间记录，不称严格硬件同步。设计中的受限命令接口不等于实体控制已验收。来源：docs/14_答辩软硬件与工程数据冻结单_20261009.md，software/host_mvp/README.md。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35秒。硬件结果仅以归档的处理结果表为准，本地实机资料在项目之外。本页不展示隔离记录或AI生成样机。四通道为TGS2600、TGS2602、TGS2603电压加BME688气体电阻。SHT31为TH1—TH5，每组环境与采样腔两行。表格申报材料摘要E4:E14为否，原标记未改，正式申报前应确认含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30秒。创新特色首先体现在多参数、质量标记、事件、标签与批次关联的工程组织。现场软件演示须标注模拟模式，不将模拟曲线当成茶样试验。2026年10月9日本机软件复验59/60通过，工程报告用例因缺少matplotlib错误，演示报告导出前需整改。来源：software/host_mvp/README.md，docs/15_答辩基础报告_20261009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约35秒。CV按O5:O8缓存值绘图，五次重复响应为表内处理数据。最大CV 8.19%，响应幅度39.16%—67.36%，响应时间58.6—97.4秒。BME688电阻响应方向与TGS电压不同，CV使用处理表口径，不把响应幅度当香气浓度。湿度补偿、气路与跨批次稳定性仍待验证。申报标记原为否，待确认正式使用含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约30秒。标定是500—5000g静态10点，每点5次，图中为各标定点相对误差。最大CV 0.204%，线性R²0.99999986。质量变化不能直接解释为绝对含水率，动态精度和长期漂移待验证。原表申报标记为否，待确认。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30秒。完整率按有效数/理论数计算，不等于全面8小时安全验收。理论有效记录差为23，H14丢包数为20，定义差异保留，未擅改。独立急停、安全链、失联、流量、滚筒与编码器实机验收不由本表证明。原表申报标记为否，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30秒。核心创新表述保持具体。已实现数据组织与回放，多模态识别增益、跨批次校准收益、自适应决策效果尚需实验。未核实专利、论文、第三方检测或行业领先幅度，不写成成果。来源：docs/15_答辩基础报告_20261009.md，docs/13_硬件测试后完整研发路线与验收标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30秒。图由10个12分钟窗口的起末端点绘制，仅表示窗口端点间的连接，不是逐秒原始曲线。初始4004.705g，结束3906.172g，减少98.533g，占初始2.46%。样品为凤凰单丛静置，未包含完整摇青与静置循环，不能当成含水率或品质结果。原表K/L为结束减初始的负值，此页使用正减少量。原表申报标记为否，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30秒。后续试验需先完成模型、人工确认流程及必要安全验收。A/B/C控制原料、后处理和评价流程，采用独立批次与盲评，具体批次数按统计功效与试验资源制定，未开展结果不可填写。来源：docs/13_硬件测试后完整研发路线与验收标准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约25秒。本页为应用价值主张，尚无用户效果统计，不宣称降低成本、替代师傅或已提升成茶品质。现场试用和客户访谈待开展。来源：docs/07_市场调研与商业验证计划.md。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30秒。目标先考虑凤凰单丛中小茶企与科研教学客户。收入、售价、销量、付费意愿尚未验证，不填虚构营收或融资金额。早期1000—3000元预研预算不当作整机报价。财务测算应使用采购BOM、装配工时、交付与售后成本，并做销量和毛利敏感性分析。来源：docs/07_市场调研与商业验证计划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30秒。学生参与具体工作应结合真实提交记录说明，未提供的成员、导师、荣誉、专利与合作关系不补写。本项目已有固件与数据平台、33项表格指标映射及121个缓存算式核对记录，作为执行基础。研发门槛来自docs/13_硬件测试后完整研发路线与验收标准.md。当前软件环境复验缺matplotlib，展示报告导出前先修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约15秒。用已有采集与追溯成果收束，不承诺已经实现品质提升。背景沿用源文件，仅作装饰。问答可调取数据结果.xlsx和答辩基础报告，当前17页总数不额外加入附录。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5b4dd4ca8444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7f89cb0a04a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0f2339544b41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c44318f3d94e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6ab93f72741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ac6e7401b0482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440c5d923741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c874ccbf16442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c9714733a0485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1940a24a4b445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75898ae5b94d6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A039C50-4F29-4592-9169-6221A66EA04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AD77712-25BE-4181-938B-E85A50AA57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9547EBD-BCE1-4133-801F-B6A4333ECBB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A738186-E90B-4BF5-9953-8631B940986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24D567-F510-42C4-B0CF-AFA542B822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D95AE7-D1FD-4B7C-A958-5C7E148A22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B4A372-7BB5-41C6-96FE-EA87E825D93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6816AB-7C43-4C03-B221-420AFDC8B6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BE42E0-4CAC-4B09-80F9-699409BBCA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3C28D2-EC8F-4A0D-A891-A3F3EFEFE3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434F2B-9F5A-4DC5-ADF1-964B937BAB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BC1DF03-7BCF-45C7-9BA1-BB8EDB5243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3A1FB50-839A-4D7A-AABE-E2722FD9D3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4583EEC-BA2E-4EA7-9822-FF0C620C29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F685283-E5B7-45E7-A661-28D59AD038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60F425-8945-4E69-8828-284B7A6996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E5925AE-187D-41BA-89A1-B5AC9A9FE9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C28D293-7184-4FCA-ABDB-DE4A66F8D90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0EF63CE-D853-4D94-8794-24D7CF2E12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3137FAE-D19D-4BCB-873C-215C74D3EF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B7B9ADF-1AFC-47D6-80FC-344635C73B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DADE13B-786B-443D-80AB-AFE746CEB5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BF84003-0DA7-4CF2-A2CE-A0874FA328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899AC64-738A-4A7E-9C2E-73D7DAF5594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22151A2-593F-42D7-B2EE-FCCFC17C865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8CB0926-524F-47D4-BE94-FB34AAF22B9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9FD76B7-FC5F-4324-97FE-4557154161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72348D2-D4B3-42C3-BD71-0E55F693BAA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8CF4337-D1EA-4CF1-A511-9F4CBCE1D6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27C4DC-5B7D-431A-8A31-27F94D6D5B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4A35714-5F33-4867-A511-648AD9845F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FF64D06-822C-4849-945E-DE0D7657A8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D87D604-1FC7-47ED-8008-E8B6FC3B55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5F46B0A-6536-49F6-835E-7CDA17BA59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0B7E063-BB27-496F-85F7-44F9C0FF47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AEB86EA-C504-4CB7-9CD5-19830AE0E8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DD2553-4B39-47B1-A68E-50A6FDF746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730065-55F1-40FD-AB16-13199646827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391B49F-F5E2-44D9-B8B9-B19442FE2C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C88FBEE-32BF-4CF3-93B2-BE0E63D71B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D4E7830-0283-41AB-BCE3-F36B5D62C8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C466C6F-2498-4A06-9EC7-65AA7DC147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6F0DBE-62E6-494C-BB93-E43EC81357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85FEC83-D75B-4A84-86E7-F3A37CFE884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2735656-315C-47F4-954A-3E0D5EFD17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45EEB70-0C5E-4716-A4B8-6F4C632D64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46809F6-9277-4E5F-AE37-4093664801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191730B-F99E-4015-BD46-C4DCE2B750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F91BD5-FDFF-4332-98CD-13A56C25C9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5EB626-FA71-4A17-AF28-AC1F764949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D3DC4F2-C9C3-4ACD-A273-45033FAC27D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FF5C5C-4E27-4B38-8C31-C91D8555E38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08D0B69-E2D0-47EF-891A-9A1B7A05B1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990BC3D-56C4-4BD4-8F96-CDDA03AD6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2258F3-A4DF-4A99-B43F-8AA10CCDC0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C6B8087-3194-4BA0-83B9-DB1E96A6F3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09A08F-87A1-4A37-9664-4DA44017C2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577ABD-10F1-4819-89CF-FE7DDD7B9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194aed286141e4" /><Relationship Type="http://schemas.openxmlformats.org/officeDocument/2006/relationships/slideLayout" Target="/ppt/slideLayouts/slideLayout1.xml" Id="R64929d9f57d942de" /><Relationship Type="http://schemas.openxmlformats.org/officeDocument/2006/relationships/slideLayout" Target="/ppt/slideLayouts/slideLayout2.xml" Id="R80cf3e5518bd4c2f" /><Relationship Type="http://schemas.openxmlformats.org/officeDocument/2006/relationships/slideLayout" Target="/ppt/slideLayouts/slideLayout3.xml" Id="R2cba4421eef946e7" /><Relationship Type="http://schemas.openxmlformats.org/officeDocument/2006/relationships/slideLayout" Target="/ppt/slideLayouts/slideLayout4.xml" Id="R464106c0db064819" /><Relationship Type="http://schemas.openxmlformats.org/officeDocument/2006/relationships/slideLayout" Target="/ppt/slideLayouts/slideLayout5.xml" Id="Rd05a9d34496c4224" /><Relationship Type="http://schemas.openxmlformats.org/officeDocument/2006/relationships/slideLayout" Target="/ppt/slideLayouts/slideLayout6.xml" Id="R50553da4f24f4eaf" /><Relationship Type="http://schemas.openxmlformats.org/officeDocument/2006/relationships/slideLayout" Target="/ppt/slideLayouts/slideLayout7.xml" Id="Rafdcbaf14fe64488" /><Relationship Type="http://schemas.openxmlformats.org/officeDocument/2006/relationships/slideLayout" Target="/ppt/slideLayouts/slideLayout8.xml" Id="Rd9792222d6f147df" /><Relationship Type="http://schemas.openxmlformats.org/officeDocument/2006/relationships/slideLayout" Target="/ppt/slideLayouts/slideLayout9.xml" Id="R43ebd061e9dc4f21" /><Relationship Type="http://schemas.openxmlformats.org/officeDocument/2006/relationships/slideLayout" Target="/ppt/slideLayouts/slideLayout10.xml" Id="R68fdad1145994261" /><Relationship Type="http://schemas.openxmlformats.org/officeDocument/2006/relationships/slideLayout" Target="/ppt/slideLayouts/slideLayout11.xml" Id="R5f75dea7017840d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964E874-F674-4E7C-A5B1-024E8D91F0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09B9AE5-0264-44C9-B519-1AEF78E02C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A59A82-1B01-453D-9FAF-A28324A60A7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7B5E2B-3547-4CB4-969B-A8967E47A02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2AB1B6-996B-4A5A-9D64-0B824874C98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929d9f57d942de"/>
    <p:sldLayoutId xmlns:r="http://schemas.openxmlformats.org/officeDocument/2006/relationships" id="2147483650" r:id="R80cf3e5518bd4c2f"/>
    <p:sldLayoutId xmlns:r="http://schemas.openxmlformats.org/officeDocument/2006/relationships" id="2147483651" r:id="R2cba4421eef946e7"/>
    <p:sldLayoutId xmlns:r="http://schemas.openxmlformats.org/officeDocument/2006/relationships" id="2147483652" r:id="R464106c0db064819"/>
    <p:sldLayoutId xmlns:r="http://schemas.openxmlformats.org/officeDocument/2006/relationships" id="2147483653" r:id="Rd05a9d34496c4224"/>
    <p:sldLayoutId xmlns:r="http://schemas.openxmlformats.org/officeDocument/2006/relationships" id="2147483654" r:id="R50553da4f24f4eaf"/>
    <p:sldLayoutId xmlns:r="http://schemas.openxmlformats.org/officeDocument/2006/relationships" id="2147483655" r:id="Rafdcbaf14fe64488"/>
    <p:sldLayoutId xmlns:r="http://schemas.openxmlformats.org/officeDocument/2006/relationships" id="2147483656" r:id="Rd9792222d6f147df"/>
    <p:sldLayoutId xmlns:r="http://schemas.openxmlformats.org/officeDocument/2006/relationships" id="2147483657" r:id="R43ebd061e9dc4f21"/>
    <p:sldLayoutId xmlns:r="http://schemas.openxmlformats.org/officeDocument/2006/relationships" id="2147483658" r:id="R68fdad1145994261"/>
    <p:sldLayoutId xmlns:r="http://schemas.openxmlformats.org/officeDocument/2006/relationships" id="2147483659" r:id="R5f75dea7017840de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c054a69fe64319" /><Relationship Type="http://schemas.openxmlformats.org/officeDocument/2006/relationships/image" Target="/ppt/media/image.png" Id="R1573c80913b747a6" /><Relationship Type="http://schemas.openxmlformats.org/officeDocument/2006/relationships/notesSlide" Target="/ppt/notesSlides/notesSlide1.xml" Id="R98c35603a8194e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8caf2804e3144f6" /><Relationship Type="http://schemas.openxmlformats.org/officeDocument/2006/relationships/image" Target="/ppt/media/image2.png" Id="R301d014b8fe24b02" /><Relationship Type="http://schemas.openxmlformats.org/officeDocument/2006/relationships/notesSlide" Target="/ppt/notesSlides/notesSlide2.xml" Id="R3265f6dcee3a43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20682e9efdf48fd" /><Relationship Type="http://schemas.openxmlformats.org/officeDocument/2006/relationships/image" Target="/ppt/media/image3.png" Id="Rfbd4d30399b2443f" /><Relationship Type="http://schemas.openxmlformats.org/officeDocument/2006/relationships/notesSlide" Target="/ppt/notesSlides/notesSlide3.xml" Id="Rc568a2483cc141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6e942183da4bad" /><Relationship Type="http://schemas.openxmlformats.org/officeDocument/2006/relationships/image" Target="/ppt/media/image3.png" Id="Rd8c90d788b8e41e0" /><Relationship Type="http://schemas.openxmlformats.org/officeDocument/2006/relationships/notesSlide" Target="/ppt/notesSlides/notesSlide4.xml" Id="R02f2d06c074b4a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9d0e30c5d6407e" /><Relationship Type="http://schemas.openxmlformats.org/officeDocument/2006/relationships/image" Target="/ppt/media/image3.png" Id="Rcf70fec8d85b46e2" /><Relationship Type="http://schemas.openxmlformats.org/officeDocument/2006/relationships/notesSlide" Target="/ppt/notesSlides/notesSlide5.xml" Id="R16e1d009dc3143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0d871677bd54003" /><Relationship Type="http://schemas.openxmlformats.org/officeDocument/2006/relationships/image" Target="/ppt/media/image3.png" Id="R3ffe8c38e2d74d5d" /><Relationship Type="http://schemas.openxmlformats.org/officeDocument/2006/relationships/notesSlide" Target="/ppt/notesSlides/notesSlide6.xml" Id="R016f7905df3a43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752151590b4b2e" /><Relationship Type="http://schemas.openxmlformats.org/officeDocument/2006/relationships/image" Target="/ppt/media/image3.png" Id="Rf5be9d4685aa46d4" /><Relationship Type="http://schemas.openxmlformats.org/officeDocument/2006/relationships/notesSlide" Target="/ppt/notesSlides/notesSlide7.xml" Id="Rc665fd46124a47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5a9fceff3e49a0" /><Relationship Type="http://schemas.openxmlformats.org/officeDocument/2006/relationships/image" Target="/ppt/media/image3.png" Id="Ra302f703b2914a20" /><Relationship Type="http://schemas.openxmlformats.org/officeDocument/2006/relationships/chart" Target="/ppt/slides/charts/chart1.xml" Id="R2eb0bc421ffa4efe" /><Relationship Type="http://schemas.openxmlformats.org/officeDocument/2006/relationships/notesSlide" Target="/ppt/notesSlides/notesSlide8.xml" Id="R4552ac53f80b43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d495c49b1943b5" /><Relationship Type="http://schemas.openxmlformats.org/officeDocument/2006/relationships/image" Target="/ppt/media/image3.png" Id="Rdf364a6d5c4d4eb2" /><Relationship Type="http://schemas.openxmlformats.org/officeDocument/2006/relationships/chart" Target="/ppt/slides/charts/chart2.xml" Id="Re64480d7eb104852" /><Relationship Type="http://schemas.openxmlformats.org/officeDocument/2006/relationships/notesSlide" Target="/ppt/notesSlides/notesSlide9.xml" Id="R6bb006d17a044d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4f19c483184dc4" /><Relationship Type="http://schemas.openxmlformats.org/officeDocument/2006/relationships/image" Target="/ppt/media/image3.png" Id="R74b0838c21b04a8f" /><Relationship Type="http://schemas.openxmlformats.org/officeDocument/2006/relationships/notesSlide" Target="/ppt/notesSlides/notesSlide10.xml" Id="R45ae3b9dbeed4e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e9b8802d6f4f59" /><Relationship Type="http://schemas.openxmlformats.org/officeDocument/2006/relationships/image" Target="/ppt/media/image3.png" Id="Rfad08a2ec2d640ba" /><Relationship Type="http://schemas.openxmlformats.org/officeDocument/2006/relationships/notesSlide" Target="/ppt/notesSlides/notesSlide11.xml" Id="Rfbf56b33b88348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a67b0b6d5f34127" /><Relationship Type="http://schemas.openxmlformats.org/officeDocument/2006/relationships/image" Target="/ppt/media/image3.png" Id="R5b42ba3d3f074a5a" /><Relationship Type="http://schemas.openxmlformats.org/officeDocument/2006/relationships/chart" Target="/ppt/slides/charts/chart3.xml" Id="R3cad2481ef4b424c" /><Relationship Type="http://schemas.openxmlformats.org/officeDocument/2006/relationships/notesSlide" Target="/ppt/notesSlides/notesSlide12.xml" Id="R8b6237e6a21840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11dfa17c28c488b" /><Relationship Type="http://schemas.openxmlformats.org/officeDocument/2006/relationships/image" Target="/ppt/media/image3.png" Id="R1239fbc93c9e4dee" /><Relationship Type="http://schemas.openxmlformats.org/officeDocument/2006/relationships/notesSlide" Target="/ppt/notesSlides/notesSlide13.xml" Id="Rc0aef5af766d49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e61603263c4c67" /><Relationship Type="http://schemas.openxmlformats.org/officeDocument/2006/relationships/image" Target="/ppt/media/image3.png" Id="R66b518f456c74ffe" /><Relationship Type="http://schemas.openxmlformats.org/officeDocument/2006/relationships/notesSlide" Target="/ppt/notesSlides/notesSlide14.xml" Id="Ra57b4f830fb1455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8c4c6bd301e4dd7" /><Relationship Type="http://schemas.openxmlformats.org/officeDocument/2006/relationships/image" Target="/ppt/media/image3.png" Id="R306dbd339a37482d" /><Relationship Type="http://schemas.openxmlformats.org/officeDocument/2006/relationships/notesSlide" Target="/ppt/notesSlides/notesSlide15.xml" Id="Rd4feffdfc1f94c2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782579063b4cf3" /><Relationship Type="http://schemas.openxmlformats.org/officeDocument/2006/relationships/image" Target="/ppt/media/image3.png" Id="Re87e15344c5a4e41" /><Relationship Type="http://schemas.openxmlformats.org/officeDocument/2006/relationships/notesSlide" Target="/ppt/notesSlides/notesSlide16.xml" Id="R1e6966e757e44c9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0cb558563534527" /><Relationship Type="http://schemas.openxmlformats.org/officeDocument/2006/relationships/image" Target="/ppt/media/image4.png" Id="Rdb0c52eb444e4abc" /><Relationship Type="http://schemas.openxmlformats.org/officeDocument/2006/relationships/notesSlide" Target="/ppt/notesSlides/notesSlide17.xml" Id="R2d40cdd3108b4f2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重复测量CV（%）</c:v>
          </c:tx>
          <c:spPr>
            <a:solidFill xmlns:a="http://schemas.openxmlformats.org/drawingml/2006/main">
              <a:srgbClr val="145A32"/>
            </a:solidFill>
          </c:spPr>
          <c:cat>
            <c:strRef>
              <c:f>'Chart Data'!$A$2:$A$5</c:f>
              <c:strCache>
                <c:ptCount val="4"/>
                <c:pt idx="0">
                  <c:v>TGS2600</c:v>
                </c:pt>
                <c:pt idx="1">
                  <c:v>TGS2602</c:v>
                </c:pt>
                <c:pt idx="2">
                  <c:v>TGS2603</c:v>
                </c:pt>
                <c:pt idx="3">
                  <c:v>BME688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8.03406049610578</c:v>
                </c:pt>
                <c:pt idx="1">
                  <c:v>3.88701156701211</c:v>
                </c:pt>
                <c:pt idx="2">
                  <c:v>4.62359408485998</c:v>
                </c:pt>
                <c:pt idx="3">
                  <c:v>8.19373716058922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重复测量CV（%）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相对误差（%）</c:v>
          </c:tx>
          <c:spPr>
            <a:ln xmlns:a="http://schemas.openxmlformats.org/drawingml/2006/main" w="28575">
              <a:solidFill>
                <a:srgbClr val="145A32"/>
              </a:solidFill>
            </a:ln>
          </c:spPr>
          <c:marker>
            <c:symbol val="none"/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500</c:v>
                </c:pt>
                <c:pt idx="1">
                  <c:v>1000</c:v>
                </c:pt>
                <c:pt idx="2">
                  <c:v>1500</c:v>
                </c:pt>
                <c:pt idx="3">
                  <c:v>2000</c:v>
                </c:pt>
                <c:pt idx="4">
                  <c:v>2500</c:v>
                </c:pt>
                <c:pt idx="5">
                  <c:v>3000</c:v>
                </c:pt>
                <c:pt idx="6">
                  <c:v>3500</c:v>
                </c:pt>
                <c:pt idx="7">
                  <c:v>4000</c:v>
                </c:pt>
                <c:pt idx="8">
                  <c:v>4500</c:v>
                </c:pt>
                <c:pt idx="9">
                  <c:v>5000</c:v>
                </c:pt>
              </c:numCache>
            </c:numRef>
          </c:cat>
          <c:val>
            <c:numRef>
              <c:f>'Chart Data'!$B$2:$B$11</c:f>
              <c:numCache>
                <c:formatCode>0.00</c:formatCode>
                <c:ptCount val="10"/>
                <c:pt idx="0">
                  <c:v>0.255999999999983</c:v>
                </c:pt>
                <c:pt idx="1">
                  <c:v>0.285400000000004</c:v>
                </c:pt>
                <c:pt idx="2">
                  <c:v>0.157733333333317</c:v>
                </c:pt>
                <c:pt idx="3">
                  <c:v>0.187899999999991</c:v>
                </c:pt>
                <c:pt idx="4">
                  <c:v>0.148559999999998</c:v>
                </c:pt>
                <c:pt idx="5">
                  <c:v>0.137733333333335</c:v>
                </c:pt>
                <c:pt idx="6">
                  <c:v>0.141714285714287</c:v>
                </c:pt>
                <c:pt idx="7">
                  <c:v>0.109500000000003</c:v>
                </c:pt>
                <c:pt idx="8">
                  <c:v>0.0888000000000021</c:v>
                </c:pt>
                <c:pt idx="9">
                  <c:v>0.104439999999995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标准质量（g）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相对误差（%）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窗口端点质量（g）</c:v>
          </c:tx>
          <c:spPr>
            <a:ln xmlns:a="http://schemas.openxmlformats.org/drawingml/2006/main" w="28575">
              <a:solidFill>
                <a:srgbClr val="145A32"/>
              </a:solidFill>
            </a:ln>
          </c:spPr>
          <c:marker>
            <c:symbol val="none"/>
          </c:marker>
          <c:cat>
            <c:numRef>
              <c:f>'Chart Data'!$A$2:$A$12</c:f>
              <c:numCache>
                <c:formatCode>General</c:formatCode>
                <c:ptCount val="11"/>
                <c:pt idx="0">
                  <c:v>0</c:v>
                </c:pt>
                <c:pt idx="1">
                  <c:v>12</c:v>
                </c:pt>
                <c:pt idx="2">
                  <c:v>24</c:v>
                </c:pt>
                <c:pt idx="3">
                  <c:v>36</c:v>
                </c:pt>
                <c:pt idx="4">
                  <c:v>48</c:v>
                </c:pt>
                <c:pt idx="5">
                  <c:v>60</c:v>
                </c:pt>
                <c:pt idx="6">
                  <c:v>72</c:v>
                </c:pt>
                <c:pt idx="7">
                  <c:v>84</c:v>
                </c:pt>
                <c:pt idx="8">
                  <c:v>96</c:v>
                </c:pt>
                <c:pt idx="9">
                  <c:v>108</c:v>
                </c:pt>
                <c:pt idx="10">
                  <c:v>120</c:v>
                </c:pt>
              </c:numCache>
            </c:numRef>
          </c:cat>
          <c:val>
            <c:numRef>
              <c:f>'Chart Data'!$B$2:$B$12</c:f>
              <c:numCache>
                <c:formatCode>0</c:formatCode>
                <c:ptCount val="11"/>
                <c:pt idx="0">
                  <c:v>4004.705</c:v>
                </c:pt>
                <c:pt idx="1">
                  <c:v>3994.879</c:v>
                </c:pt>
                <c:pt idx="2">
                  <c:v>3983.585</c:v>
                </c:pt>
                <c:pt idx="3">
                  <c:v>3975.331</c:v>
                </c:pt>
                <c:pt idx="4">
                  <c:v>3965.122</c:v>
                </c:pt>
                <c:pt idx="5">
                  <c:v>3954.94</c:v>
                </c:pt>
                <c:pt idx="6">
                  <c:v>3945.892</c:v>
                </c:pt>
                <c:pt idx="7">
                  <c:v>3935.004</c:v>
                </c:pt>
                <c:pt idx="8">
                  <c:v>3925.608</c:v>
                </c:pt>
                <c:pt idx="9">
                  <c:v>3916.438</c:v>
                </c:pt>
                <c:pt idx="10">
                  <c:v>3906.172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累计时间（min）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Microsoft YaHei"/>
                    <a:ea typeface="Microsoft YaHei"/>
                    <a:cs typeface="Microsoft YaHei"/>
                  </a:rPr>
                  <a:t>质量（g）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1573c80913b747a6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青韵智控">
            <a:extLst xmlns:a="http://schemas.openxmlformats.org/drawingml/2006/main">
              <a:ext uri="{FF2B5EF4-FFF2-40B4-BE49-F238E27FC236}">
                <a16:creationId xmlns:a16="http://schemas.microsoft.com/office/drawing/2014/main" id="{D030275D-69E0-4BB0-81A5-6A199769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1095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7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87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青韵智控</a:t>
            </a:r>
          </a:p>
        </p:txBody>
      </p:sp>
      <p:sp>
        <p:nvSpPr>
          <p:cNvPr id="2" name="凤凰单丛做青辅助系统">
            <a:extLst xmlns:a="http://schemas.openxmlformats.org/drawingml/2006/main">
              <a:ext uri="{FF2B5EF4-FFF2-40B4-BE49-F238E27FC236}">
                <a16:creationId xmlns:a16="http://schemas.microsoft.com/office/drawing/2014/main" id="{A1CEE8B6-8DBB-41F5-B5C3-61434981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43375"/>
            <a:ext cx="11239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7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27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凤凰单丛做青辅助系统</a:t>
            </a:r>
          </a:p>
        </p:txBody>
      </p:sp>
      <p:sp>
        <p:nvSpPr>
          <p:cNvPr id="3" name="让做青过程有记录，让工艺经验可复盘">
            <a:extLst xmlns:a="http://schemas.openxmlformats.org/drawingml/2006/main">
              <a:ext uri="{FF2B5EF4-FFF2-40B4-BE49-F238E27FC236}">
                <a16:creationId xmlns:a16="http://schemas.microsoft.com/office/drawing/2014/main" id="{7C3BB0F0-859B-4031-B9B7-DAC355DB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863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让做青过程有记录，让工艺经验可复盘</a:t>
            </a:r>
          </a:p>
        </p:txBody>
      </p:sp>
      <p:sp>
        <p:nvSpPr>
          <p:cNvPr id="4" name="广东工业大学  挑战杯项目答辩">
            <a:extLst xmlns:a="http://schemas.openxmlformats.org/drawingml/2006/main">
              <a:ext uri="{FF2B5EF4-FFF2-40B4-BE49-F238E27FC236}">
                <a16:creationId xmlns:a16="http://schemas.microsoft.com/office/drawing/2014/main" id="{3E45EE58-95E5-4305-9D48-16AB7FF4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1512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rPr>
              <a:t>广东工业大学  挑战杯项目答辩</a:t>
            </a:r>
          </a:p>
        </p:txBody>
      </p:sp>
      <p:sp>
        <p:nvSpPr>
          <p:cNvPr id="5" name="项目负责人：王恩泽    2026年10月">
            <a:extLst xmlns:a="http://schemas.openxmlformats.org/drawingml/2006/main">
              <a:ext uri="{FF2B5EF4-FFF2-40B4-BE49-F238E27FC236}">
                <a16:creationId xmlns:a16="http://schemas.microsoft.com/office/drawing/2014/main" id="{6D58C96D-51AB-4097-83FF-269CC496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28662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rPr>
              <a:t>项目负责人：王恩泽    2026年10月</a:t>
            </a:r>
          </a:p>
        </p:txBody>
      </p:sp>
    </p:spTree>
    <p:extLst>
      <p:ext uri="{BB962C8B-B14F-4D97-AF65-F5344CB8AC3E}">
        <p14:creationId xmlns:p14="http://schemas.microsoft.com/office/powerpoint/2010/main" val="387826680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301d014b8fe24b02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问题、方案与已有成果">
            <a:extLst xmlns:a="http://schemas.openxmlformats.org/drawingml/2006/main">
              <a:ext uri="{FF2B5EF4-FFF2-40B4-BE49-F238E27FC236}">
                <a16:creationId xmlns:a16="http://schemas.microsoft.com/office/drawing/2014/main" id="{FF2FD1E2-1DDF-47E5-A028-DC7BADEC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1381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6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问题、方案与已有成果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E4178949-13FA-44CD-AB98-A1C23B9C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857500"/>
            <a:ext cx="90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为什么需要辅助">
            <a:extLst xmlns:a="http://schemas.openxmlformats.org/drawingml/2006/main">
              <a:ext uri="{FF2B5EF4-FFF2-40B4-BE49-F238E27FC236}">
                <a16:creationId xmlns:a16="http://schemas.microsoft.com/office/drawing/2014/main" id="{4511AF42-834C-43D7-9986-61229490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为什么需要辅助</a:t>
            </a:r>
          </a:p>
        </p:txBody>
      </p:sp>
      <p:sp>
        <p:nvSpPr>
          <p:cNvPr id="4" name="做青经验如何形成可复盘的记录">
            <a:extLst xmlns:a="http://schemas.openxmlformats.org/drawingml/2006/main">
              <a:ext uri="{FF2B5EF4-FFF2-40B4-BE49-F238E27FC236}">
                <a16:creationId xmlns:a16="http://schemas.microsoft.com/office/drawing/2014/main" id="{95A44232-9DB1-4971-BA8F-0393C297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480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rPr>
              <a:t>做青经验如何形成可复盘的记录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79260969-E317-4268-A61C-3733350D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333875"/>
            <a:ext cx="90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我们做出了什么">
            <a:extLst xmlns:a="http://schemas.openxmlformats.org/drawingml/2006/main">
              <a:ext uri="{FF2B5EF4-FFF2-40B4-BE49-F238E27FC236}">
                <a16:creationId xmlns:a16="http://schemas.microsoft.com/office/drawing/2014/main" id="{3DC2D7B3-9A9E-4E82-950F-8B3D584D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338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我们做出了什么</a:t>
            </a:r>
          </a:p>
        </p:txBody>
      </p:sp>
      <p:sp>
        <p:nvSpPr>
          <p:cNvPr id="7" name="采集固件、数据平台与工程处理结果">
            <a:extLst xmlns:a="http://schemas.openxmlformats.org/drawingml/2006/main">
              <a:ext uri="{FF2B5EF4-FFF2-40B4-BE49-F238E27FC236}">
                <a16:creationId xmlns:a16="http://schemas.microsoft.com/office/drawing/2014/main" id="{F970805A-4B8F-4F20-B4B4-DA7D5EB7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244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rPr>
              <a:t>采集固件、数据平台与工程处理结果</a:t>
            </a:r>
          </a:p>
        </p:txBody>
      </p:sp>
      <p:sp>
        <p:nvSpPr>
          <p:cNvPr id="8" name="03">
            <a:extLst xmlns:a="http://schemas.openxmlformats.org/drawingml/2006/main">
              <a:ext uri="{FF2B5EF4-FFF2-40B4-BE49-F238E27FC236}">
                <a16:creationId xmlns:a16="http://schemas.microsoft.com/office/drawing/2014/main" id="{8E8C4455-CCA5-4D39-800B-665C1686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810250"/>
            <a:ext cx="90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怎样走向应用">
            <a:extLst xmlns:a="http://schemas.openxmlformats.org/drawingml/2006/main">
              <a:ext uri="{FF2B5EF4-FFF2-40B4-BE49-F238E27FC236}">
                <a16:creationId xmlns:a16="http://schemas.microsoft.com/office/drawing/2014/main" id="{87872219-4272-4F63-B734-556B7755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102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怎样走向应用</a:t>
            </a:r>
          </a:p>
        </p:txBody>
      </p:sp>
      <p:sp>
        <p:nvSpPr>
          <p:cNvPr id="10" name="工艺验证、现场试用与转化计划">
            <a:extLst xmlns:a="http://schemas.openxmlformats.org/drawingml/2006/main">
              <a:ext uri="{FF2B5EF4-FFF2-40B4-BE49-F238E27FC236}">
                <a16:creationId xmlns:a16="http://schemas.microsoft.com/office/drawing/2014/main" id="{7CF89D02-E67A-4FE6-BA4D-B9BA7617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4008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rPr>
              <a:t>工艺验证、现场试用与转化计划</a:t>
            </a:r>
          </a:p>
        </p:txBody>
      </p:sp>
    </p:spTree>
    <p:extLst>
      <p:ext uri="{BB962C8B-B14F-4D97-AF65-F5344CB8AC3E}">
        <p14:creationId xmlns:p14="http://schemas.microsoft.com/office/powerpoint/2010/main" val="1996934481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bd4d30399b2443f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可编辑框架">
            <a:extLst xmlns:a="http://schemas.openxmlformats.org/drawingml/2006/main">
              <a:ext uri="{FF2B5EF4-FFF2-40B4-BE49-F238E27FC236}">
                <a16:creationId xmlns:a16="http://schemas.microsoft.com/office/drawing/2014/main" id="{4F026F75-F881-42A3-84FE-6BE0B378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925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字：青韵智控">
            <a:extLst xmlns:a="http://schemas.openxmlformats.org/drawingml/2006/main">
              <a:ext uri="{FF2B5EF4-FFF2-40B4-BE49-F238E27FC236}">
                <a16:creationId xmlns:a16="http://schemas.microsoft.com/office/drawing/2014/main" id="{5EB50B90-B76A-4D54-9353-0A8FAD01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青韵智控</a:t>
            </a:r>
            <a:endParaRPr sz="2400" b="1">
              <a:solidFill>
                <a:srgbClr val="073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34BC0343-EA81-421E-8A13-6BAC0632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57175"/>
            <a:ext cx="0" cy="2762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字：让传统制茶更可控">
            <a:extLst xmlns:a="http://schemas.openxmlformats.org/drawingml/2006/main">
              <a:ext uri="{FF2B5EF4-FFF2-40B4-BE49-F238E27FC236}">
                <a16:creationId xmlns:a16="http://schemas.microsoft.com/office/drawing/2014/main" id="{746DC086-4B42-4E7C-AE8A-575A74A4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记录做青过程</a:t>
            </a:r>
            <a:endParaRPr sz="18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文字：项目背景">
            <a:extLst xmlns:a="http://schemas.openxmlformats.org/drawingml/2006/main">
              <a:ext uri="{FF2B5EF4-FFF2-40B4-BE49-F238E27FC236}">
                <a16:creationId xmlns:a16="http://schemas.microsoft.com/office/drawing/2014/main" id="{C5E337D2-F7D4-4E16-9095-32978AFD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  <a:endParaRPr sz="1500" b="1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A7EB0589-DE27-4F98-985B-85CF6D80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6C5B83A4-A65A-4F42-9B3A-ED9FEF34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286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73F3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字：项目概述">
            <a:extLst xmlns:a="http://schemas.openxmlformats.org/drawingml/2006/main">
              <a:ext uri="{FF2B5EF4-FFF2-40B4-BE49-F238E27FC236}">
                <a16:creationId xmlns:a16="http://schemas.microsoft.com/office/drawing/2014/main" id="{E5F05F33-DAF5-4B0E-87CC-5F1C7EE9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FD9760F3-EF7D-40B4-835D-E6848BED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文字：关键技术">
            <a:extLst xmlns:a="http://schemas.openxmlformats.org/drawingml/2006/main">
              <a:ext uri="{FF2B5EF4-FFF2-40B4-BE49-F238E27FC236}">
                <a16:creationId xmlns:a16="http://schemas.microsoft.com/office/drawing/2014/main" id="{E424D8F2-5EB9-4D42-B51F-8E6ECA1B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BF2D2D21-5621-4263-923F-90B54203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文字：实施与验证">
            <a:extLst xmlns:a="http://schemas.openxmlformats.org/drawingml/2006/main">
              <a:ext uri="{FF2B5EF4-FFF2-40B4-BE49-F238E27FC236}">
                <a16:creationId xmlns:a16="http://schemas.microsoft.com/office/drawing/2014/main" id="{6853109B-F345-41F7-A564-F12060C3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571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实施与验证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74B376B1-FCDB-464D-9CD8-E26C4756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文字：商业模式">
            <a:extLst xmlns:a="http://schemas.openxmlformats.org/drawingml/2006/main">
              <a:ext uri="{FF2B5EF4-FFF2-40B4-BE49-F238E27FC236}">
                <a16:creationId xmlns:a16="http://schemas.microsoft.com/office/drawing/2014/main" id="{6FC86003-8DF1-4E3D-B802-B69E38E8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商业模式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D45D54E3-BBAF-4A9E-BAEA-A97B4C03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字：未来展望">
            <a:extLst xmlns:a="http://schemas.openxmlformats.org/drawingml/2006/main">
              <a:ext uri="{FF2B5EF4-FFF2-40B4-BE49-F238E27FC236}">
                <a16:creationId xmlns:a16="http://schemas.microsoft.com/office/drawing/2014/main" id="{F35ED429-7667-42BD-B05A-792340C9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7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未来展望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9" name="文字：03">
            <a:extLst xmlns:a="http://schemas.openxmlformats.org/drawingml/2006/main">
              <a:ext uri="{FF2B5EF4-FFF2-40B4-BE49-F238E27FC236}">
                <a16:creationId xmlns:a16="http://schemas.microsoft.com/office/drawing/2014/main" id="{A6DC061C-D8AB-4664-93EF-B39DDC71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257175"/>
            <a:ext cx="22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950" b="0">
              <a:solidFill>
                <a:srgbClr val="073F32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76234CFE-8B74-4C44-92B7-F5D6BB11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57257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8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01">
            <a:extLst xmlns:a="http://schemas.openxmlformats.org/drawingml/2006/main">
              <a:ext uri="{FF2B5EF4-FFF2-40B4-BE49-F238E27FC236}">
                <a16:creationId xmlns:a16="http://schemas.microsoft.com/office/drawing/2014/main" id="{E43CF35E-7B42-4A43-96D0-6B96E05A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266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项目背景">
            <a:extLst xmlns:a="http://schemas.openxmlformats.org/drawingml/2006/main">
              <a:ext uri="{FF2B5EF4-FFF2-40B4-BE49-F238E27FC236}">
                <a16:creationId xmlns:a16="http://schemas.microsoft.com/office/drawing/2014/main" id="{BD1AEEC2-F0E5-4C67-AF98-F7B4876E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23" name="凤凰单丛&#10;做青辅助系统">
            <a:extLst xmlns:a="http://schemas.openxmlformats.org/drawingml/2006/main">
              <a:ext uri="{FF2B5EF4-FFF2-40B4-BE49-F238E27FC236}">
                <a16:creationId xmlns:a16="http://schemas.microsoft.com/office/drawing/2014/main" id="{F6D203E1-1CB8-4C89-A7F9-B752E29A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凤凰单丛</a:t>
            </a:r>
          </a:p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做青辅助系统</a:t>
            </a:r>
          </a:p>
        </p:txBody>
      </p:sp>
      <p:sp>
        <p:nvSpPr>
          <p:cNvPr id="24" name="做青判断需要可连续观察的过程信息">
            <a:extLst xmlns:a="http://schemas.openxmlformats.org/drawingml/2006/main">
              <a:ext uri="{FF2B5EF4-FFF2-40B4-BE49-F238E27FC236}">
                <a16:creationId xmlns:a16="http://schemas.microsoft.com/office/drawing/2014/main" id="{5D5F24D9-DD86-4283-AE9D-0A61FF2C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143000"/>
            <a:ext cx="1133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做青判断需要可连续观察的过程信息</a:t>
            </a:r>
          </a:p>
        </p:txBody>
      </p:sp>
      <p:sp>
        <p:nvSpPr>
          <p:cNvPr id="25" name="01">
            <a:extLst xmlns:a="http://schemas.openxmlformats.org/drawingml/2006/main">
              <a:ext uri="{FF2B5EF4-FFF2-40B4-BE49-F238E27FC236}">
                <a16:creationId xmlns:a16="http://schemas.microsoft.com/office/drawing/2014/main" id="{C13056A7-1EFB-450E-9AA8-60D2AE8A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62250"/>
            <a:ext cx="90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6" name="状态难量化">
            <a:extLst xmlns:a="http://schemas.openxmlformats.org/drawingml/2006/main">
              <a:ext uri="{FF2B5EF4-FFF2-40B4-BE49-F238E27FC236}">
                <a16:creationId xmlns:a16="http://schemas.microsoft.com/office/drawing/2014/main" id="{C8195A6F-88C0-4FEB-B641-37B66EBE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622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状态难量化</a:t>
            </a:r>
          </a:p>
        </p:txBody>
      </p:sp>
      <p:sp>
        <p:nvSpPr>
          <p:cNvPr id="27" name="气味、空气温湿度与质量随时间变化">
            <a:extLst xmlns:a="http://schemas.openxmlformats.org/drawingml/2006/main">
              <a:ext uri="{FF2B5EF4-FFF2-40B4-BE49-F238E27FC236}">
                <a16:creationId xmlns:a16="http://schemas.microsoft.com/office/drawing/2014/main" id="{EAA1EDEA-8DFF-4A9F-B5BD-2D53BC3B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528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rPr>
              <a:t>气味、空气温湿度与质量随时间变化</a:t>
            </a:r>
          </a:p>
        </p:txBody>
      </p:sp>
      <p:sp>
        <p:nvSpPr>
          <p:cNvPr id="28" name="02">
            <a:extLst xmlns:a="http://schemas.openxmlformats.org/drawingml/2006/main">
              <a:ext uri="{FF2B5EF4-FFF2-40B4-BE49-F238E27FC236}">
                <a16:creationId xmlns:a16="http://schemas.microsoft.com/office/drawing/2014/main" id="{15134F59-0EA9-4175-8D74-5A29DADD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38625"/>
            <a:ext cx="90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9" name="动作难复盘">
            <a:extLst xmlns:a="http://schemas.openxmlformats.org/drawingml/2006/main">
              <a:ext uri="{FF2B5EF4-FFF2-40B4-BE49-F238E27FC236}">
                <a16:creationId xmlns:a16="http://schemas.microsoft.com/office/drawing/2014/main" id="{B7950A29-FA51-42ED-A390-E598434E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386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动作难复盘</a:t>
            </a:r>
          </a:p>
        </p:txBody>
      </p:sp>
      <p:sp>
        <p:nvSpPr>
          <p:cNvPr id="30" name="摇青与静置节点需要对应过程记录">
            <a:extLst xmlns:a="http://schemas.openxmlformats.org/drawingml/2006/main">
              <a:ext uri="{FF2B5EF4-FFF2-40B4-BE49-F238E27FC236}">
                <a16:creationId xmlns:a16="http://schemas.microsoft.com/office/drawing/2014/main" id="{208AB30E-EFA5-4B57-8A53-12B03D4D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291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rPr>
              <a:t>摇青与静置节点需要对应过程记录</a:t>
            </a:r>
          </a:p>
        </p:txBody>
      </p:sp>
      <p:sp>
        <p:nvSpPr>
          <p:cNvPr id="31" name="03">
            <a:extLst xmlns:a="http://schemas.openxmlformats.org/drawingml/2006/main">
              <a:ext uri="{FF2B5EF4-FFF2-40B4-BE49-F238E27FC236}">
                <a16:creationId xmlns:a16="http://schemas.microsoft.com/office/drawing/2014/main" id="{B60C9026-394F-4A61-8F9F-288EA503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715000"/>
            <a:ext cx="90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2" name="经验难积累">
            <a:extLst xmlns:a="http://schemas.openxmlformats.org/drawingml/2006/main">
              <a:ext uri="{FF2B5EF4-FFF2-40B4-BE49-F238E27FC236}">
                <a16:creationId xmlns:a16="http://schemas.microsoft.com/office/drawing/2014/main" id="{CC6AAA2B-8154-42E2-8174-71BBCFC4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7150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经验难积累</a:t>
            </a:r>
          </a:p>
        </p:txBody>
      </p:sp>
      <p:sp>
        <p:nvSpPr>
          <p:cNvPr id="33" name="不同批次需要统一档案进行比较">
            <a:extLst xmlns:a="http://schemas.openxmlformats.org/drawingml/2006/main">
              <a:ext uri="{FF2B5EF4-FFF2-40B4-BE49-F238E27FC236}">
                <a16:creationId xmlns:a16="http://schemas.microsoft.com/office/drawing/2014/main" id="{DB1F7B33-D949-4459-9239-10B0E861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3055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rPr>
              <a:t>不同批次需要统一档案进行比较</a:t>
            </a:r>
          </a:p>
        </p:txBody>
      </p:sp>
    </p:spTree>
    <p:extLst>
      <p:ext uri="{BB962C8B-B14F-4D97-AF65-F5344CB8AC3E}">
        <p14:creationId xmlns:p14="http://schemas.microsoft.com/office/powerpoint/2010/main" val="899476138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8c90d788b8e41e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可编辑框架">
            <a:extLst xmlns:a="http://schemas.openxmlformats.org/drawingml/2006/main">
              <a:ext uri="{FF2B5EF4-FFF2-40B4-BE49-F238E27FC236}">
                <a16:creationId xmlns:a16="http://schemas.microsoft.com/office/drawing/2014/main" id="{6F45B949-E6DB-4DB5-B683-16B0DCD6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925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字：青韵智控">
            <a:extLst xmlns:a="http://schemas.openxmlformats.org/drawingml/2006/main">
              <a:ext uri="{FF2B5EF4-FFF2-40B4-BE49-F238E27FC236}">
                <a16:creationId xmlns:a16="http://schemas.microsoft.com/office/drawing/2014/main" id="{3E4DD1C0-2731-4086-A503-79FAEDC1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青韵智控</a:t>
            </a:r>
            <a:endParaRPr sz="2400" b="1">
              <a:solidFill>
                <a:srgbClr val="073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5282795E-FC58-40F7-BFDE-278953F0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57175"/>
            <a:ext cx="0" cy="2762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字：让传统制茶更可控">
            <a:extLst xmlns:a="http://schemas.openxmlformats.org/drawingml/2006/main">
              <a:ext uri="{FF2B5EF4-FFF2-40B4-BE49-F238E27FC236}">
                <a16:creationId xmlns:a16="http://schemas.microsoft.com/office/drawing/2014/main" id="{325F7184-FB09-4A5F-B1F5-18859923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记录做青过程</a:t>
            </a:r>
            <a:endParaRPr sz="18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文字：项目背景">
            <a:extLst xmlns:a="http://schemas.openxmlformats.org/drawingml/2006/main">
              <a:ext uri="{FF2B5EF4-FFF2-40B4-BE49-F238E27FC236}">
                <a16:creationId xmlns:a16="http://schemas.microsoft.com/office/drawing/2014/main" id="{7A3646DA-F9E7-40C5-9719-30DCF24C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  <a:endParaRPr sz="1500" b="1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CEF6D152-9CB5-495E-A137-8C209BEC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79FE1B76-2E12-4208-BD9C-E54C40D8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286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73F3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字：项目概述">
            <a:extLst xmlns:a="http://schemas.openxmlformats.org/drawingml/2006/main">
              <a:ext uri="{FF2B5EF4-FFF2-40B4-BE49-F238E27FC236}">
                <a16:creationId xmlns:a16="http://schemas.microsoft.com/office/drawing/2014/main" id="{932F3AE8-606C-4C94-BFFB-0625A93F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88D55A5A-6EEB-484F-BF5F-BB730177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文字：关键技术">
            <a:extLst xmlns:a="http://schemas.openxmlformats.org/drawingml/2006/main">
              <a:ext uri="{FF2B5EF4-FFF2-40B4-BE49-F238E27FC236}">
                <a16:creationId xmlns:a16="http://schemas.microsoft.com/office/drawing/2014/main" id="{CC7840AC-6477-4B34-95CB-EC00AFDC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729E23D6-0232-4B12-8B13-106F3358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文字：实施与验证">
            <a:extLst xmlns:a="http://schemas.openxmlformats.org/drawingml/2006/main">
              <a:ext uri="{FF2B5EF4-FFF2-40B4-BE49-F238E27FC236}">
                <a16:creationId xmlns:a16="http://schemas.microsoft.com/office/drawing/2014/main" id="{D087CFA0-DDBC-4C4A-A479-24B0C417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571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实施与验证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BA2440DC-AB6D-48D4-B859-5956D78F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文字：商业模式">
            <a:extLst xmlns:a="http://schemas.openxmlformats.org/drawingml/2006/main">
              <a:ext uri="{FF2B5EF4-FFF2-40B4-BE49-F238E27FC236}">
                <a16:creationId xmlns:a16="http://schemas.microsoft.com/office/drawing/2014/main" id="{5FC51D03-2239-4A79-A0F6-9C4BF828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商业模式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919C056D-5B80-49D7-8853-1BA024D0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字：未来展望">
            <a:extLst xmlns:a="http://schemas.openxmlformats.org/drawingml/2006/main">
              <a:ext uri="{FF2B5EF4-FFF2-40B4-BE49-F238E27FC236}">
                <a16:creationId xmlns:a16="http://schemas.microsoft.com/office/drawing/2014/main" id="{511DF1C9-732A-4E11-A108-D1908D32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7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未来展望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9" name="文字：04">
            <a:extLst xmlns:a="http://schemas.openxmlformats.org/drawingml/2006/main">
              <a:ext uri="{FF2B5EF4-FFF2-40B4-BE49-F238E27FC236}">
                <a16:creationId xmlns:a16="http://schemas.microsoft.com/office/drawing/2014/main" id="{EE59403E-3AB3-4418-B157-D43D97E4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257175"/>
            <a:ext cx="22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950" b="0">
              <a:solidFill>
                <a:srgbClr val="073F32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09AFCD98-F91F-4C0C-8955-E0C17C37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57257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8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01">
            <a:extLst xmlns:a="http://schemas.openxmlformats.org/drawingml/2006/main">
              <a:ext uri="{FF2B5EF4-FFF2-40B4-BE49-F238E27FC236}">
                <a16:creationId xmlns:a16="http://schemas.microsoft.com/office/drawing/2014/main" id="{292938CF-7EE1-4A9A-BCED-B192B324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266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项目背景">
            <a:extLst xmlns:a="http://schemas.openxmlformats.org/drawingml/2006/main">
              <a:ext uri="{FF2B5EF4-FFF2-40B4-BE49-F238E27FC236}">
                <a16:creationId xmlns:a16="http://schemas.microsoft.com/office/drawing/2014/main" id="{BA612867-7B8F-439A-BBF1-ED3DC9F5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23" name="凤凰单丛&#10;做青辅助系统">
            <a:extLst xmlns:a="http://schemas.openxmlformats.org/drawingml/2006/main">
              <a:ext uri="{FF2B5EF4-FFF2-40B4-BE49-F238E27FC236}">
                <a16:creationId xmlns:a16="http://schemas.microsoft.com/office/drawing/2014/main" id="{7B790CB3-0A5A-49A7-94E9-A92CCD6B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凤凰单丛</a:t>
            </a:r>
          </a:p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做青辅助系统</a:t>
            </a:r>
          </a:p>
        </p:txBody>
      </p:sp>
      <p:sp>
        <p:nvSpPr>
          <p:cNvPr id="24" name="过程档案把零散观察组织起来">
            <a:extLst xmlns:a="http://schemas.openxmlformats.org/drawingml/2006/main">
              <a:ext uri="{FF2B5EF4-FFF2-40B4-BE49-F238E27FC236}">
                <a16:creationId xmlns:a16="http://schemas.microsoft.com/office/drawing/2014/main" id="{818B4B3B-8ACE-421F-A7CD-6851E429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143000"/>
            <a:ext cx="1133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过程档案把零散观察组织起来</a:t>
            </a:r>
          </a:p>
        </p:txBody>
      </p:sp>
      <p:graphicFrame>
        <p:nvGraphicFrame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474AF6-20DB-453C-8FCF-7C30A84F6250}"/>
              </a:ext>
            </a:extLst>
          </p:cNvPr>
          <p:cNvGraphicFramePr/>
          <p:nvPr/>
        </p:nvGraphicFramePr>
        <p:xfrm>
          <a:off xmlns:a="http://schemas.openxmlformats.org/drawingml/2006/main" x="4048125" y="2857500"/>
          <a:ext xmlns:a="http://schemas.openxmlformats.org/drawingml/2006/main" cx="1114425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715250"/>
              </a:tblGrid>
              <a:tr h="952500"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145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记录方式</a:t>
                      </a:r>
                    </a:p>
                  </a:txBody>
                  <a:tcPr marL="91440" marR="91440" marT="45720" marB="45720">
                    <a:solidFill>
                      <a:srgbClr val="DDEFE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145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能够保留的信息</a:t>
                      </a:r>
                    </a:p>
                  </a:txBody>
                  <a:tcPr marL="91440" marR="91440" marT="45720" marB="45720">
                    <a:solidFill>
                      <a:srgbClr val="DDEFE4"/>
                    </a:solidFill>
                  </a:tcPr>
                </a:tc>
              </a:tr>
              <a:tr h="95250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人工节点记录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师傅判断、操作与时点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</a:tr>
              <a:tr h="95250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单项传感记录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某一测点的连续变化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</a:tr>
              <a:tr h="95250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本项目过程档案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多参数、事件、标签与批次关联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</a:tr>
            </a:tbl>
          </a:graphicData>
        </a:graphic>
      </p:graphicFrame>
      <p:sp>
        <p:nvSpPr>
          <p:cNvPr id="26" name="工艺判断仍由师傅掌握">
            <a:extLst xmlns:a="http://schemas.openxmlformats.org/drawingml/2006/main">
              <a:ext uri="{FF2B5EF4-FFF2-40B4-BE49-F238E27FC236}">
                <a16:creationId xmlns:a16="http://schemas.microsoft.com/office/drawing/2014/main" id="{EE52FA78-88EC-47DB-8E16-EC002EF9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709612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工艺判断仍由师傅掌握</a:t>
            </a:r>
          </a:p>
        </p:txBody>
      </p:sp>
    </p:spTree>
    <p:extLst>
      <p:ext uri="{BB962C8B-B14F-4D97-AF65-F5344CB8AC3E}">
        <p14:creationId xmlns:p14="http://schemas.microsoft.com/office/powerpoint/2010/main" val="14893956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cf70fec8d85b46e2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61BA45-B9CC-4082-B6F7-B6A495365F67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1987213" y="40481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5A32"/>
            </a:solidFill>
            <a:tailEnd type="arrow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5DF1BF-57E8-4E1F-8572-2323E77FAB8D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220201" y="4048125"/>
            <a:ext cx="3619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5A32"/>
            </a:solidFill>
            <a:tailEnd type="arrow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73BCE2-7FA2-4DD6-8C6C-4A2910324F92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453188" y="40481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5A32"/>
            </a:solidFill>
            <a:tailEnd type="arrow" w="med" len="med"/>
          </a:ln>
        </p:spPr>
      </p:cxnSp>
      <p:sp>
        <p:nvSpPr>
          <p:cNvPr id="3" name="可编辑框架">
            <a:extLst xmlns:a="http://schemas.openxmlformats.org/drawingml/2006/main">
              <a:ext uri="{FF2B5EF4-FFF2-40B4-BE49-F238E27FC236}">
                <a16:creationId xmlns:a16="http://schemas.microsoft.com/office/drawing/2014/main" id="{7B5021D5-9840-43FD-95A9-174E6BA4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925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字：青韵智控">
            <a:extLst xmlns:a="http://schemas.openxmlformats.org/drawingml/2006/main">
              <a:ext uri="{FF2B5EF4-FFF2-40B4-BE49-F238E27FC236}">
                <a16:creationId xmlns:a16="http://schemas.microsoft.com/office/drawing/2014/main" id="{E5B9005E-45C9-4B68-BD49-124666D0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青韵智控</a:t>
            </a:r>
            <a:endParaRPr sz="2400" b="1">
              <a:solidFill>
                <a:srgbClr val="073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D8119B4D-0B84-4DDB-BD40-C73CA381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57175"/>
            <a:ext cx="0" cy="2762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字：让传统制茶更可控">
            <a:extLst xmlns:a="http://schemas.openxmlformats.org/drawingml/2006/main">
              <a:ext uri="{FF2B5EF4-FFF2-40B4-BE49-F238E27FC236}">
                <a16:creationId xmlns:a16="http://schemas.microsoft.com/office/drawing/2014/main" id="{CFA2F481-3C66-4735-A2D3-68F79F21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记录做青过程</a:t>
            </a:r>
            <a:endParaRPr sz="18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文字：项目背景">
            <a:extLst xmlns:a="http://schemas.openxmlformats.org/drawingml/2006/main">
              <a:ext uri="{FF2B5EF4-FFF2-40B4-BE49-F238E27FC236}">
                <a16:creationId xmlns:a16="http://schemas.microsoft.com/office/drawing/2014/main" id="{43859355-DC2D-4511-B051-312E8492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6486D990-B4E6-43F3-940F-E49FA436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字：项目概述">
            <a:extLst xmlns:a="http://schemas.openxmlformats.org/drawingml/2006/main">
              <a:ext uri="{FF2B5EF4-FFF2-40B4-BE49-F238E27FC236}">
                <a16:creationId xmlns:a16="http://schemas.microsoft.com/office/drawing/2014/main" id="{D7DA18A5-1AAE-4D2A-9A74-24BDF2E9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  <a:endParaRPr sz="1500" b="1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D1A73520-0ACA-482C-AE39-A9F00DE0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01282F96-31B6-4899-A2AD-FAA1A25C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286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73F3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文字：关键技术">
            <a:extLst xmlns:a="http://schemas.openxmlformats.org/drawingml/2006/main">
              <a:ext uri="{FF2B5EF4-FFF2-40B4-BE49-F238E27FC236}">
                <a16:creationId xmlns:a16="http://schemas.microsoft.com/office/drawing/2014/main" id="{DF1B5989-0B97-4588-98E7-2AEEA7FE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27111CAE-11F5-4594-A5D8-70E88C08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文字：实施与验证">
            <a:extLst xmlns:a="http://schemas.openxmlformats.org/drawingml/2006/main">
              <a:ext uri="{FF2B5EF4-FFF2-40B4-BE49-F238E27FC236}">
                <a16:creationId xmlns:a16="http://schemas.microsoft.com/office/drawing/2014/main" id="{58ED7E3C-AA3D-4171-ADF8-E9566A66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571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实施与验证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9F87313B-C359-4B6B-87F3-07727FF2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文字：商业模式">
            <a:extLst xmlns:a="http://schemas.openxmlformats.org/drawingml/2006/main">
              <a:ext uri="{FF2B5EF4-FFF2-40B4-BE49-F238E27FC236}">
                <a16:creationId xmlns:a16="http://schemas.microsoft.com/office/drawing/2014/main" id="{D9C397DB-22F3-4A5C-A002-11E9D5CF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商业模式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60E40A29-93DE-4C63-A54E-6ECC2727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字：未来展望">
            <a:extLst xmlns:a="http://schemas.openxmlformats.org/drawingml/2006/main">
              <a:ext uri="{FF2B5EF4-FFF2-40B4-BE49-F238E27FC236}">
                <a16:creationId xmlns:a16="http://schemas.microsoft.com/office/drawing/2014/main" id="{5802A124-5150-4BA8-BBEB-98E9E87F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7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未来展望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9" name="文字：05">
            <a:extLst xmlns:a="http://schemas.openxmlformats.org/drawingml/2006/main">
              <a:ext uri="{FF2B5EF4-FFF2-40B4-BE49-F238E27FC236}">
                <a16:creationId xmlns:a16="http://schemas.microsoft.com/office/drawing/2014/main" id="{3BFE90A1-1401-482F-81C6-30F52343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257175"/>
            <a:ext cx="22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1950" b="0">
              <a:solidFill>
                <a:srgbClr val="073F32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57ED3BA3-CDDD-4EEC-B1BC-6AA3A611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57257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8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02">
            <a:extLst xmlns:a="http://schemas.openxmlformats.org/drawingml/2006/main">
              <a:ext uri="{FF2B5EF4-FFF2-40B4-BE49-F238E27FC236}">
                <a16:creationId xmlns:a16="http://schemas.microsoft.com/office/drawing/2014/main" id="{56460FFC-FFBA-4121-BA7F-FFCDC07C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266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2" name="项目概述">
            <a:extLst xmlns:a="http://schemas.openxmlformats.org/drawingml/2006/main">
              <a:ext uri="{FF2B5EF4-FFF2-40B4-BE49-F238E27FC236}">
                <a16:creationId xmlns:a16="http://schemas.microsoft.com/office/drawing/2014/main" id="{9242B2D4-83DE-4B72-B049-A52E4190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</a:p>
        </p:txBody>
      </p:sp>
      <p:sp>
        <p:nvSpPr>
          <p:cNvPr id="23" name="凤凰单丛&#10;做青辅助系统">
            <a:extLst xmlns:a="http://schemas.openxmlformats.org/drawingml/2006/main">
              <a:ext uri="{FF2B5EF4-FFF2-40B4-BE49-F238E27FC236}">
                <a16:creationId xmlns:a16="http://schemas.microsoft.com/office/drawing/2014/main" id="{D5BDF596-CB4D-4C87-907F-CD28C52B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凤凰单丛</a:t>
            </a:r>
          </a:p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做青辅助系统</a:t>
            </a:r>
          </a:p>
        </p:txBody>
      </p:sp>
      <p:sp>
        <p:nvSpPr>
          <p:cNvPr id="24" name="采集与追溯是当前作品的主线">
            <a:extLst xmlns:a="http://schemas.openxmlformats.org/drawingml/2006/main">
              <a:ext uri="{FF2B5EF4-FFF2-40B4-BE49-F238E27FC236}">
                <a16:creationId xmlns:a16="http://schemas.microsoft.com/office/drawing/2014/main" id="{B6475398-5675-4C3B-ADD0-9638C937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143000"/>
            <a:ext cx="1133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采集与追溯是当前作品的主线</a:t>
            </a:r>
          </a:p>
        </p:txBody>
      </p:sp>
      <p:sp>
        <p:nvSpPr>
          <p:cNvPr id="25" name="流程 多参数&#10;采集">
            <a:extLst xmlns:a="http://schemas.openxmlformats.org/drawingml/2006/main">
              <a:ext uri="{FF2B5EF4-FFF2-40B4-BE49-F238E27FC236}">
                <a16:creationId xmlns:a16="http://schemas.microsoft.com/office/drawing/2014/main" id="{0713E5EC-2D70-4C8A-AC84-40AB9765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38500"/>
            <a:ext cx="240506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7DCD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多参数</a:t>
            </a:r>
          </a:p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26" name="流程 ESP32-S3&#10;传感帧">
            <a:extLst xmlns:a="http://schemas.openxmlformats.org/drawingml/2006/main">
              <a:ext uri="{FF2B5EF4-FFF2-40B4-BE49-F238E27FC236}">
                <a16:creationId xmlns:a16="http://schemas.microsoft.com/office/drawing/2014/main" id="{DF427DD9-EBBF-45EA-A556-B87ECCCA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138" y="3238500"/>
            <a:ext cx="240506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7DCD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ESP32-S3</a:t>
            </a:r>
          </a:p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传感帧</a:t>
            </a:r>
          </a:p>
        </p:txBody>
      </p:sp>
      <p:sp>
        <p:nvSpPr>
          <p:cNvPr id="27" name="流程 上位机&#10;批次记录">
            <a:extLst xmlns:a="http://schemas.openxmlformats.org/drawingml/2006/main">
              <a:ext uri="{FF2B5EF4-FFF2-40B4-BE49-F238E27FC236}">
                <a16:creationId xmlns:a16="http://schemas.microsoft.com/office/drawing/2014/main" id="{56C6677C-0561-4377-A0CF-566900C2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38500"/>
            <a:ext cx="240506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7DCD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上位机</a:t>
            </a:r>
          </a:p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批次记录</a:t>
            </a:r>
          </a:p>
        </p:txBody>
      </p:sp>
      <p:sp>
        <p:nvSpPr>
          <p:cNvPr id="28" name="流程 回放与&#10;工程分析">
            <a:extLst xmlns:a="http://schemas.openxmlformats.org/drawingml/2006/main">
              <a:ext uri="{FF2B5EF4-FFF2-40B4-BE49-F238E27FC236}">
                <a16:creationId xmlns:a16="http://schemas.microsoft.com/office/drawing/2014/main" id="{403BFAE2-5E6B-4CEE-AA5B-B5987511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9163" y="3238500"/>
            <a:ext cx="240506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7DCD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回放与</a:t>
            </a:r>
          </a:p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工程分析</a:t>
            </a:r>
          </a:p>
        </p:txBody>
      </p:sp>
      <p:sp>
        <p:nvSpPr>
          <p:cNvPr id="32" name="工艺事件与人工标签随批次保存">
            <a:extLst xmlns:a="http://schemas.openxmlformats.org/drawingml/2006/main">
              <a:ext uri="{FF2B5EF4-FFF2-40B4-BE49-F238E27FC236}">
                <a16:creationId xmlns:a16="http://schemas.microsoft.com/office/drawing/2014/main" id="{9EE8C285-19F7-468F-A540-E73E5434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62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工艺事件与人工标签随批次保存</a:t>
            </a:r>
          </a:p>
        </p:txBody>
      </p:sp>
      <p:sp>
        <p:nvSpPr>
          <p:cNvPr id="33" name="状态识别与执行控制属于后续扩展">
            <a:extLst xmlns:a="http://schemas.openxmlformats.org/drawingml/2006/main">
              <a:ext uri="{FF2B5EF4-FFF2-40B4-BE49-F238E27FC236}">
                <a16:creationId xmlns:a16="http://schemas.microsoft.com/office/drawing/2014/main" id="{788C1186-0883-4EFE-945E-46AC444A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762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状态识别与执行控制属于后续扩展</a:t>
            </a:r>
          </a:p>
        </p:txBody>
      </p:sp>
    </p:spTree>
    <p:extLst>
      <p:ext uri="{BB962C8B-B14F-4D97-AF65-F5344CB8AC3E}">
        <p14:creationId xmlns:p14="http://schemas.microsoft.com/office/powerpoint/2010/main" val="135397754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3ffe8c38e2d74d5d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可编辑框架">
            <a:extLst xmlns:a="http://schemas.openxmlformats.org/drawingml/2006/main">
              <a:ext uri="{FF2B5EF4-FFF2-40B4-BE49-F238E27FC236}">
                <a16:creationId xmlns:a16="http://schemas.microsoft.com/office/drawing/2014/main" id="{0B644AE5-62E4-4CC3-A680-55CFE59A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925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字：青韵智控">
            <a:extLst xmlns:a="http://schemas.openxmlformats.org/drawingml/2006/main">
              <a:ext uri="{FF2B5EF4-FFF2-40B4-BE49-F238E27FC236}">
                <a16:creationId xmlns:a16="http://schemas.microsoft.com/office/drawing/2014/main" id="{B95D3027-CB2E-43D5-9D9B-A830860F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青韵智控</a:t>
            </a:r>
            <a:endParaRPr sz="2400" b="1">
              <a:solidFill>
                <a:srgbClr val="073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8175E6DA-635E-4646-88BA-7A775689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57175"/>
            <a:ext cx="0" cy="2762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字：让传统制茶更可控">
            <a:extLst xmlns:a="http://schemas.openxmlformats.org/drawingml/2006/main">
              <a:ext uri="{FF2B5EF4-FFF2-40B4-BE49-F238E27FC236}">
                <a16:creationId xmlns:a16="http://schemas.microsoft.com/office/drawing/2014/main" id="{C249DB55-43F1-46F2-9AB7-29C8DD6C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记录做青过程</a:t>
            </a:r>
            <a:endParaRPr sz="18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文字：项目背景">
            <a:extLst xmlns:a="http://schemas.openxmlformats.org/drawingml/2006/main">
              <a:ext uri="{FF2B5EF4-FFF2-40B4-BE49-F238E27FC236}">
                <a16:creationId xmlns:a16="http://schemas.microsoft.com/office/drawing/2014/main" id="{84CC977B-F818-4B5F-B3E2-BABD1837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EEAECD2A-82C6-4F9E-B43F-734228F0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字：项目概述">
            <a:extLst xmlns:a="http://schemas.openxmlformats.org/drawingml/2006/main">
              <a:ext uri="{FF2B5EF4-FFF2-40B4-BE49-F238E27FC236}">
                <a16:creationId xmlns:a16="http://schemas.microsoft.com/office/drawing/2014/main" id="{CE7461A5-DCFA-469B-B00A-09658712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  <a:endParaRPr sz="1500" b="1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DB4A3F26-316B-4169-B796-5CDD6206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2B247F5B-ACA9-4ACF-BDBF-5149E96E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286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73F3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文字：关键技术">
            <a:extLst xmlns:a="http://schemas.openxmlformats.org/drawingml/2006/main">
              <a:ext uri="{FF2B5EF4-FFF2-40B4-BE49-F238E27FC236}">
                <a16:creationId xmlns:a16="http://schemas.microsoft.com/office/drawing/2014/main" id="{7FB2E3DB-F71B-48BD-9649-093A8AC1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1C2BDFC3-445C-4ADB-94A9-F4DC0D3B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文字：实施与验证">
            <a:extLst xmlns:a="http://schemas.openxmlformats.org/drawingml/2006/main">
              <a:ext uri="{FF2B5EF4-FFF2-40B4-BE49-F238E27FC236}">
                <a16:creationId xmlns:a16="http://schemas.microsoft.com/office/drawing/2014/main" id="{13895077-2CCA-4D1E-A725-A43B8DB3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571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实施与验证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59005A36-D609-4283-9641-3183CDCA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文字：商业模式">
            <a:extLst xmlns:a="http://schemas.openxmlformats.org/drawingml/2006/main">
              <a:ext uri="{FF2B5EF4-FFF2-40B4-BE49-F238E27FC236}">
                <a16:creationId xmlns:a16="http://schemas.microsoft.com/office/drawing/2014/main" id="{FAE20095-1F3B-4340-957D-B19A64A0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商业模式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3552DFF4-0E80-4EBE-AABE-C38550E6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字：未来展望">
            <a:extLst xmlns:a="http://schemas.openxmlformats.org/drawingml/2006/main">
              <a:ext uri="{FF2B5EF4-FFF2-40B4-BE49-F238E27FC236}">
                <a16:creationId xmlns:a16="http://schemas.microsoft.com/office/drawing/2014/main" id="{0758F8C7-AE2A-4A8C-844B-A4EB2B5F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7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未来展望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9" name="文字：06">
            <a:extLst xmlns:a="http://schemas.openxmlformats.org/drawingml/2006/main">
              <a:ext uri="{FF2B5EF4-FFF2-40B4-BE49-F238E27FC236}">
                <a16:creationId xmlns:a16="http://schemas.microsoft.com/office/drawing/2014/main" id="{CADBA05E-3AD2-43D7-9248-8542BFCC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257175"/>
            <a:ext cx="22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sz="1950" b="0">
              <a:solidFill>
                <a:srgbClr val="073F32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13AF08C4-57E2-4EB8-B6C3-29B902DF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57257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8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02">
            <a:extLst xmlns:a="http://schemas.openxmlformats.org/drawingml/2006/main">
              <a:ext uri="{FF2B5EF4-FFF2-40B4-BE49-F238E27FC236}">
                <a16:creationId xmlns:a16="http://schemas.microsoft.com/office/drawing/2014/main" id="{B5C647BB-4588-4309-9C40-DF5B7C93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266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2" name="项目概述">
            <a:extLst xmlns:a="http://schemas.openxmlformats.org/drawingml/2006/main">
              <a:ext uri="{FF2B5EF4-FFF2-40B4-BE49-F238E27FC236}">
                <a16:creationId xmlns:a16="http://schemas.microsoft.com/office/drawing/2014/main" id="{8C30C778-E0C1-4D58-9CC1-BBA9EB65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</a:p>
        </p:txBody>
      </p:sp>
      <p:sp>
        <p:nvSpPr>
          <p:cNvPr id="23" name="凤凰单丛&#10;做青辅助系统">
            <a:extLst xmlns:a="http://schemas.openxmlformats.org/drawingml/2006/main">
              <a:ext uri="{FF2B5EF4-FFF2-40B4-BE49-F238E27FC236}">
                <a16:creationId xmlns:a16="http://schemas.microsoft.com/office/drawing/2014/main" id="{5B172F66-6F41-4BD2-B77E-D3A35E3B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凤凰单丛</a:t>
            </a:r>
          </a:p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做青辅助系统</a:t>
            </a:r>
          </a:p>
        </p:txBody>
      </p:sp>
      <p:sp>
        <p:nvSpPr>
          <p:cNvPr id="24" name="表格覆盖气敏、温湿度与静态称重">
            <a:extLst xmlns:a="http://schemas.openxmlformats.org/drawingml/2006/main">
              <a:ext uri="{FF2B5EF4-FFF2-40B4-BE49-F238E27FC236}">
                <a16:creationId xmlns:a16="http://schemas.microsoft.com/office/drawing/2014/main" id="{2851C7A0-1C1A-4279-A1E6-13B15E64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143000"/>
            <a:ext cx="1133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表格覆盖气敏、温湿度与静态称重</a:t>
            </a:r>
          </a:p>
        </p:txBody>
      </p:sp>
      <p:sp>
        <p:nvSpPr>
          <p:cNvPr id="25" name="来源：《数据结果.xlsx》，填写说明及各处理结果表">
            <a:extLst xmlns:a="http://schemas.openxmlformats.org/drawingml/2006/main">
              <a:ext uri="{FF2B5EF4-FFF2-40B4-BE49-F238E27FC236}">
                <a16:creationId xmlns:a16="http://schemas.microsoft.com/office/drawing/2014/main" id="{68AAB48A-0297-4AA6-B3D0-F02F142B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7905750"/>
            <a:ext cx="1143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来源：《数据结果.xlsx》，填写说明及各处理结果表</a:t>
            </a:r>
          </a:p>
        </p:txBody>
      </p:sp>
      <p:graphicFrame>
        <p:nvGraphicFrame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B71968-4399-4677-8695-26E8933F38B2}"/>
              </a:ext>
            </a:extLst>
          </p:cNvPr>
          <p:cNvGraphicFramePr/>
          <p:nvPr/>
        </p:nvGraphicFramePr>
        <p:xfrm>
          <a:off xmlns:a="http://schemas.openxmlformats.org/drawingml/2006/main" x="4048125" y="2524125"/>
          <a:ext xmlns:a="http://schemas.openxmlformats.org/drawingml/2006/main" cx="11144250" cy="4524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67125"/>
                <a:gridCol w="4429125"/>
                <a:gridCol w="3048000"/>
              </a:tblGrid>
              <a:tr h="904875"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145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>
                    <a:solidFill>
                      <a:srgbClr val="DDEFE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145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当前依据</a:t>
                      </a:r>
                    </a:p>
                  </a:txBody>
                  <a:tcPr marL="91440" marR="91440" marT="45720" marB="45720">
                    <a:solidFill>
                      <a:srgbClr val="DDEFE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145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测量对象</a:t>
                      </a:r>
                    </a:p>
                  </a:txBody>
                  <a:tcPr marL="91440" marR="91440" marT="45720" marB="45720">
                    <a:solidFill>
                      <a:srgbClr val="DDEFE4"/>
                    </a:solidFill>
                  </a:tcPr>
                </a:tc>
              </a:tr>
              <a:tr h="90487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3路TGS + BME688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响应与重复性结果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气敏响应指纹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</a:tr>
              <a:tr h="90487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双SHT31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最大偏差0.197 ℃</a:t>
                      </a:r>
                    </a:p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1.506 %RH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空气温湿度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</a:tr>
              <a:tr h="90487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HX711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10点各5次标定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质量变化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</a:tr>
              <a:tr h="90487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叶温与RGB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预留接口，待验证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后续扩展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</a:tr>
            </a:tbl>
          </a:graphicData>
        </a:graphic>
      </p:graphicFrame>
      <p:sp>
        <p:nvSpPr>
          <p:cNvPr id="27" name="当前阶段：感知与数据追溯原型">
            <a:extLst xmlns:a="http://schemas.openxmlformats.org/drawingml/2006/main">
              <a:ext uri="{FF2B5EF4-FFF2-40B4-BE49-F238E27FC236}">
                <a16:creationId xmlns:a16="http://schemas.microsoft.com/office/drawing/2014/main" id="{9FB0CBF5-E09A-428C-85A1-9E6C595B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73342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当前阶段：感知与数据追溯原型</a:t>
            </a:r>
          </a:p>
        </p:txBody>
      </p:sp>
    </p:spTree>
    <p:extLst>
      <p:ext uri="{BB962C8B-B14F-4D97-AF65-F5344CB8AC3E}">
        <p14:creationId xmlns:p14="http://schemas.microsoft.com/office/powerpoint/2010/main" val="685457648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5be9d4685aa46d4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36F7CD-78CA-405D-A9A3-BAED709176AE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1987213" y="40481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5A32"/>
            </a:solidFill>
            <a:tailEnd type="arrow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022EAC-5984-4CCB-B641-5C03069ABFC9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220201" y="4048125"/>
            <a:ext cx="3619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5A32"/>
            </a:solidFill>
            <a:tailEnd type="arrow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960BD3-B89A-4BED-83F9-07F9425AB4F9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453188" y="40481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5A32"/>
            </a:solidFill>
            <a:tailEnd type="arrow" w="med" len="med"/>
          </a:ln>
        </p:spPr>
      </p:cxnSp>
      <p:sp>
        <p:nvSpPr>
          <p:cNvPr id="3" name="可编辑框架">
            <a:extLst xmlns:a="http://schemas.openxmlformats.org/drawingml/2006/main">
              <a:ext uri="{FF2B5EF4-FFF2-40B4-BE49-F238E27FC236}">
                <a16:creationId xmlns:a16="http://schemas.microsoft.com/office/drawing/2014/main" id="{CE12C6E3-C608-4785-9D7B-931FED61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925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字：青韵智控">
            <a:extLst xmlns:a="http://schemas.openxmlformats.org/drawingml/2006/main">
              <a:ext uri="{FF2B5EF4-FFF2-40B4-BE49-F238E27FC236}">
                <a16:creationId xmlns:a16="http://schemas.microsoft.com/office/drawing/2014/main" id="{A1F58C6D-3948-4E4F-BD5D-728148EC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青韵智控</a:t>
            </a:r>
            <a:endParaRPr sz="2400" b="1">
              <a:solidFill>
                <a:srgbClr val="073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A2A30CBF-6640-4B6E-AAA2-008A82B3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57175"/>
            <a:ext cx="0" cy="2762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字：让传统制茶更可控">
            <a:extLst xmlns:a="http://schemas.openxmlformats.org/drawingml/2006/main">
              <a:ext uri="{FF2B5EF4-FFF2-40B4-BE49-F238E27FC236}">
                <a16:creationId xmlns:a16="http://schemas.microsoft.com/office/drawing/2014/main" id="{9DD5A994-64B5-48FE-8690-2696DDD8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记录做青过程</a:t>
            </a:r>
            <a:endParaRPr sz="18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文字：项目背景">
            <a:extLst xmlns:a="http://schemas.openxmlformats.org/drawingml/2006/main">
              <a:ext uri="{FF2B5EF4-FFF2-40B4-BE49-F238E27FC236}">
                <a16:creationId xmlns:a16="http://schemas.microsoft.com/office/drawing/2014/main" id="{6E41CB3B-AC49-47AD-95D0-296A77C0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B6182D5C-BCEF-4A36-A385-F4F115A6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字：项目概述">
            <a:extLst xmlns:a="http://schemas.openxmlformats.org/drawingml/2006/main">
              <a:ext uri="{FF2B5EF4-FFF2-40B4-BE49-F238E27FC236}">
                <a16:creationId xmlns:a16="http://schemas.microsoft.com/office/drawing/2014/main" id="{9B994BCE-6449-4263-A370-7986F451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2C4034FA-FE5D-4F14-901E-0103E169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字：关键技术">
            <a:extLst xmlns:a="http://schemas.openxmlformats.org/drawingml/2006/main">
              <a:ext uri="{FF2B5EF4-FFF2-40B4-BE49-F238E27FC236}">
                <a16:creationId xmlns:a16="http://schemas.microsoft.com/office/drawing/2014/main" id="{8E41CF15-25BE-4BB7-BCE9-2210F532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  <a:endParaRPr sz="1500" b="1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7990EF09-EADE-4566-9922-31C49E74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2328277C-A588-46B8-B737-AC5480BF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286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73F3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文字：实施与验证">
            <a:extLst xmlns:a="http://schemas.openxmlformats.org/drawingml/2006/main">
              <a:ext uri="{FF2B5EF4-FFF2-40B4-BE49-F238E27FC236}">
                <a16:creationId xmlns:a16="http://schemas.microsoft.com/office/drawing/2014/main" id="{AD8F6705-91E0-4DA1-B1BF-843AA2FE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571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实施与验证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B0C82667-2EFE-4415-A8E2-BBE6715E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文字：商业模式">
            <a:extLst xmlns:a="http://schemas.openxmlformats.org/drawingml/2006/main">
              <a:ext uri="{FF2B5EF4-FFF2-40B4-BE49-F238E27FC236}">
                <a16:creationId xmlns:a16="http://schemas.microsoft.com/office/drawing/2014/main" id="{910D8BCA-3E43-4CA5-806C-5C43D88E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商业模式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BB6F1F53-0779-430A-B3C8-2EC0D116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字：未来展望">
            <a:extLst xmlns:a="http://schemas.openxmlformats.org/drawingml/2006/main">
              <a:ext uri="{FF2B5EF4-FFF2-40B4-BE49-F238E27FC236}">
                <a16:creationId xmlns:a16="http://schemas.microsoft.com/office/drawing/2014/main" id="{22FBECA3-2D5B-4D5C-8807-E706C12F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7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未来展望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9" name="文字：07">
            <a:extLst xmlns:a="http://schemas.openxmlformats.org/drawingml/2006/main">
              <a:ext uri="{FF2B5EF4-FFF2-40B4-BE49-F238E27FC236}">
                <a16:creationId xmlns:a16="http://schemas.microsoft.com/office/drawing/2014/main" id="{B71B3BB9-3EDE-4E87-B1B6-9D5F2D5A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257175"/>
            <a:ext cx="22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1950" b="0">
              <a:solidFill>
                <a:srgbClr val="073F32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7C3F9AD9-E8A2-4ADA-BC6B-B487AFAE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57257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8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03">
            <a:extLst xmlns:a="http://schemas.openxmlformats.org/drawingml/2006/main">
              <a:ext uri="{FF2B5EF4-FFF2-40B4-BE49-F238E27FC236}">
                <a16:creationId xmlns:a16="http://schemas.microsoft.com/office/drawing/2014/main" id="{9AC416A3-81D5-463F-8560-51831086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266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关键技术">
            <a:extLst xmlns:a="http://schemas.openxmlformats.org/drawingml/2006/main">
              <a:ext uri="{FF2B5EF4-FFF2-40B4-BE49-F238E27FC236}">
                <a16:creationId xmlns:a16="http://schemas.microsoft.com/office/drawing/2014/main" id="{7DCE8CAA-4140-4D77-BED7-6DD6C30F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</a:p>
        </p:txBody>
      </p:sp>
      <p:sp>
        <p:nvSpPr>
          <p:cNvPr id="23" name="凤凰单丛&#10;做青辅助系统">
            <a:extLst xmlns:a="http://schemas.openxmlformats.org/drawingml/2006/main">
              <a:ext uri="{FF2B5EF4-FFF2-40B4-BE49-F238E27FC236}">
                <a16:creationId xmlns:a16="http://schemas.microsoft.com/office/drawing/2014/main" id="{CDC420EB-C3F5-4721-B47B-4FA136C3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凤凰单丛</a:t>
            </a:r>
          </a:p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做青辅助系统</a:t>
            </a:r>
          </a:p>
        </p:txBody>
      </p:sp>
      <p:sp>
        <p:nvSpPr>
          <p:cNvPr id="24" name="每个批次保留数据与工艺事件">
            <a:extLst xmlns:a="http://schemas.openxmlformats.org/drawingml/2006/main">
              <a:ext uri="{FF2B5EF4-FFF2-40B4-BE49-F238E27FC236}">
                <a16:creationId xmlns:a16="http://schemas.microsoft.com/office/drawing/2014/main" id="{2467B8C0-A3CD-4D1E-9DB5-2DBC93BC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143000"/>
            <a:ext cx="1133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每个批次保留数据与工艺事件</a:t>
            </a:r>
          </a:p>
        </p:txBody>
      </p:sp>
      <p:sp>
        <p:nvSpPr>
          <p:cNvPr id="25" name="流程 批次身份&#10;原料信息">
            <a:extLst xmlns:a="http://schemas.openxmlformats.org/drawingml/2006/main">
              <a:ext uri="{FF2B5EF4-FFF2-40B4-BE49-F238E27FC236}">
                <a16:creationId xmlns:a16="http://schemas.microsoft.com/office/drawing/2014/main" id="{AB603519-F9AC-4CA5-85C2-4990CC1F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38500"/>
            <a:ext cx="240506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7DCD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批次身份</a:t>
            </a:r>
          </a:p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原料信息</a:t>
            </a:r>
          </a:p>
        </p:txBody>
      </p:sp>
      <p:sp>
        <p:nvSpPr>
          <p:cNvPr id="26" name="流程 传感帧&#10;时间序列">
            <a:extLst xmlns:a="http://schemas.openxmlformats.org/drawingml/2006/main">
              <a:ext uri="{FF2B5EF4-FFF2-40B4-BE49-F238E27FC236}">
                <a16:creationId xmlns:a16="http://schemas.microsoft.com/office/drawing/2014/main" id="{2E19FA1E-3BBA-4461-AEAE-FCAA4548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138" y="3238500"/>
            <a:ext cx="240506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7DCD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传感帧</a:t>
            </a:r>
          </a:p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时间序列</a:t>
            </a:r>
          </a:p>
        </p:txBody>
      </p:sp>
      <p:sp>
        <p:nvSpPr>
          <p:cNvPr id="27" name="流程 事件与&#10;人工标签">
            <a:extLst xmlns:a="http://schemas.openxmlformats.org/drawingml/2006/main">
              <a:ext uri="{FF2B5EF4-FFF2-40B4-BE49-F238E27FC236}">
                <a16:creationId xmlns:a16="http://schemas.microsoft.com/office/drawing/2014/main" id="{B01C9A40-2374-4693-9048-1AD46B8B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38500"/>
            <a:ext cx="240506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7DCD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事件与</a:t>
            </a:r>
          </a:p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人工标签</a:t>
            </a:r>
          </a:p>
        </p:txBody>
      </p:sp>
      <p:sp>
        <p:nvSpPr>
          <p:cNvPr id="28" name="流程 回放与&#10;来源追溯">
            <a:extLst xmlns:a="http://schemas.openxmlformats.org/drawingml/2006/main">
              <a:ext uri="{FF2B5EF4-FFF2-40B4-BE49-F238E27FC236}">
                <a16:creationId xmlns:a16="http://schemas.microsoft.com/office/drawing/2014/main" id="{E0DA4EED-5AC3-421A-A6A5-50A1C2F6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9163" y="3238500"/>
            <a:ext cx="240506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7DCD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回放与</a:t>
            </a:r>
          </a:p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来源追溯</a:t>
            </a:r>
          </a:p>
        </p:txBody>
      </p:sp>
      <p:sp>
        <p:nvSpPr>
          <p:cNvPr id="32" name="原始记录保留，分析参数可备查">
            <a:extLst xmlns:a="http://schemas.openxmlformats.org/drawingml/2006/main">
              <a:ext uri="{FF2B5EF4-FFF2-40B4-BE49-F238E27FC236}">
                <a16:creationId xmlns:a16="http://schemas.microsoft.com/office/drawing/2014/main" id="{99C3BC9D-6DFB-4FD7-9E93-226348EB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8578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原始记录保留，分析参数可备查</a:t>
            </a:r>
          </a:p>
        </p:txBody>
      </p:sp>
      <p:sp>
        <p:nvSpPr>
          <p:cNvPr id="33" name="软件能力可用模拟模式演示">
            <a:extLst xmlns:a="http://schemas.openxmlformats.org/drawingml/2006/main">
              <a:ext uri="{FF2B5EF4-FFF2-40B4-BE49-F238E27FC236}">
                <a16:creationId xmlns:a16="http://schemas.microsoft.com/office/drawing/2014/main" id="{C6D71135-442F-47C5-A802-00A38CB1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103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软件能力可用模拟模式演示</a:t>
            </a:r>
          </a:p>
        </p:txBody>
      </p:sp>
    </p:spTree>
    <p:extLst>
      <p:ext uri="{BB962C8B-B14F-4D97-AF65-F5344CB8AC3E}">
        <p14:creationId xmlns:p14="http://schemas.microsoft.com/office/powerpoint/2010/main" val="2044093186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a302f703b2914a2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可编辑框架">
            <a:extLst xmlns:a="http://schemas.openxmlformats.org/drawingml/2006/main">
              <a:ext uri="{FF2B5EF4-FFF2-40B4-BE49-F238E27FC236}">
                <a16:creationId xmlns:a16="http://schemas.microsoft.com/office/drawing/2014/main" id="{261557D8-0F1B-4CA0-A603-5D23D0B4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925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字：青韵智控">
            <a:extLst xmlns:a="http://schemas.openxmlformats.org/drawingml/2006/main">
              <a:ext uri="{FF2B5EF4-FFF2-40B4-BE49-F238E27FC236}">
                <a16:creationId xmlns:a16="http://schemas.microsoft.com/office/drawing/2014/main" id="{0693F13E-BFC2-4EA1-81DD-DC2CA0CC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青韵智控</a:t>
            </a:r>
            <a:endParaRPr sz="2400" b="1">
              <a:solidFill>
                <a:srgbClr val="073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A1102FA0-996B-41A6-A068-A24524D7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57175"/>
            <a:ext cx="0" cy="2762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字：让传统制茶更可控">
            <a:extLst xmlns:a="http://schemas.openxmlformats.org/drawingml/2006/main">
              <a:ext uri="{FF2B5EF4-FFF2-40B4-BE49-F238E27FC236}">
                <a16:creationId xmlns:a16="http://schemas.microsoft.com/office/drawing/2014/main" id="{F4342B3C-CCED-46C7-9BB0-BD75D877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记录做青过程</a:t>
            </a:r>
            <a:endParaRPr sz="18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文字：项目背景">
            <a:extLst xmlns:a="http://schemas.openxmlformats.org/drawingml/2006/main">
              <a:ext uri="{FF2B5EF4-FFF2-40B4-BE49-F238E27FC236}">
                <a16:creationId xmlns:a16="http://schemas.microsoft.com/office/drawing/2014/main" id="{B3502268-5F7B-4BF7-86D0-A9D4A47F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FA75D25B-D4CE-4FA9-8D8B-6982D168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字：项目概述">
            <a:extLst xmlns:a="http://schemas.openxmlformats.org/drawingml/2006/main">
              <a:ext uri="{FF2B5EF4-FFF2-40B4-BE49-F238E27FC236}">
                <a16:creationId xmlns:a16="http://schemas.microsoft.com/office/drawing/2014/main" id="{833638C3-3590-48A7-97C7-2CD5386F2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E7AC09E7-2B2C-41C8-9E15-D35DB297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字：关键技术">
            <a:extLst xmlns:a="http://schemas.openxmlformats.org/drawingml/2006/main">
              <a:ext uri="{FF2B5EF4-FFF2-40B4-BE49-F238E27FC236}">
                <a16:creationId xmlns:a16="http://schemas.microsoft.com/office/drawing/2014/main" id="{7C7EAA35-D9CB-4367-896B-CF537EE5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  <a:endParaRPr sz="1500" b="1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E2AAC5B6-EFB6-4328-90AD-EE611324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1B45E1D4-DEE0-4C12-ACBF-FBE33DF7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286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73F3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文字：实施与验证">
            <a:extLst xmlns:a="http://schemas.openxmlformats.org/drawingml/2006/main">
              <a:ext uri="{FF2B5EF4-FFF2-40B4-BE49-F238E27FC236}">
                <a16:creationId xmlns:a16="http://schemas.microsoft.com/office/drawing/2014/main" id="{C3987AB5-0C43-44C9-947E-B4BDAAB0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571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实施与验证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8E5E3BDB-3F96-42B6-8247-B71D1F09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文字：商业模式">
            <a:extLst xmlns:a="http://schemas.openxmlformats.org/drawingml/2006/main">
              <a:ext uri="{FF2B5EF4-FFF2-40B4-BE49-F238E27FC236}">
                <a16:creationId xmlns:a16="http://schemas.microsoft.com/office/drawing/2014/main" id="{039E2935-B3FC-467C-8549-7ED6ED97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商业模式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6300E680-3ED0-49D6-A813-2D4A8D87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字：未来展望">
            <a:extLst xmlns:a="http://schemas.openxmlformats.org/drawingml/2006/main">
              <a:ext uri="{FF2B5EF4-FFF2-40B4-BE49-F238E27FC236}">
                <a16:creationId xmlns:a16="http://schemas.microsoft.com/office/drawing/2014/main" id="{B0E01559-FCC3-43B2-8DD8-3A24414B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7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未来展望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9" name="文字：08">
            <a:extLst xmlns:a="http://schemas.openxmlformats.org/drawingml/2006/main">
              <a:ext uri="{FF2B5EF4-FFF2-40B4-BE49-F238E27FC236}">
                <a16:creationId xmlns:a16="http://schemas.microsoft.com/office/drawing/2014/main" id="{2BCA9C12-B7BF-411B-9BAF-EB8F3DB4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257175"/>
            <a:ext cx="22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08</a:t>
            </a:r>
            <a:endParaRPr sz="1950" b="0">
              <a:solidFill>
                <a:srgbClr val="073F32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795D787B-2857-486D-A593-D219D2CC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57257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8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03">
            <a:extLst xmlns:a="http://schemas.openxmlformats.org/drawingml/2006/main">
              <a:ext uri="{FF2B5EF4-FFF2-40B4-BE49-F238E27FC236}">
                <a16:creationId xmlns:a16="http://schemas.microsoft.com/office/drawing/2014/main" id="{296491FE-967B-4089-BF15-7EA92A85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266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关键技术">
            <a:extLst xmlns:a="http://schemas.openxmlformats.org/drawingml/2006/main">
              <a:ext uri="{FF2B5EF4-FFF2-40B4-BE49-F238E27FC236}">
                <a16:creationId xmlns:a16="http://schemas.microsoft.com/office/drawing/2014/main" id="{BA431E79-46B7-4B56-B140-C2EC6590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</a:p>
        </p:txBody>
      </p:sp>
      <p:sp>
        <p:nvSpPr>
          <p:cNvPr id="23" name="凤凰单丛&#10;做青辅助系统">
            <a:extLst xmlns:a="http://schemas.openxmlformats.org/drawingml/2006/main">
              <a:ext uri="{FF2B5EF4-FFF2-40B4-BE49-F238E27FC236}">
                <a16:creationId xmlns:a16="http://schemas.microsoft.com/office/drawing/2014/main" id="{2068354F-48C1-4B8C-98A1-FC6B7954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凤凰单丛</a:t>
            </a:r>
          </a:p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做青辅助系统</a:t>
            </a:r>
          </a:p>
        </p:txBody>
      </p:sp>
      <p:sp>
        <p:nvSpPr>
          <p:cNvPr id="24" name="四个气敏通道具有重复响应记录">
            <a:extLst xmlns:a="http://schemas.openxmlformats.org/drawingml/2006/main">
              <a:ext uri="{FF2B5EF4-FFF2-40B4-BE49-F238E27FC236}">
                <a16:creationId xmlns:a16="http://schemas.microsoft.com/office/drawing/2014/main" id="{4E16C3A9-22BA-4B0B-B05F-11867E5F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143000"/>
            <a:ext cx="1133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四个气敏通道具有重复响应记录</a:t>
            </a:r>
          </a:p>
        </p:txBody>
      </p:sp>
      <p:sp>
        <p:nvSpPr>
          <p:cNvPr id="25" name="来源：《数据结果.xlsx》，电子鼻_处理结果 O5:O8、S8:S1">
            <a:extLst xmlns:a="http://schemas.openxmlformats.org/drawingml/2006/main">
              <a:ext uri="{FF2B5EF4-FFF2-40B4-BE49-F238E27FC236}">
                <a16:creationId xmlns:a16="http://schemas.microsoft.com/office/drawing/2014/main" id="{3F3BF325-7817-478D-8B50-81EE4A2B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7905750"/>
            <a:ext cx="1143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来源：《数据结果.xlsx》，电子鼻_处理结果 O5:O8、S8:S10</a:t>
            </a:r>
          </a:p>
        </p:txBody>
      </p:sp>
      <p:graphicFrame>
        <p:nvGraphicFramePr>
          <p:cNvPr id="26" name="Chart">
            <a:extLst xmlns:a="http://schemas.openxmlformats.org/drawingml/2006/main">
              <a:ext uri="{FF2B5EF4-FFF2-40B4-BE49-F238E27FC236}">
                <a16:creationId xmlns:a16="http://schemas.microsoft.com/office/drawing/2014/main" id="{4F66C3EF-FC6C-4548-B6BB-82E9DBEBFD0B}"/>
              </a:ext>
            </a:extLst>
          </p:cNvPr>
          <p:cNvGraphicFramePr/>
          <p:nvPr/>
        </p:nvGraphicFramePr>
        <p:xfrm>
          <a:off xmlns:a="http://schemas.openxmlformats.org/drawingml/2006/main" x="4048125" y="2714625"/>
          <a:ext xmlns:a="http://schemas.openxmlformats.org/drawingml/2006/main" cx="7858125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b0bc421ffa4efe"/>
          </a:graphicData>
        </a:graphic>
      </p:graphicFrame>
      <p:sp>
        <p:nvSpPr>
          <p:cNvPr id="27" name="6.18%">
            <a:extLst xmlns:a="http://schemas.openxmlformats.org/drawingml/2006/main">
              <a:ext uri="{FF2B5EF4-FFF2-40B4-BE49-F238E27FC236}">
                <a16:creationId xmlns:a16="http://schemas.microsoft.com/office/drawing/2014/main" id="{63AFEE8E-F035-4340-968D-E37099E0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333750"/>
            <a:ext cx="2905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87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6.18%</a:t>
            </a:r>
          </a:p>
        </p:txBody>
      </p:sp>
      <p:sp>
        <p:nvSpPr>
          <p:cNvPr id="28" name="平均CV">
            <a:extLst xmlns:a="http://schemas.openxmlformats.org/drawingml/2006/main">
              <a:ext uri="{FF2B5EF4-FFF2-40B4-BE49-F238E27FC236}">
                <a16:creationId xmlns:a16="http://schemas.microsoft.com/office/drawing/2014/main" id="{FFC7CE73-5607-4DE0-B194-9ABA82AE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333875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rPr>
              <a:t>平均CV</a:t>
            </a:r>
          </a:p>
        </p:txBody>
      </p:sp>
      <p:sp>
        <p:nvSpPr>
          <p:cNvPr id="29" name="3.73%">
            <a:extLst xmlns:a="http://schemas.openxmlformats.org/drawingml/2006/main">
              <a:ext uri="{FF2B5EF4-FFF2-40B4-BE49-F238E27FC236}">
                <a16:creationId xmlns:a16="http://schemas.microsoft.com/office/drawing/2014/main" id="{97353838-93C2-4580-A65F-B191D1DE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429250"/>
            <a:ext cx="2905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87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7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3.73%</a:t>
            </a:r>
          </a:p>
        </p:txBody>
      </p:sp>
      <p:sp>
        <p:nvSpPr>
          <p:cNvPr id="30" name="短期基线漂移">
            <a:extLst xmlns:a="http://schemas.openxmlformats.org/drawingml/2006/main">
              <a:ext uri="{FF2B5EF4-FFF2-40B4-BE49-F238E27FC236}">
                <a16:creationId xmlns:a16="http://schemas.microsoft.com/office/drawing/2014/main" id="{3D5EE3CA-93E7-4B3D-A811-5C88E4EB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4293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rPr>
              <a:t>短期基线漂移</a:t>
            </a:r>
          </a:p>
        </p:txBody>
      </p:sp>
    </p:spTree>
    <p:extLst>
      <p:ext uri="{BB962C8B-B14F-4D97-AF65-F5344CB8AC3E}">
        <p14:creationId xmlns:p14="http://schemas.microsoft.com/office/powerpoint/2010/main" val="1173874985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f364a6d5c4d4eb2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可编辑框架">
            <a:extLst xmlns:a="http://schemas.openxmlformats.org/drawingml/2006/main">
              <a:ext uri="{FF2B5EF4-FFF2-40B4-BE49-F238E27FC236}">
                <a16:creationId xmlns:a16="http://schemas.microsoft.com/office/drawing/2014/main" id="{046F9E3F-C4D5-46BB-AF66-513347FD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925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字：青韵智控">
            <a:extLst xmlns:a="http://schemas.openxmlformats.org/drawingml/2006/main">
              <a:ext uri="{FF2B5EF4-FFF2-40B4-BE49-F238E27FC236}">
                <a16:creationId xmlns:a16="http://schemas.microsoft.com/office/drawing/2014/main" id="{128A106C-CE89-4122-BE3A-4FBC7C0C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青韵智控</a:t>
            </a:r>
            <a:endParaRPr sz="2400" b="1">
              <a:solidFill>
                <a:srgbClr val="073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E762E277-DAFE-4157-9E81-1C2D4FC2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57175"/>
            <a:ext cx="0" cy="2762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字：让传统制茶更可控">
            <a:extLst xmlns:a="http://schemas.openxmlformats.org/drawingml/2006/main">
              <a:ext uri="{FF2B5EF4-FFF2-40B4-BE49-F238E27FC236}">
                <a16:creationId xmlns:a16="http://schemas.microsoft.com/office/drawing/2014/main" id="{487CE6DC-C8FD-4650-9B03-471D6484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记录做青过程</a:t>
            </a:r>
            <a:endParaRPr sz="18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文字：项目背景">
            <a:extLst xmlns:a="http://schemas.openxmlformats.org/drawingml/2006/main">
              <a:ext uri="{FF2B5EF4-FFF2-40B4-BE49-F238E27FC236}">
                <a16:creationId xmlns:a16="http://schemas.microsoft.com/office/drawing/2014/main" id="{F1877D30-2660-4040-B437-CD631171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412D0BB2-E1CD-4632-A381-7C4B86A7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字：项目概述">
            <a:extLst xmlns:a="http://schemas.openxmlformats.org/drawingml/2006/main">
              <a:ext uri="{FF2B5EF4-FFF2-40B4-BE49-F238E27FC236}">
                <a16:creationId xmlns:a16="http://schemas.microsoft.com/office/drawing/2014/main" id="{05966823-BB88-4D70-9A2E-4EA85AF8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DCEC214B-C84A-49FE-B384-DF48B843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字：关键技术">
            <a:extLst xmlns:a="http://schemas.openxmlformats.org/drawingml/2006/main">
              <a:ext uri="{FF2B5EF4-FFF2-40B4-BE49-F238E27FC236}">
                <a16:creationId xmlns:a16="http://schemas.microsoft.com/office/drawing/2014/main" id="{A23AFFFA-4E47-462E-9C56-60C21287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  <a:endParaRPr sz="1500" b="1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B50F1C70-0BB3-4211-BF37-884046C6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4D20B1EA-551F-472D-97B2-C80ED810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286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73F3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文字：实施与验证">
            <a:extLst xmlns:a="http://schemas.openxmlformats.org/drawingml/2006/main">
              <a:ext uri="{FF2B5EF4-FFF2-40B4-BE49-F238E27FC236}">
                <a16:creationId xmlns:a16="http://schemas.microsoft.com/office/drawing/2014/main" id="{E3B45475-79B8-4E2A-8455-9A2F10C6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571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实施与验证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E7CAF6D6-BEEE-4B86-882C-ECA38706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文字：商业模式">
            <a:extLst xmlns:a="http://schemas.openxmlformats.org/drawingml/2006/main">
              <a:ext uri="{FF2B5EF4-FFF2-40B4-BE49-F238E27FC236}">
                <a16:creationId xmlns:a16="http://schemas.microsoft.com/office/drawing/2014/main" id="{1126BFB8-AF46-4574-B031-858F47F0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商业模式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445D9529-5727-48F7-A32B-AEA7B34E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字：未来展望">
            <a:extLst xmlns:a="http://schemas.openxmlformats.org/drawingml/2006/main">
              <a:ext uri="{FF2B5EF4-FFF2-40B4-BE49-F238E27FC236}">
                <a16:creationId xmlns:a16="http://schemas.microsoft.com/office/drawing/2014/main" id="{481B95AB-597F-4981-9B39-80BBE7FC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7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未来展望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9" name="文字：09">
            <a:extLst xmlns:a="http://schemas.openxmlformats.org/drawingml/2006/main">
              <a:ext uri="{FF2B5EF4-FFF2-40B4-BE49-F238E27FC236}">
                <a16:creationId xmlns:a16="http://schemas.microsoft.com/office/drawing/2014/main" id="{27087C3D-E195-4227-B863-4B0D63FA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257175"/>
            <a:ext cx="22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09</a:t>
            </a:r>
            <a:endParaRPr sz="1950" b="0">
              <a:solidFill>
                <a:srgbClr val="073F32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5D55A526-06F8-4FBF-ABEA-8D754356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57257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8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03">
            <a:extLst xmlns:a="http://schemas.openxmlformats.org/drawingml/2006/main">
              <a:ext uri="{FF2B5EF4-FFF2-40B4-BE49-F238E27FC236}">
                <a16:creationId xmlns:a16="http://schemas.microsoft.com/office/drawing/2014/main" id="{60B53953-7488-4637-89CA-6A08D1BA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266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关键技术">
            <a:extLst xmlns:a="http://schemas.openxmlformats.org/drawingml/2006/main">
              <a:ext uri="{FF2B5EF4-FFF2-40B4-BE49-F238E27FC236}">
                <a16:creationId xmlns:a16="http://schemas.microsoft.com/office/drawing/2014/main" id="{553B73AD-BF2D-4802-889B-2F19E4D4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</a:p>
        </p:txBody>
      </p:sp>
      <p:sp>
        <p:nvSpPr>
          <p:cNvPr id="23" name="凤凰单丛&#10;做青辅助系统">
            <a:extLst xmlns:a="http://schemas.openxmlformats.org/drawingml/2006/main">
              <a:ext uri="{FF2B5EF4-FFF2-40B4-BE49-F238E27FC236}">
                <a16:creationId xmlns:a16="http://schemas.microsoft.com/office/drawing/2014/main" id="{67F8A8E1-7BA9-4BB1-9541-E0FF9FBA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凤凰单丛</a:t>
            </a:r>
          </a:p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做青辅助系统</a:t>
            </a:r>
          </a:p>
        </p:txBody>
      </p:sp>
      <p:sp>
        <p:nvSpPr>
          <p:cNvPr id="24" name="静态称重标定平均相对误差为0.162%">
            <a:extLst xmlns:a="http://schemas.openxmlformats.org/drawingml/2006/main">
              <a:ext uri="{FF2B5EF4-FFF2-40B4-BE49-F238E27FC236}">
                <a16:creationId xmlns:a16="http://schemas.microsoft.com/office/drawing/2014/main" id="{ACC6435A-403A-4927-885E-D7E787FD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143000"/>
            <a:ext cx="1133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静态称重标定平均相对误差为0.162%</a:t>
            </a:r>
          </a:p>
        </p:txBody>
      </p:sp>
      <p:sp>
        <p:nvSpPr>
          <p:cNvPr id="25" name="来源：《数据结果.xlsx》，HX711_标定结果 A5:A14、I5">
            <a:extLst xmlns:a="http://schemas.openxmlformats.org/drawingml/2006/main">
              <a:ext uri="{FF2B5EF4-FFF2-40B4-BE49-F238E27FC236}">
                <a16:creationId xmlns:a16="http://schemas.microsoft.com/office/drawing/2014/main" id="{1909DC50-8AD7-4D65-AC53-7BCF4A0B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7905750"/>
            <a:ext cx="1143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来源：《数据结果.xlsx》，HX711_标定结果 A5:A14、I5:I14、P5:P8</a:t>
            </a:r>
          </a:p>
        </p:txBody>
      </p:sp>
      <p:graphicFrame>
        <p:nvGraphicFramePr>
          <p:cNvPr id="26" name="Chart">
            <a:extLst xmlns:a="http://schemas.openxmlformats.org/drawingml/2006/main">
              <a:ext uri="{FF2B5EF4-FFF2-40B4-BE49-F238E27FC236}">
                <a16:creationId xmlns:a16="http://schemas.microsoft.com/office/drawing/2014/main" id="{012ABD41-3E2E-45C6-9A22-349E83319691}"/>
              </a:ext>
            </a:extLst>
          </p:cNvPr>
          <p:cNvGraphicFramePr/>
          <p:nvPr/>
        </p:nvGraphicFramePr>
        <p:xfrm>
          <a:off xmlns:a="http://schemas.openxmlformats.org/drawingml/2006/main" x="4048125" y="2857500"/>
          <a:ext xmlns:a="http://schemas.openxmlformats.org/drawingml/2006/main" cx="7762875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4480d7eb104852"/>
          </a:graphicData>
        </a:graphic>
      </p:graphicFrame>
      <p:sp>
        <p:nvSpPr>
          <p:cNvPr id="27" name="10点 × 5次">
            <a:extLst xmlns:a="http://schemas.openxmlformats.org/drawingml/2006/main">
              <a:ext uri="{FF2B5EF4-FFF2-40B4-BE49-F238E27FC236}">
                <a16:creationId xmlns:a16="http://schemas.microsoft.com/office/drawing/2014/main" id="{774418A8-9E1D-4E87-801D-8B0F9F23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3524250"/>
            <a:ext cx="3095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10点 × 5次</a:t>
            </a:r>
          </a:p>
        </p:txBody>
      </p:sp>
      <p:sp>
        <p:nvSpPr>
          <p:cNvPr id="28" name="500–5000 g">
            <a:extLst xmlns:a="http://schemas.openxmlformats.org/drawingml/2006/main">
              <a:ext uri="{FF2B5EF4-FFF2-40B4-BE49-F238E27FC236}">
                <a16:creationId xmlns:a16="http://schemas.microsoft.com/office/drawing/2014/main" id="{0E63A872-0818-48AC-96BC-FA6C627C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3815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rPr>
              <a:t>500–5000 g</a:t>
            </a:r>
          </a:p>
        </p:txBody>
      </p:sp>
      <p:sp>
        <p:nvSpPr>
          <p:cNvPr id="29" name="0.285%">
            <a:extLst xmlns:a="http://schemas.openxmlformats.org/drawingml/2006/main">
              <a:ext uri="{FF2B5EF4-FFF2-40B4-BE49-F238E27FC236}">
                <a16:creationId xmlns:a16="http://schemas.microsoft.com/office/drawing/2014/main" id="{611A4DE7-B42C-4494-8D93-A53C532A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619750"/>
            <a:ext cx="2905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27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27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7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0.285%</a:t>
            </a:r>
          </a:p>
        </p:txBody>
      </p:sp>
      <p:sp>
        <p:nvSpPr>
          <p:cNvPr id="30" name="最大相对误差">
            <a:extLst xmlns:a="http://schemas.openxmlformats.org/drawingml/2006/main">
              <a:ext uri="{FF2B5EF4-FFF2-40B4-BE49-F238E27FC236}">
                <a16:creationId xmlns:a16="http://schemas.microsoft.com/office/drawing/2014/main" id="{629599DA-AC69-423D-96B1-8543804C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524625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rPr>
              <a:t>最大相对误差</a:t>
            </a:r>
          </a:p>
        </p:txBody>
      </p:sp>
    </p:spTree>
    <p:extLst>
      <p:ext uri="{BB962C8B-B14F-4D97-AF65-F5344CB8AC3E}">
        <p14:creationId xmlns:p14="http://schemas.microsoft.com/office/powerpoint/2010/main" val="2125025412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74b0838c21b04a8f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可编辑框架">
            <a:extLst xmlns:a="http://schemas.openxmlformats.org/drawingml/2006/main">
              <a:ext uri="{FF2B5EF4-FFF2-40B4-BE49-F238E27FC236}">
                <a16:creationId xmlns:a16="http://schemas.microsoft.com/office/drawing/2014/main" id="{F4E6B299-C7C1-47F9-80C2-09D4BA13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925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字：青韵智控">
            <a:extLst xmlns:a="http://schemas.openxmlformats.org/drawingml/2006/main">
              <a:ext uri="{FF2B5EF4-FFF2-40B4-BE49-F238E27FC236}">
                <a16:creationId xmlns:a16="http://schemas.microsoft.com/office/drawing/2014/main" id="{568D21F3-869E-40E7-B112-141152E0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青韵智控</a:t>
            </a:r>
            <a:endParaRPr sz="2400" b="1">
              <a:solidFill>
                <a:srgbClr val="073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F7AF0F87-532E-48AF-8B61-BA4C6C7B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57175"/>
            <a:ext cx="0" cy="2762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字：让传统制茶更可控">
            <a:extLst xmlns:a="http://schemas.openxmlformats.org/drawingml/2006/main">
              <a:ext uri="{FF2B5EF4-FFF2-40B4-BE49-F238E27FC236}">
                <a16:creationId xmlns:a16="http://schemas.microsoft.com/office/drawing/2014/main" id="{77F7DC52-8E2F-4372-B48B-9969F552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记录做青过程</a:t>
            </a:r>
            <a:endParaRPr sz="18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文字：项目背景">
            <a:extLst xmlns:a="http://schemas.openxmlformats.org/drawingml/2006/main">
              <a:ext uri="{FF2B5EF4-FFF2-40B4-BE49-F238E27FC236}">
                <a16:creationId xmlns:a16="http://schemas.microsoft.com/office/drawing/2014/main" id="{9DB5208C-CF5E-435C-B1CA-2CA812F3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4362467E-8C07-411B-A7E5-DDF22512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字：项目概述">
            <a:extLst xmlns:a="http://schemas.openxmlformats.org/drawingml/2006/main">
              <a:ext uri="{FF2B5EF4-FFF2-40B4-BE49-F238E27FC236}">
                <a16:creationId xmlns:a16="http://schemas.microsoft.com/office/drawing/2014/main" id="{B72FC124-B6CD-41D6-8A95-6A09B0FD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231D5470-6253-48EF-B5C9-AFF8EF9F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字：关键技术">
            <a:extLst xmlns:a="http://schemas.openxmlformats.org/drawingml/2006/main">
              <a:ext uri="{FF2B5EF4-FFF2-40B4-BE49-F238E27FC236}">
                <a16:creationId xmlns:a16="http://schemas.microsoft.com/office/drawing/2014/main" id="{37CD81D9-4DB4-420D-8818-678307AE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  <a:endParaRPr sz="1500" b="1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EA707181-2A3C-4524-9E22-F3897D06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23FCA57E-60B9-4EBE-A2A6-7B4365E0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286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73F3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文字：实施与验证">
            <a:extLst xmlns:a="http://schemas.openxmlformats.org/drawingml/2006/main">
              <a:ext uri="{FF2B5EF4-FFF2-40B4-BE49-F238E27FC236}">
                <a16:creationId xmlns:a16="http://schemas.microsoft.com/office/drawing/2014/main" id="{5E46395A-F2A0-4F50-AEFF-B1F5C227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571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实施与验证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1F137AD7-25EB-4B33-BD0F-C925EA56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文字：商业模式">
            <a:extLst xmlns:a="http://schemas.openxmlformats.org/drawingml/2006/main">
              <a:ext uri="{FF2B5EF4-FFF2-40B4-BE49-F238E27FC236}">
                <a16:creationId xmlns:a16="http://schemas.microsoft.com/office/drawing/2014/main" id="{24138552-4DA1-425A-9DA1-D3BC5515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商业模式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84DE90ED-4FD6-42B5-BAC6-40C9061F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字：未来展望">
            <a:extLst xmlns:a="http://schemas.openxmlformats.org/drawingml/2006/main">
              <a:ext uri="{FF2B5EF4-FFF2-40B4-BE49-F238E27FC236}">
                <a16:creationId xmlns:a16="http://schemas.microsoft.com/office/drawing/2014/main" id="{570C30DE-AE36-4751-B7E2-5E61261C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7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未来展望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9" name="文字：10">
            <a:extLst xmlns:a="http://schemas.openxmlformats.org/drawingml/2006/main">
              <a:ext uri="{FF2B5EF4-FFF2-40B4-BE49-F238E27FC236}">
                <a16:creationId xmlns:a16="http://schemas.microsoft.com/office/drawing/2014/main" id="{32F361D5-00EE-459F-B8C3-07AEB1B5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257175"/>
            <a:ext cx="22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10</a:t>
            </a:r>
            <a:endParaRPr sz="1950" b="0">
              <a:solidFill>
                <a:srgbClr val="073F32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A9B96733-D2C0-40D1-ABAD-9BACEE51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57257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8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03">
            <a:extLst xmlns:a="http://schemas.openxmlformats.org/drawingml/2006/main">
              <a:ext uri="{FF2B5EF4-FFF2-40B4-BE49-F238E27FC236}">
                <a16:creationId xmlns:a16="http://schemas.microsoft.com/office/drawing/2014/main" id="{534FAD23-F641-4F9F-9150-B90E1040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266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关键技术">
            <a:extLst xmlns:a="http://schemas.openxmlformats.org/drawingml/2006/main">
              <a:ext uri="{FF2B5EF4-FFF2-40B4-BE49-F238E27FC236}">
                <a16:creationId xmlns:a16="http://schemas.microsoft.com/office/drawing/2014/main" id="{01953C13-8F80-4456-A560-B193CF53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</a:p>
        </p:txBody>
      </p:sp>
      <p:sp>
        <p:nvSpPr>
          <p:cNvPr id="23" name="凤凰单丛&#10;做青辅助系统">
            <a:extLst xmlns:a="http://schemas.openxmlformats.org/drawingml/2006/main">
              <a:ext uri="{FF2B5EF4-FFF2-40B4-BE49-F238E27FC236}">
                <a16:creationId xmlns:a16="http://schemas.microsoft.com/office/drawing/2014/main" id="{1D66F799-E676-4E8B-B3CF-8ACD1D46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凤凰单丛</a:t>
            </a:r>
          </a:p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做青辅助系统</a:t>
            </a:r>
          </a:p>
        </p:txBody>
      </p:sp>
      <p:sp>
        <p:nvSpPr>
          <p:cNvPr id="24" name="480分钟连续记录完整率为99.92%">
            <a:extLst xmlns:a="http://schemas.openxmlformats.org/drawingml/2006/main">
              <a:ext uri="{FF2B5EF4-FFF2-40B4-BE49-F238E27FC236}">
                <a16:creationId xmlns:a16="http://schemas.microsoft.com/office/drawing/2014/main" id="{4A23BCE9-ED7D-44E3-8733-2602067D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143000"/>
            <a:ext cx="1133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480分钟连续记录完整率为99.92%</a:t>
            </a:r>
          </a:p>
        </p:txBody>
      </p:sp>
      <p:sp>
        <p:nvSpPr>
          <p:cNvPr id="25" name="来源：《数据结果.xlsx》，整机稳定性 RUN10（2026-09-">
            <a:extLst xmlns:a="http://schemas.openxmlformats.org/drawingml/2006/main">
              <a:ext uri="{FF2B5EF4-FFF2-40B4-BE49-F238E27FC236}">
                <a16:creationId xmlns:a16="http://schemas.microsoft.com/office/drawing/2014/main" id="{DC0136B7-6F75-4C14-B148-02451CCA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7905750"/>
            <a:ext cx="1143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来源：《数据结果.xlsx》，整机稳定性 RUN10（2026-09-27）</a:t>
            </a:r>
          </a:p>
        </p:txBody>
      </p:sp>
      <p:sp>
        <p:nvSpPr>
          <p:cNvPr id="26" name="480 min">
            <a:extLst xmlns:a="http://schemas.openxmlformats.org/drawingml/2006/main">
              <a:ext uri="{FF2B5EF4-FFF2-40B4-BE49-F238E27FC236}">
                <a16:creationId xmlns:a16="http://schemas.microsoft.com/office/drawing/2014/main" id="{C89DD633-C379-4AEE-B927-381452E4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57500"/>
            <a:ext cx="523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37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637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480 min</a:t>
            </a:r>
          </a:p>
        </p:txBody>
      </p:sp>
      <p:sp>
        <p:nvSpPr>
          <p:cNvPr id="27" name="连续记录时长">
            <a:extLst xmlns:a="http://schemas.openxmlformats.org/drawingml/2006/main">
              <a:ext uri="{FF2B5EF4-FFF2-40B4-BE49-F238E27FC236}">
                <a16:creationId xmlns:a16="http://schemas.microsoft.com/office/drawing/2014/main" id="{EBF43B4B-159B-4E2C-9E70-9AE8BF8D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433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rPr>
              <a:t>连续记录时长</a:t>
            </a:r>
          </a:p>
        </p:txBody>
      </p:sp>
      <p:sp>
        <p:nvSpPr>
          <p:cNvPr id="28" name="99.92%">
            <a:extLst xmlns:a="http://schemas.openxmlformats.org/drawingml/2006/main">
              <a:ext uri="{FF2B5EF4-FFF2-40B4-BE49-F238E27FC236}">
                <a16:creationId xmlns:a16="http://schemas.microsoft.com/office/drawing/2014/main" id="{6AE4F5AA-1364-4B1C-AB0F-A75D7625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575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637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637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7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99.92%</a:t>
            </a:r>
          </a:p>
        </p:txBody>
      </p:sp>
      <p:sp>
        <p:nvSpPr>
          <p:cNvPr id="29" name="28777 / 28800 条">
            <a:extLst xmlns:a="http://schemas.openxmlformats.org/drawingml/2006/main">
              <a:ext uri="{FF2B5EF4-FFF2-40B4-BE49-F238E27FC236}">
                <a16:creationId xmlns:a16="http://schemas.microsoft.com/office/drawing/2014/main" id="{725DCA93-147A-4388-9A65-D45A6682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1433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rPr>
              <a:t>28777 / 28800 条</a:t>
            </a:r>
          </a:p>
        </p:txBody>
      </p:sp>
      <p:graphicFrame>
        <p:nvGraphicFrame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EB22AE-CEAC-410C-A912-4F2AE7A91C0A}"/>
              </a:ext>
            </a:extLst>
          </p:cNvPr>
          <p:cNvGraphicFramePr/>
          <p:nvPr/>
        </p:nvGraphicFramePr>
        <p:xfrm>
          <a:off xmlns:a="http://schemas.openxmlformats.org/drawingml/2006/main" x="4238625" y="5429250"/>
          <a:ext xmlns:a="http://schemas.openxmlformats.org/drawingml/2006/main" cx="104775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5238750"/>
              </a:tblGrid>
              <a:tr h="714375"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145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异常重启</a:t>
                      </a:r>
                    </a:p>
                  </a:txBody>
                  <a:tcPr marL="91440" marR="91440" marT="45720" marB="45720">
                    <a:solidFill>
                      <a:srgbClr val="DDEFE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145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最长连续缺失</a:t>
                      </a:r>
                    </a:p>
                  </a:txBody>
                  <a:tcPr marL="91440" marR="91440" marT="45720" marB="45720">
                    <a:solidFill>
                      <a:srgbClr val="DDEFE4"/>
                    </a:solidFill>
                  </a:tcPr>
                </a:tc>
              </a:tr>
              <a:tr h="71437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次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 s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</a:tr>
            </a:tbl>
          </a:graphicData>
        </a:graphic>
      </p:graphicFrame>
      <p:sp>
        <p:nvSpPr>
          <p:cNvPr id="31" name="这些指标覆盖该次记录条件">
            <a:extLst xmlns:a="http://schemas.openxmlformats.org/drawingml/2006/main">
              <a:ext uri="{FF2B5EF4-FFF2-40B4-BE49-F238E27FC236}">
                <a16:creationId xmlns:a16="http://schemas.microsoft.com/office/drawing/2014/main" id="{910715B8-EC53-446C-9B72-0E764AEB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7334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这些指标覆盖该次记录条件</a:t>
            </a:r>
          </a:p>
        </p:txBody>
      </p:sp>
    </p:spTree>
    <p:extLst>
      <p:ext uri="{BB962C8B-B14F-4D97-AF65-F5344CB8AC3E}">
        <p14:creationId xmlns:p14="http://schemas.microsoft.com/office/powerpoint/2010/main" val="1210339302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ad08a2ec2d640ba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可编辑框架">
            <a:extLst xmlns:a="http://schemas.openxmlformats.org/drawingml/2006/main">
              <a:ext uri="{FF2B5EF4-FFF2-40B4-BE49-F238E27FC236}">
                <a16:creationId xmlns:a16="http://schemas.microsoft.com/office/drawing/2014/main" id="{D3554503-138D-47ED-9908-EFDF61BA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925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字：青韵智控">
            <a:extLst xmlns:a="http://schemas.openxmlformats.org/drawingml/2006/main">
              <a:ext uri="{FF2B5EF4-FFF2-40B4-BE49-F238E27FC236}">
                <a16:creationId xmlns:a16="http://schemas.microsoft.com/office/drawing/2014/main" id="{45EE388E-1F12-430C-9D94-2926FC3F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青韵智控</a:t>
            </a:r>
            <a:endParaRPr sz="2400" b="1">
              <a:solidFill>
                <a:srgbClr val="073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2A59DE7A-63BF-4CD4-8BA2-E3152AF1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57175"/>
            <a:ext cx="0" cy="2762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字：让传统制茶更可控">
            <a:extLst xmlns:a="http://schemas.openxmlformats.org/drawingml/2006/main">
              <a:ext uri="{FF2B5EF4-FFF2-40B4-BE49-F238E27FC236}">
                <a16:creationId xmlns:a16="http://schemas.microsoft.com/office/drawing/2014/main" id="{AD97E084-1F11-4DA6-9C92-0E7C6B46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记录做青过程</a:t>
            </a:r>
            <a:endParaRPr sz="18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文字：项目背景">
            <a:extLst xmlns:a="http://schemas.openxmlformats.org/drawingml/2006/main">
              <a:ext uri="{FF2B5EF4-FFF2-40B4-BE49-F238E27FC236}">
                <a16:creationId xmlns:a16="http://schemas.microsoft.com/office/drawing/2014/main" id="{6D4DF2C2-4913-4148-AB4A-8FF950DC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9BDDA48F-D972-4736-94CB-32F66DF9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字：项目概述">
            <a:extLst xmlns:a="http://schemas.openxmlformats.org/drawingml/2006/main">
              <a:ext uri="{FF2B5EF4-FFF2-40B4-BE49-F238E27FC236}">
                <a16:creationId xmlns:a16="http://schemas.microsoft.com/office/drawing/2014/main" id="{2CB8B518-98DD-474E-854C-08163835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36D28B61-3179-4CAB-8505-975AB8F7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字：关键技术">
            <a:extLst xmlns:a="http://schemas.openxmlformats.org/drawingml/2006/main">
              <a:ext uri="{FF2B5EF4-FFF2-40B4-BE49-F238E27FC236}">
                <a16:creationId xmlns:a16="http://schemas.microsoft.com/office/drawing/2014/main" id="{8D9EA951-B793-42EB-81C1-0F9C897D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  <a:endParaRPr sz="1500" b="1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BDE69EC9-095C-4EB5-9F19-A4171DB5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105EB845-501D-4570-9B5D-3211D163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286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73F3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文字：实施与验证">
            <a:extLst xmlns:a="http://schemas.openxmlformats.org/drawingml/2006/main">
              <a:ext uri="{FF2B5EF4-FFF2-40B4-BE49-F238E27FC236}">
                <a16:creationId xmlns:a16="http://schemas.microsoft.com/office/drawing/2014/main" id="{791844ED-5DDE-410D-99AC-4BA0C80F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571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实施与验证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B477DD90-D11C-4B32-83C9-8A370000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文字：商业模式">
            <a:extLst xmlns:a="http://schemas.openxmlformats.org/drawingml/2006/main">
              <a:ext uri="{FF2B5EF4-FFF2-40B4-BE49-F238E27FC236}">
                <a16:creationId xmlns:a16="http://schemas.microsoft.com/office/drawing/2014/main" id="{1F717556-DA02-4640-B93A-9244C847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商业模式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63058516-62DC-4AE3-A54F-2AB50046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字：未来展望">
            <a:extLst xmlns:a="http://schemas.openxmlformats.org/drawingml/2006/main">
              <a:ext uri="{FF2B5EF4-FFF2-40B4-BE49-F238E27FC236}">
                <a16:creationId xmlns:a16="http://schemas.microsoft.com/office/drawing/2014/main" id="{00086187-B4C4-4DAD-B6CE-0463298E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7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未来展望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9" name="文字：11">
            <a:extLst xmlns:a="http://schemas.openxmlformats.org/drawingml/2006/main">
              <a:ext uri="{FF2B5EF4-FFF2-40B4-BE49-F238E27FC236}">
                <a16:creationId xmlns:a16="http://schemas.microsoft.com/office/drawing/2014/main" id="{72781E05-3212-4E3D-9288-29AE8EDD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257175"/>
            <a:ext cx="22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950" b="0">
              <a:solidFill>
                <a:srgbClr val="073F32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9858E9E9-945E-4568-B73A-399A62BC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57257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8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03">
            <a:extLst xmlns:a="http://schemas.openxmlformats.org/drawingml/2006/main">
              <a:ext uri="{FF2B5EF4-FFF2-40B4-BE49-F238E27FC236}">
                <a16:creationId xmlns:a16="http://schemas.microsoft.com/office/drawing/2014/main" id="{F9CDAD01-2D3F-4104-A743-6AC9AFDB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266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关键技术">
            <a:extLst xmlns:a="http://schemas.openxmlformats.org/drawingml/2006/main">
              <a:ext uri="{FF2B5EF4-FFF2-40B4-BE49-F238E27FC236}">
                <a16:creationId xmlns:a16="http://schemas.microsoft.com/office/drawing/2014/main" id="{98448DE3-F18B-4465-A167-52B4C483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</a:p>
        </p:txBody>
      </p:sp>
      <p:sp>
        <p:nvSpPr>
          <p:cNvPr id="23" name="凤凰单丛&#10;做青辅助系统">
            <a:extLst xmlns:a="http://schemas.openxmlformats.org/drawingml/2006/main">
              <a:ext uri="{FF2B5EF4-FFF2-40B4-BE49-F238E27FC236}">
                <a16:creationId xmlns:a16="http://schemas.microsoft.com/office/drawing/2014/main" id="{EA7DCB4F-86DD-4A4A-8AF9-5F8B74DA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凤凰单丛</a:t>
            </a:r>
          </a:p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做青辅助系统</a:t>
            </a:r>
          </a:p>
        </p:txBody>
      </p:sp>
      <p:sp>
        <p:nvSpPr>
          <p:cNvPr id="24" name="工程特色与研究目标分别举证">
            <a:extLst xmlns:a="http://schemas.openxmlformats.org/drawingml/2006/main">
              <a:ext uri="{FF2B5EF4-FFF2-40B4-BE49-F238E27FC236}">
                <a16:creationId xmlns:a16="http://schemas.microsoft.com/office/drawing/2014/main" id="{DFB40967-BA07-4979-8ACB-889017B3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143000"/>
            <a:ext cx="1133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工程特色与研究目标分别举证</a:t>
            </a:r>
          </a:p>
        </p:txBody>
      </p:sp>
      <p:graphicFrame>
        <p:nvGraphicFrame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1DAE86-5C71-47D6-8754-50F2294122FF}"/>
              </a:ext>
            </a:extLst>
          </p:cNvPr>
          <p:cNvGraphicFramePr/>
          <p:nvPr/>
        </p:nvGraphicFramePr>
        <p:xfrm>
          <a:off xmlns:a="http://schemas.openxmlformats.org/drawingml/2006/main" x="4048125" y="2619375"/>
          <a:ext xmlns:a="http://schemas.openxmlformats.org/drawingml/2006/main" cx="1114425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714750"/>
                <a:gridCol w="4095750"/>
              </a:tblGrid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145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工程特色</a:t>
                      </a:r>
                    </a:p>
                  </a:txBody>
                  <a:tcPr marL="91440" marR="91440" marT="45720" marB="45720">
                    <a:solidFill>
                      <a:srgbClr val="DDEFE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145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当前依据</a:t>
                      </a:r>
                    </a:p>
                  </a:txBody>
                  <a:tcPr marL="91440" marR="91440" marT="45720" marB="45720">
                    <a:solidFill>
                      <a:srgbClr val="DDEFE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145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进一步证明</a:t>
                      </a:r>
                    </a:p>
                  </a:txBody>
                  <a:tcPr marL="91440" marR="91440" marT="45720" marB="45720">
                    <a:solidFill>
                      <a:srgbClr val="DDEFE4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多参数联合记录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模块处理表与平台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真实完整做青批次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批次可追溯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数据、事件和标签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生产现场可用性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状态辅助判断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研发路线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跨批次模型与消融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工艺决策建议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后续设计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人工确认与品质对照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900612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5b42ba3d3f074a5a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可编辑框架">
            <a:extLst xmlns:a="http://schemas.openxmlformats.org/drawingml/2006/main">
              <a:ext uri="{FF2B5EF4-FFF2-40B4-BE49-F238E27FC236}">
                <a16:creationId xmlns:a16="http://schemas.microsoft.com/office/drawing/2014/main" id="{6D1829B1-0C15-4E10-93F7-3672D38C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925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字：青韵智控">
            <a:extLst xmlns:a="http://schemas.openxmlformats.org/drawingml/2006/main">
              <a:ext uri="{FF2B5EF4-FFF2-40B4-BE49-F238E27FC236}">
                <a16:creationId xmlns:a16="http://schemas.microsoft.com/office/drawing/2014/main" id="{617353A3-F670-4429-B557-4CFB719C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青韵智控</a:t>
            </a:r>
            <a:endParaRPr sz="2400" b="1">
              <a:solidFill>
                <a:srgbClr val="073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48E613C0-4D54-4492-983C-C6B95A97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57175"/>
            <a:ext cx="0" cy="2762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字：让传统制茶更可控">
            <a:extLst xmlns:a="http://schemas.openxmlformats.org/drawingml/2006/main">
              <a:ext uri="{FF2B5EF4-FFF2-40B4-BE49-F238E27FC236}">
                <a16:creationId xmlns:a16="http://schemas.microsoft.com/office/drawing/2014/main" id="{6AAAD3F0-6CC0-41B7-9A74-E0F3E630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记录做青过程</a:t>
            </a:r>
            <a:endParaRPr sz="18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文字：项目背景">
            <a:extLst xmlns:a="http://schemas.openxmlformats.org/drawingml/2006/main">
              <a:ext uri="{FF2B5EF4-FFF2-40B4-BE49-F238E27FC236}">
                <a16:creationId xmlns:a16="http://schemas.microsoft.com/office/drawing/2014/main" id="{D8BC27F2-5081-4F41-966C-6061850C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DDBB7F24-5A8C-4895-A131-C91F818D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字：项目概述">
            <a:extLst xmlns:a="http://schemas.openxmlformats.org/drawingml/2006/main">
              <a:ext uri="{FF2B5EF4-FFF2-40B4-BE49-F238E27FC236}">
                <a16:creationId xmlns:a16="http://schemas.microsoft.com/office/drawing/2014/main" id="{CA5E009C-6796-42C2-AFA4-B0924882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67BCAFD8-0735-41DB-B765-F144D9BE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字：关键技术">
            <a:extLst xmlns:a="http://schemas.openxmlformats.org/drawingml/2006/main">
              <a:ext uri="{FF2B5EF4-FFF2-40B4-BE49-F238E27FC236}">
                <a16:creationId xmlns:a16="http://schemas.microsoft.com/office/drawing/2014/main" id="{87227E6A-B147-4885-9D2D-414D8DF1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B5365BCC-C936-4664-9889-EDE5A335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文字：实施与验证">
            <a:extLst xmlns:a="http://schemas.openxmlformats.org/drawingml/2006/main">
              <a:ext uri="{FF2B5EF4-FFF2-40B4-BE49-F238E27FC236}">
                <a16:creationId xmlns:a16="http://schemas.microsoft.com/office/drawing/2014/main" id="{40858E47-A818-4BC9-91BC-A620BEF0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571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实施与验证</a:t>
            </a:r>
            <a:endParaRPr sz="1500" b="1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5455BD16-41E0-4C4A-B953-7034A9F6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FB9D744E-4497-4753-8473-1E9B4323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6286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73F3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文字：商业模式">
            <a:extLst xmlns:a="http://schemas.openxmlformats.org/drawingml/2006/main">
              <a:ext uri="{FF2B5EF4-FFF2-40B4-BE49-F238E27FC236}">
                <a16:creationId xmlns:a16="http://schemas.microsoft.com/office/drawing/2014/main" id="{C87A4928-69F4-498E-BC6A-8A26DEB9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商业模式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9261994C-ED30-4AB7-9EFF-9B6BE105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字：未来展望">
            <a:extLst xmlns:a="http://schemas.openxmlformats.org/drawingml/2006/main">
              <a:ext uri="{FF2B5EF4-FFF2-40B4-BE49-F238E27FC236}">
                <a16:creationId xmlns:a16="http://schemas.microsoft.com/office/drawing/2014/main" id="{6D535706-E824-4457-A4F8-B1055AA9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7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未来展望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9" name="文字：12">
            <a:extLst xmlns:a="http://schemas.openxmlformats.org/drawingml/2006/main">
              <a:ext uri="{FF2B5EF4-FFF2-40B4-BE49-F238E27FC236}">
                <a16:creationId xmlns:a16="http://schemas.microsoft.com/office/drawing/2014/main" id="{B04FA72B-99F0-426C-8FE8-9F071F06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257175"/>
            <a:ext cx="22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1950" b="0">
              <a:solidFill>
                <a:srgbClr val="073F32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4AE52785-273F-4BBE-9F82-C91DF787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57257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8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04">
            <a:extLst xmlns:a="http://schemas.openxmlformats.org/drawingml/2006/main">
              <a:ext uri="{FF2B5EF4-FFF2-40B4-BE49-F238E27FC236}">
                <a16:creationId xmlns:a16="http://schemas.microsoft.com/office/drawing/2014/main" id="{E00CC04D-AA2C-4508-BAE5-7508337C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266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实施验证">
            <a:extLst xmlns:a="http://schemas.openxmlformats.org/drawingml/2006/main">
              <a:ext uri="{FF2B5EF4-FFF2-40B4-BE49-F238E27FC236}">
                <a16:creationId xmlns:a16="http://schemas.microsoft.com/office/drawing/2014/main" id="{95B61DC5-ACDC-446F-B8BE-CBB7B224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实施验证</a:t>
            </a:r>
          </a:p>
        </p:txBody>
      </p:sp>
      <p:sp>
        <p:nvSpPr>
          <p:cNvPr id="23" name="凤凰单丛&#10;做青辅助系统">
            <a:extLst xmlns:a="http://schemas.openxmlformats.org/drawingml/2006/main">
              <a:ext uri="{FF2B5EF4-FFF2-40B4-BE49-F238E27FC236}">
                <a16:creationId xmlns:a16="http://schemas.microsoft.com/office/drawing/2014/main" id="{A75831EF-15F5-41C6-879D-326A80A7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凤凰单丛</a:t>
            </a:r>
          </a:p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做青辅助系统</a:t>
            </a:r>
          </a:p>
        </p:txBody>
      </p:sp>
      <p:sp>
        <p:nvSpPr>
          <p:cNvPr id="24" name="120分钟静置联合采集保留质量变化">
            <a:extLst xmlns:a="http://schemas.openxmlformats.org/drawingml/2006/main">
              <a:ext uri="{FF2B5EF4-FFF2-40B4-BE49-F238E27FC236}">
                <a16:creationId xmlns:a16="http://schemas.microsoft.com/office/drawing/2014/main" id="{176662A9-60E2-467D-A92B-86D8829E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143000"/>
            <a:ext cx="1133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120分钟静置联合采集保留质量变化</a:t>
            </a:r>
          </a:p>
        </p:txBody>
      </p:sp>
      <p:sp>
        <p:nvSpPr>
          <p:cNvPr id="25" name="来源：《数据结果.xlsx》，联合采集汇总 JOINT01—JOINT">
            <a:extLst xmlns:a="http://schemas.openxmlformats.org/drawingml/2006/main">
              <a:ext uri="{FF2B5EF4-FFF2-40B4-BE49-F238E27FC236}">
                <a16:creationId xmlns:a16="http://schemas.microsoft.com/office/drawing/2014/main" id="{DA4AC940-34E7-4010-A8D9-53ABD4BC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7905750"/>
            <a:ext cx="1143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来源：《数据结果.xlsx》，联合采集汇总 JOINT01—JOINT10</a:t>
            </a:r>
          </a:p>
        </p:txBody>
      </p:sp>
      <p:graphicFrame>
        <p:nvGraphicFramePr>
          <p:cNvPr id="26" name="Chart">
            <a:extLst xmlns:a="http://schemas.openxmlformats.org/drawingml/2006/main">
              <a:ext uri="{FF2B5EF4-FFF2-40B4-BE49-F238E27FC236}">
                <a16:creationId xmlns:a16="http://schemas.microsoft.com/office/drawing/2014/main" id="{EAC74796-36E3-403B-831B-8A965E84E3EE}"/>
              </a:ext>
            </a:extLst>
          </p:cNvPr>
          <p:cNvGraphicFramePr/>
          <p:nvPr/>
        </p:nvGraphicFramePr>
        <p:xfrm>
          <a:off xmlns:a="http://schemas.openxmlformats.org/drawingml/2006/main" x="4048125" y="2762250"/>
          <a:ext xmlns:a="http://schemas.openxmlformats.org/drawingml/2006/main" cx="7762875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ad2481ef4b424c"/>
          </a:graphicData>
        </a:graphic>
      </p:graphicFrame>
      <p:sp>
        <p:nvSpPr>
          <p:cNvPr id="27" name="98.533 g">
            <a:extLst xmlns:a="http://schemas.openxmlformats.org/drawingml/2006/main">
              <a:ext uri="{FF2B5EF4-FFF2-40B4-BE49-F238E27FC236}">
                <a16:creationId xmlns:a16="http://schemas.microsoft.com/office/drawing/2014/main" id="{C30E1FE8-12A0-4675-984B-C91C9362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3476625"/>
            <a:ext cx="3286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8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8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98.533 g</a:t>
            </a:r>
          </a:p>
        </p:txBody>
      </p:sp>
      <p:sp>
        <p:nvSpPr>
          <p:cNvPr id="28" name="起末质量减少">
            <a:extLst xmlns:a="http://schemas.openxmlformats.org/drawingml/2006/main">
              <a:ext uri="{FF2B5EF4-FFF2-40B4-BE49-F238E27FC236}">
                <a16:creationId xmlns:a16="http://schemas.microsoft.com/office/drawing/2014/main" id="{DCA290DA-F192-4F4C-B09A-902AAF11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286250"/>
            <a:ext cx="295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rPr>
              <a:t>起末质量减少</a:t>
            </a:r>
          </a:p>
        </p:txBody>
      </p:sp>
      <p:sp>
        <p:nvSpPr>
          <p:cNvPr id="29" name="99.92%">
            <a:extLst xmlns:a="http://schemas.openxmlformats.org/drawingml/2006/main">
              <a:ext uri="{FF2B5EF4-FFF2-40B4-BE49-F238E27FC236}">
                <a16:creationId xmlns:a16="http://schemas.microsoft.com/office/drawing/2014/main" id="{C314DCA8-6E48-41B3-8BBA-9B45496C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55245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99.92%</a:t>
            </a:r>
          </a:p>
        </p:txBody>
      </p:sp>
      <p:sp>
        <p:nvSpPr>
          <p:cNvPr id="30" name="7194 / 7200 条">
            <a:extLst xmlns:a="http://schemas.openxmlformats.org/drawingml/2006/main">
              <a:ext uri="{FF2B5EF4-FFF2-40B4-BE49-F238E27FC236}">
                <a16:creationId xmlns:a16="http://schemas.microsoft.com/office/drawing/2014/main" id="{D10170CA-B6F1-437F-A5CE-5D3544DB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381750"/>
            <a:ext cx="309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rPr>
              <a:t>7194 / 7200 条</a:t>
            </a:r>
          </a:p>
        </p:txBody>
      </p:sp>
    </p:spTree>
    <p:extLst>
      <p:ext uri="{BB962C8B-B14F-4D97-AF65-F5344CB8AC3E}">
        <p14:creationId xmlns:p14="http://schemas.microsoft.com/office/powerpoint/2010/main" val="45725121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1239fbc93c9e4dee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可编辑框架">
            <a:extLst xmlns:a="http://schemas.openxmlformats.org/drawingml/2006/main">
              <a:ext uri="{FF2B5EF4-FFF2-40B4-BE49-F238E27FC236}">
                <a16:creationId xmlns:a16="http://schemas.microsoft.com/office/drawing/2014/main" id="{7CB38C34-B47A-4709-9A9E-38592AF0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925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字：青韵智控">
            <a:extLst xmlns:a="http://schemas.openxmlformats.org/drawingml/2006/main">
              <a:ext uri="{FF2B5EF4-FFF2-40B4-BE49-F238E27FC236}">
                <a16:creationId xmlns:a16="http://schemas.microsoft.com/office/drawing/2014/main" id="{7ED39804-B46A-40D9-84DE-85F3DC12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青韵智控</a:t>
            </a:r>
            <a:endParaRPr sz="2400" b="1">
              <a:solidFill>
                <a:srgbClr val="073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6C0B3BC1-399F-45D3-AF63-FC87CCA2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57175"/>
            <a:ext cx="0" cy="2762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字：让传统制茶更可控">
            <a:extLst xmlns:a="http://schemas.openxmlformats.org/drawingml/2006/main">
              <a:ext uri="{FF2B5EF4-FFF2-40B4-BE49-F238E27FC236}">
                <a16:creationId xmlns:a16="http://schemas.microsoft.com/office/drawing/2014/main" id="{2058B469-F163-456F-BCD2-0FF5538A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记录做青过程</a:t>
            </a:r>
            <a:endParaRPr sz="18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文字：项目背景">
            <a:extLst xmlns:a="http://schemas.openxmlformats.org/drawingml/2006/main">
              <a:ext uri="{FF2B5EF4-FFF2-40B4-BE49-F238E27FC236}">
                <a16:creationId xmlns:a16="http://schemas.microsoft.com/office/drawing/2014/main" id="{8251B28F-1CB8-454D-89DB-EAF8831E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5200EE71-6017-483B-ACDF-5BF9D1E1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字：项目概述">
            <a:extLst xmlns:a="http://schemas.openxmlformats.org/drawingml/2006/main">
              <a:ext uri="{FF2B5EF4-FFF2-40B4-BE49-F238E27FC236}">
                <a16:creationId xmlns:a16="http://schemas.microsoft.com/office/drawing/2014/main" id="{DB2BD2ED-D97C-4610-B32C-365A88C4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6515E647-82BC-4F5B-86FE-F4B2399B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字：关键技术">
            <a:extLst xmlns:a="http://schemas.openxmlformats.org/drawingml/2006/main">
              <a:ext uri="{FF2B5EF4-FFF2-40B4-BE49-F238E27FC236}">
                <a16:creationId xmlns:a16="http://schemas.microsoft.com/office/drawing/2014/main" id="{F8A8F532-6AED-4BD1-9A36-CDA3A4F9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E1A7309E-67A1-42CD-820C-FE018A40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文字：实施与验证">
            <a:extLst xmlns:a="http://schemas.openxmlformats.org/drawingml/2006/main">
              <a:ext uri="{FF2B5EF4-FFF2-40B4-BE49-F238E27FC236}">
                <a16:creationId xmlns:a16="http://schemas.microsoft.com/office/drawing/2014/main" id="{7731EC20-2A9D-4BEC-9E6C-32F33AF8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571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实施与验证</a:t>
            </a:r>
            <a:endParaRPr sz="1500" b="1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88BACBC6-15F4-4D5C-A51C-D3318818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D651B97E-03E6-4B94-81E4-A3E2E11E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6286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73F3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文字：商业模式">
            <a:extLst xmlns:a="http://schemas.openxmlformats.org/drawingml/2006/main">
              <a:ext uri="{FF2B5EF4-FFF2-40B4-BE49-F238E27FC236}">
                <a16:creationId xmlns:a16="http://schemas.microsoft.com/office/drawing/2014/main" id="{09E65AEA-63DC-4ED6-BB2A-E9A4B859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商业模式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435A7DE2-8880-4B36-B8E1-BEADCC47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字：未来展望">
            <a:extLst xmlns:a="http://schemas.openxmlformats.org/drawingml/2006/main">
              <a:ext uri="{FF2B5EF4-FFF2-40B4-BE49-F238E27FC236}">
                <a16:creationId xmlns:a16="http://schemas.microsoft.com/office/drawing/2014/main" id="{656F4B46-8160-4904-AD11-0EC2239B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7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未来展望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9" name="文字：13">
            <a:extLst xmlns:a="http://schemas.openxmlformats.org/drawingml/2006/main">
              <a:ext uri="{FF2B5EF4-FFF2-40B4-BE49-F238E27FC236}">
                <a16:creationId xmlns:a16="http://schemas.microsoft.com/office/drawing/2014/main" id="{2EA10CF4-5EAA-4499-BDDF-CB01E469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257175"/>
            <a:ext cx="22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13</a:t>
            </a:r>
            <a:endParaRPr sz="1950" b="0">
              <a:solidFill>
                <a:srgbClr val="073F32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3B50141A-A9A8-4065-A0B7-B07FE5B7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57257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8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04">
            <a:extLst xmlns:a="http://schemas.openxmlformats.org/drawingml/2006/main">
              <a:ext uri="{FF2B5EF4-FFF2-40B4-BE49-F238E27FC236}">
                <a16:creationId xmlns:a16="http://schemas.microsoft.com/office/drawing/2014/main" id="{E99A2572-05E7-4972-AAA7-54D27E76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266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实施验证">
            <a:extLst xmlns:a="http://schemas.openxmlformats.org/drawingml/2006/main">
              <a:ext uri="{FF2B5EF4-FFF2-40B4-BE49-F238E27FC236}">
                <a16:creationId xmlns:a16="http://schemas.microsoft.com/office/drawing/2014/main" id="{139E77EF-E96B-4182-A890-27E66B09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实施验证</a:t>
            </a:r>
          </a:p>
        </p:txBody>
      </p:sp>
      <p:sp>
        <p:nvSpPr>
          <p:cNvPr id="23" name="凤凰单丛&#10;做青辅助系统">
            <a:extLst xmlns:a="http://schemas.openxmlformats.org/drawingml/2006/main">
              <a:ext uri="{FF2B5EF4-FFF2-40B4-BE49-F238E27FC236}">
                <a16:creationId xmlns:a16="http://schemas.microsoft.com/office/drawing/2014/main" id="{EF8A37F7-EB5D-4F9A-8A05-868DB708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凤凰单丛</a:t>
            </a:r>
          </a:p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做青辅助系统</a:t>
            </a:r>
          </a:p>
        </p:txBody>
      </p:sp>
      <p:sp>
        <p:nvSpPr>
          <p:cNvPr id="24" name="工艺有效性将用独立批次对照验证">
            <a:extLst xmlns:a="http://schemas.openxmlformats.org/drawingml/2006/main">
              <a:ext uri="{FF2B5EF4-FFF2-40B4-BE49-F238E27FC236}">
                <a16:creationId xmlns:a16="http://schemas.microsoft.com/office/drawing/2014/main" id="{8A328958-F0E6-4D20-BBBF-C1EE5CA7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143000"/>
            <a:ext cx="1133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工艺有效性将用独立批次对照验证</a:t>
            </a:r>
          </a:p>
        </p:txBody>
      </p:sp>
      <p:graphicFrame>
        <p:nvGraphicFrame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14DF42-BACC-42B6-BC90-C341F2B16141}"/>
              </a:ext>
            </a:extLst>
          </p:cNvPr>
          <p:cNvGraphicFramePr/>
          <p:nvPr/>
        </p:nvGraphicFramePr>
        <p:xfrm>
          <a:off xmlns:a="http://schemas.openxmlformats.org/drawingml/2006/main" x="4048125" y="2857500"/>
          <a:ext xmlns:a="http://schemas.openxmlformats.org/drawingml/2006/main" cx="1114425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714750"/>
                <a:gridCol w="3714750"/>
              </a:tblGrid>
              <a:tr h="904875"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145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传统做青</a:t>
                      </a:r>
                    </a:p>
                  </a:txBody>
                  <a:tcPr marL="91440" marR="91440" marT="45720" marB="45720">
                    <a:solidFill>
                      <a:srgbClr val="DDEFE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145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固定程序</a:t>
                      </a:r>
                    </a:p>
                  </a:txBody>
                  <a:tcPr marL="91440" marR="91440" marT="45720" marB="45720">
                    <a:solidFill>
                      <a:srgbClr val="DDEFE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145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辅助决策</a:t>
                      </a:r>
                    </a:p>
                  </a:txBody>
                  <a:tcPr marL="91440" marR="91440" marT="45720" marB="45720">
                    <a:solidFill>
                      <a:srgbClr val="DDEFE4"/>
                    </a:solidFill>
                  </a:tcPr>
                </a:tc>
              </a:tr>
              <a:tr h="90487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师傅经验判断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按预设参数执行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建议经人工确认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</a:tr>
            </a:tbl>
          </a:graphicData>
        </a:graphic>
      </p:graphicFrame>
      <p:sp>
        <p:nvSpPr>
          <p:cNvPr id="26" name="统一原料与后处理，随机分组">
            <a:extLst xmlns:a="http://schemas.openxmlformats.org/drawingml/2006/main">
              <a:ext uri="{FF2B5EF4-FFF2-40B4-BE49-F238E27FC236}">
                <a16:creationId xmlns:a16="http://schemas.microsoft.com/office/drawing/2014/main" id="{9AED13D5-F970-44ED-A4A7-01C119B2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统一原料与后处理，随机分组</a:t>
            </a:r>
          </a:p>
        </p:txBody>
      </p:sp>
      <p:sp>
        <p:nvSpPr>
          <p:cNvPr id="27" name="比较过程记录、感官审评与批次稳定性">
            <a:extLst xmlns:a="http://schemas.openxmlformats.org/drawingml/2006/main">
              <a:ext uri="{FF2B5EF4-FFF2-40B4-BE49-F238E27FC236}">
                <a16:creationId xmlns:a16="http://schemas.microsoft.com/office/drawing/2014/main" id="{880EE5DC-17B2-4E7B-A73A-2E4F72F3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2388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rPr>
              <a:t>比较过程记录、感官审评与批次稳定性</a:t>
            </a:r>
          </a:p>
        </p:txBody>
      </p:sp>
      <p:sp>
        <p:nvSpPr>
          <p:cNvPr id="28" name="试验设计，尚无品质提升结论">
            <a:extLst xmlns:a="http://schemas.openxmlformats.org/drawingml/2006/main">
              <a:ext uri="{FF2B5EF4-FFF2-40B4-BE49-F238E27FC236}">
                <a16:creationId xmlns:a16="http://schemas.microsoft.com/office/drawing/2014/main" id="{766257ED-3383-4BFF-95E9-8662A3EF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286625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试验设计，尚无品质提升结论</a:t>
            </a:r>
          </a:p>
        </p:txBody>
      </p:sp>
    </p:spTree>
    <p:extLst>
      <p:ext uri="{BB962C8B-B14F-4D97-AF65-F5344CB8AC3E}">
        <p14:creationId xmlns:p14="http://schemas.microsoft.com/office/powerpoint/2010/main" val="73264663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66b518f456c74ffe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可编辑框架">
            <a:extLst xmlns:a="http://schemas.openxmlformats.org/drawingml/2006/main">
              <a:ext uri="{FF2B5EF4-FFF2-40B4-BE49-F238E27FC236}">
                <a16:creationId xmlns:a16="http://schemas.microsoft.com/office/drawing/2014/main" id="{AA617C05-B3F9-410F-B791-084167EA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925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字：青韵智控">
            <a:extLst xmlns:a="http://schemas.openxmlformats.org/drawingml/2006/main">
              <a:ext uri="{FF2B5EF4-FFF2-40B4-BE49-F238E27FC236}">
                <a16:creationId xmlns:a16="http://schemas.microsoft.com/office/drawing/2014/main" id="{B87F1B5B-2BEF-4F90-973E-9AB20ED6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青韵智控</a:t>
            </a:r>
            <a:endParaRPr sz="2400" b="1">
              <a:solidFill>
                <a:srgbClr val="073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2A2869A0-787F-46CA-B1FE-3775AAA8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57175"/>
            <a:ext cx="0" cy="2762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字：让传统制茶更可控">
            <a:extLst xmlns:a="http://schemas.openxmlformats.org/drawingml/2006/main">
              <a:ext uri="{FF2B5EF4-FFF2-40B4-BE49-F238E27FC236}">
                <a16:creationId xmlns:a16="http://schemas.microsoft.com/office/drawing/2014/main" id="{AE50D628-6619-4F34-9782-7BF28329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记录做青过程</a:t>
            </a:r>
            <a:endParaRPr sz="18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文字：项目背景">
            <a:extLst xmlns:a="http://schemas.openxmlformats.org/drawingml/2006/main">
              <a:ext uri="{FF2B5EF4-FFF2-40B4-BE49-F238E27FC236}">
                <a16:creationId xmlns:a16="http://schemas.microsoft.com/office/drawing/2014/main" id="{B5EB7EFF-8459-4576-9657-3CEB06B7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2B2A6C0E-B2C8-4014-9086-2B7F25C4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字：项目概述">
            <a:extLst xmlns:a="http://schemas.openxmlformats.org/drawingml/2006/main">
              <a:ext uri="{FF2B5EF4-FFF2-40B4-BE49-F238E27FC236}">
                <a16:creationId xmlns:a16="http://schemas.microsoft.com/office/drawing/2014/main" id="{298A3FFF-0FCD-41B2-A39F-6DE52F9D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5EDB82C6-A99A-4E0C-A487-DC69D131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字：关键技术">
            <a:extLst xmlns:a="http://schemas.openxmlformats.org/drawingml/2006/main">
              <a:ext uri="{FF2B5EF4-FFF2-40B4-BE49-F238E27FC236}">
                <a16:creationId xmlns:a16="http://schemas.microsoft.com/office/drawing/2014/main" id="{80A80E2E-D424-4FDF-B6F3-EFDF64C2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E32D3AEE-3C45-4BAE-ADF5-7C4B5E94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文字：实施与验证">
            <a:extLst xmlns:a="http://schemas.openxmlformats.org/drawingml/2006/main">
              <a:ext uri="{FF2B5EF4-FFF2-40B4-BE49-F238E27FC236}">
                <a16:creationId xmlns:a16="http://schemas.microsoft.com/office/drawing/2014/main" id="{4B089186-2EC2-4101-BB46-82006D1A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571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实施与验证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5CEDF83E-04A8-43D0-9382-0F691632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文字：商业模式">
            <a:extLst xmlns:a="http://schemas.openxmlformats.org/drawingml/2006/main">
              <a:ext uri="{FF2B5EF4-FFF2-40B4-BE49-F238E27FC236}">
                <a16:creationId xmlns:a16="http://schemas.microsoft.com/office/drawing/2014/main" id="{7669EF8B-44CE-4F75-9C1E-A14A1DA7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商业模式</a:t>
            </a:r>
            <a:endParaRPr sz="1500" b="1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A0447310-D245-4BEB-8177-FF66B5E3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9B45CAD7-6E21-4574-873C-05DE875E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6286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73F3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字：未来展望">
            <a:extLst xmlns:a="http://schemas.openxmlformats.org/drawingml/2006/main">
              <a:ext uri="{FF2B5EF4-FFF2-40B4-BE49-F238E27FC236}">
                <a16:creationId xmlns:a16="http://schemas.microsoft.com/office/drawing/2014/main" id="{1C4783A9-C6C3-4E60-B8E5-4967BF66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7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未来展望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9" name="文字：14">
            <a:extLst xmlns:a="http://schemas.openxmlformats.org/drawingml/2006/main">
              <a:ext uri="{FF2B5EF4-FFF2-40B4-BE49-F238E27FC236}">
                <a16:creationId xmlns:a16="http://schemas.microsoft.com/office/drawing/2014/main" id="{C430DA69-5471-4B16-ABF1-94877450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257175"/>
            <a:ext cx="22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1950" b="0">
              <a:solidFill>
                <a:srgbClr val="073F32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DBBB9FAA-683F-4480-99AE-29BE7CEE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57257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8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05">
            <a:extLst xmlns:a="http://schemas.openxmlformats.org/drawingml/2006/main">
              <a:ext uri="{FF2B5EF4-FFF2-40B4-BE49-F238E27FC236}">
                <a16:creationId xmlns:a16="http://schemas.microsoft.com/office/drawing/2014/main" id="{013223C7-3D5C-4A80-B0F9-20158789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266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应用转化">
            <a:extLst xmlns:a="http://schemas.openxmlformats.org/drawingml/2006/main">
              <a:ext uri="{FF2B5EF4-FFF2-40B4-BE49-F238E27FC236}">
                <a16:creationId xmlns:a16="http://schemas.microsoft.com/office/drawing/2014/main" id="{D806CED0-FA5D-427C-88FB-75313745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应用转化</a:t>
            </a:r>
          </a:p>
        </p:txBody>
      </p:sp>
      <p:sp>
        <p:nvSpPr>
          <p:cNvPr id="23" name="凤凰单丛&#10;做青辅助系统">
            <a:extLst xmlns:a="http://schemas.openxmlformats.org/drawingml/2006/main">
              <a:ext uri="{FF2B5EF4-FFF2-40B4-BE49-F238E27FC236}">
                <a16:creationId xmlns:a16="http://schemas.microsoft.com/office/drawing/2014/main" id="{8BAE7B1C-FB76-405B-9399-E1E039FC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凤凰单丛</a:t>
            </a:r>
          </a:p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做青辅助系统</a:t>
            </a:r>
          </a:p>
        </p:txBody>
      </p:sp>
      <p:sp>
        <p:nvSpPr>
          <p:cNvPr id="24" name="过程复盘服务于茶企与工艺教学">
            <a:extLst xmlns:a="http://schemas.openxmlformats.org/drawingml/2006/main">
              <a:ext uri="{FF2B5EF4-FFF2-40B4-BE49-F238E27FC236}">
                <a16:creationId xmlns:a16="http://schemas.microsoft.com/office/drawing/2014/main" id="{4DB2E211-60F7-41BC-A814-A5FBB8E5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143000"/>
            <a:ext cx="1133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过程复盘服务于茶企与工艺教学</a:t>
            </a:r>
          </a:p>
        </p:txBody>
      </p:sp>
      <p:sp>
        <p:nvSpPr>
          <p:cNvPr id="25" name="01">
            <a:extLst xmlns:a="http://schemas.openxmlformats.org/drawingml/2006/main">
              <a:ext uri="{FF2B5EF4-FFF2-40B4-BE49-F238E27FC236}">
                <a16:creationId xmlns:a16="http://schemas.microsoft.com/office/drawing/2014/main" id="{DC4D8858-1B5D-4C52-8C58-E574D411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62250"/>
            <a:ext cx="90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6" name="茶企过程记录">
            <a:extLst xmlns:a="http://schemas.openxmlformats.org/drawingml/2006/main">
              <a:ext uri="{FF2B5EF4-FFF2-40B4-BE49-F238E27FC236}">
                <a16:creationId xmlns:a16="http://schemas.microsoft.com/office/drawing/2014/main" id="{0B3447A9-1954-4EED-A780-D41EC48F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622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茶企过程记录</a:t>
            </a:r>
          </a:p>
        </p:txBody>
      </p:sp>
      <p:sp>
        <p:nvSpPr>
          <p:cNvPr id="27" name="保存原料、测点、工艺节点与批次变化">
            <a:extLst xmlns:a="http://schemas.openxmlformats.org/drawingml/2006/main">
              <a:ext uri="{FF2B5EF4-FFF2-40B4-BE49-F238E27FC236}">
                <a16:creationId xmlns:a16="http://schemas.microsoft.com/office/drawing/2014/main" id="{9571462E-55C4-43EC-BED7-1762199C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528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rPr>
              <a:t>保存原料、测点、工艺节点与批次变化</a:t>
            </a:r>
          </a:p>
        </p:txBody>
      </p:sp>
      <p:sp>
        <p:nvSpPr>
          <p:cNvPr id="28" name="02">
            <a:extLst xmlns:a="http://schemas.openxmlformats.org/drawingml/2006/main">
              <a:ext uri="{FF2B5EF4-FFF2-40B4-BE49-F238E27FC236}">
                <a16:creationId xmlns:a16="http://schemas.microsoft.com/office/drawing/2014/main" id="{4C0AD578-67B4-4C0D-B860-DB9FC75B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238625"/>
            <a:ext cx="90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9" name="经验整理与教学">
            <a:extLst xmlns:a="http://schemas.openxmlformats.org/drawingml/2006/main">
              <a:ext uri="{FF2B5EF4-FFF2-40B4-BE49-F238E27FC236}">
                <a16:creationId xmlns:a16="http://schemas.microsoft.com/office/drawing/2014/main" id="{8396BA4B-218D-4F68-9CC7-3D0B63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386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经验整理与教学</a:t>
            </a:r>
          </a:p>
        </p:txBody>
      </p:sp>
      <p:sp>
        <p:nvSpPr>
          <p:cNvPr id="30" name="结合师傅标签回看关键工艺节点">
            <a:extLst xmlns:a="http://schemas.openxmlformats.org/drawingml/2006/main">
              <a:ext uri="{FF2B5EF4-FFF2-40B4-BE49-F238E27FC236}">
                <a16:creationId xmlns:a16="http://schemas.microsoft.com/office/drawing/2014/main" id="{95BBDC41-4590-4E33-A2F5-2AC1EAC0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291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rPr>
              <a:t>结合师傅标签回看关键工艺节点</a:t>
            </a:r>
          </a:p>
        </p:txBody>
      </p:sp>
      <p:sp>
        <p:nvSpPr>
          <p:cNvPr id="31" name="03">
            <a:extLst xmlns:a="http://schemas.openxmlformats.org/drawingml/2006/main">
              <a:ext uri="{FF2B5EF4-FFF2-40B4-BE49-F238E27FC236}">
                <a16:creationId xmlns:a16="http://schemas.microsoft.com/office/drawing/2014/main" id="{634AB2C3-532C-44A5-BBD7-71F1BECA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715000"/>
            <a:ext cx="90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2" name="工艺研究">
            <a:extLst xmlns:a="http://schemas.openxmlformats.org/drawingml/2006/main">
              <a:ext uri="{FF2B5EF4-FFF2-40B4-BE49-F238E27FC236}">
                <a16:creationId xmlns:a16="http://schemas.microsoft.com/office/drawing/2014/main" id="{3442732B-8946-4161-B43E-52DB9A44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7150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工艺研究</a:t>
            </a:r>
          </a:p>
        </p:txBody>
      </p:sp>
      <p:sp>
        <p:nvSpPr>
          <p:cNvPr id="33" name="为跨批次比较与后续模型提供数据">
            <a:extLst xmlns:a="http://schemas.openxmlformats.org/drawingml/2006/main">
              <a:ext uri="{FF2B5EF4-FFF2-40B4-BE49-F238E27FC236}">
                <a16:creationId xmlns:a16="http://schemas.microsoft.com/office/drawing/2014/main" id="{DE81AAB0-8732-4E83-98E0-F45E0EDB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3055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F3A35"/>
                </a:solidFill>
                <a:latin typeface="Microsoft YaHei"/>
                <a:ea typeface="Microsoft YaHei"/>
                <a:cs typeface="Microsoft YaHei"/>
              </a:rPr>
              <a:t>为跨批次比较与后续模型提供数据</a:t>
            </a:r>
          </a:p>
        </p:txBody>
      </p:sp>
    </p:spTree>
    <p:extLst>
      <p:ext uri="{BB962C8B-B14F-4D97-AF65-F5344CB8AC3E}">
        <p14:creationId xmlns:p14="http://schemas.microsoft.com/office/powerpoint/2010/main" val="64943115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306dbd339a37482d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可编辑框架">
            <a:extLst xmlns:a="http://schemas.openxmlformats.org/drawingml/2006/main">
              <a:ext uri="{FF2B5EF4-FFF2-40B4-BE49-F238E27FC236}">
                <a16:creationId xmlns:a16="http://schemas.microsoft.com/office/drawing/2014/main" id="{812563BF-C63B-4B64-9AEA-0811C8CC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925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字：青韵智控">
            <a:extLst xmlns:a="http://schemas.openxmlformats.org/drawingml/2006/main">
              <a:ext uri="{FF2B5EF4-FFF2-40B4-BE49-F238E27FC236}">
                <a16:creationId xmlns:a16="http://schemas.microsoft.com/office/drawing/2014/main" id="{317C186D-B98C-4C65-A8B2-E9E329FE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青韵智控</a:t>
            </a:r>
            <a:endParaRPr sz="2400" b="1">
              <a:solidFill>
                <a:srgbClr val="073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E13903C9-0DD4-4144-8970-08707EC9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57175"/>
            <a:ext cx="0" cy="2762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字：让传统制茶更可控">
            <a:extLst xmlns:a="http://schemas.openxmlformats.org/drawingml/2006/main">
              <a:ext uri="{FF2B5EF4-FFF2-40B4-BE49-F238E27FC236}">
                <a16:creationId xmlns:a16="http://schemas.microsoft.com/office/drawing/2014/main" id="{9C55E626-C7DF-4960-A3FD-9ABD29F1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记录做青过程</a:t>
            </a:r>
            <a:endParaRPr sz="18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文字：项目背景">
            <a:extLst xmlns:a="http://schemas.openxmlformats.org/drawingml/2006/main">
              <a:ext uri="{FF2B5EF4-FFF2-40B4-BE49-F238E27FC236}">
                <a16:creationId xmlns:a16="http://schemas.microsoft.com/office/drawing/2014/main" id="{EF554360-DB0B-40FC-9605-C818EFF4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0DF39A49-380D-4B52-87E4-509F93B4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字：项目概述">
            <a:extLst xmlns:a="http://schemas.openxmlformats.org/drawingml/2006/main">
              <a:ext uri="{FF2B5EF4-FFF2-40B4-BE49-F238E27FC236}">
                <a16:creationId xmlns:a16="http://schemas.microsoft.com/office/drawing/2014/main" id="{F0B53E99-E15D-4369-BF0C-EC921422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74BB72DB-8C23-4623-8A5D-9F678AF3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字：关键技术">
            <a:extLst xmlns:a="http://schemas.openxmlformats.org/drawingml/2006/main">
              <a:ext uri="{FF2B5EF4-FFF2-40B4-BE49-F238E27FC236}">
                <a16:creationId xmlns:a16="http://schemas.microsoft.com/office/drawing/2014/main" id="{AC76B2F4-E793-43D4-9313-3AED77BD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0242C973-1EC0-426C-AC02-7946B0D7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文字：实施与验证">
            <a:extLst xmlns:a="http://schemas.openxmlformats.org/drawingml/2006/main">
              <a:ext uri="{FF2B5EF4-FFF2-40B4-BE49-F238E27FC236}">
                <a16:creationId xmlns:a16="http://schemas.microsoft.com/office/drawing/2014/main" id="{258ECD4F-288A-468B-B164-71322A23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571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实施与验证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4E73DBB7-4B68-45E7-B3C4-41BF3FCD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文字：商业模式">
            <a:extLst xmlns:a="http://schemas.openxmlformats.org/drawingml/2006/main">
              <a:ext uri="{FF2B5EF4-FFF2-40B4-BE49-F238E27FC236}">
                <a16:creationId xmlns:a16="http://schemas.microsoft.com/office/drawing/2014/main" id="{0284B438-8590-4D95-B281-DE727A3A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商业模式</a:t>
            </a:r>
            <a:endParaRPr sz="1500" b="1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81797668-1517-4A9F-AE1F-6A783232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09FFA009-0D4B-4F93-8A24-5EED1CEC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6286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73F3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文字：未来展望">
            <a:extLst xmlns:a="http://schemas.openxmlformats.org/drawingml/2006/main">
              <a:ext uri="{FF2B5EF4-FFF2-40B4-BE49-F238E27FC236}">
                <a16:creationId xmlns:a16="http://schemas.microsoft.com/office/drawing/2014/main" id="{BD2140DC-E92C-4484-8878-5CFDBEB0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7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未来展望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9" name="文字：15">
            <a:extLst xmlns:a="http://schemas.openxmlformats.org/drawingml/2006/main">
              <a:ext uri="{FF2B5EF4-FFF2-40B4-BE49-F238E27FC236}">
                <a16:creationId xmlns:a16="http://schemas.microsoft.com/office/drawing/2014/main" id="{F5EA654A-3C55-4D7D-9044-DEAE8FCD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257175"/>
            <a:ext cx="22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1950" b="0">
              <a:solidFill>
                <a:srgbClr val="073F32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15512A33-6C6F-4E4E-8F2F-49437422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57257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8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05">
            <a:extLst xmlns:a="http://schemas.openxmlformats.org/drawingml/2006/main">
              <a:ext uri="{FF2B5EF4-FFF2-40B4-BE49-F238E27FC236}">
                <a16:creationId xmlns:a16="http://schemas.microsoft.com/office/drawing/2014/main" id="{21BB057F-1533-4B1E-A938-436D0F3B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266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应用转化">
            <a:extLst xmlns:a="http://schemas.openxmlformats.org/drawingml/2006/main">
              <a:ext uri="{FF2B5EF4-FFF2-40B4-BE49-F238E27FC236}">
                <a16:creationId xmlns:a16="http://schemas.microsoft.com/office/drawing/2014/main" id="{0B177704-56B6-459C-B63C-9619298B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应用转化</a:t>
            </a:r>
          </a:p>
        </p:txBody>
      </p:sp>
      <p:sp>
        <p:nvSpPr>
          <p:cNvPr id="23" name="凤凰单丛&#10;做青辅助系统">
            <a:extLst xmlns:a="http://schemas.openxmlformats.org/drawingml/2006/main">
              <a:ext uri="{FF2B5EF4-FFF2-40B4-BE49-F238E27FC236}">
                <a16:creationId xmlns:a16="http://schemas.microsoft.com/office/drawing/2014/main" id="{8CC7B0EB-9E33-44A6-A948-FB3EF638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凤凰单丛</a:t>
            </a:r>
          </a:p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做青辅助系统</a:t>
            </a:r>
          </a:p>
        </p:txBody>
      </p:sp>
      <p:sp>
        <p:nvSpPr>
          <p:cNvPr id="24" name="先验证感知辅助产品的付费需求">
            <a:extLst xmlns:a="http://schemas.openxmlformats.org/drawingml/2006/main">
              <a:ext uri="{FF2B5EF4-FFF2-40B4-BE49-F238E27FC236}">
                <a16:creationId xmlns:a16="http://schemas.microsoft.com/office/drawing/2014/main" id="{B43068A4-48DB-4251-B839-F2B26B6C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143000"/>
            <a:ext cx="1133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先验证感知辅助产品的付费需求</a:t>
            </a:r>
          </a:p>
        </p:txBody>
      </p:sp>
      <p:graphicFrame>
        <p:nvGraphicFrame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175084-0292-4611-A356-C165CD4CAF15}"/>
              </a:ext>
            </a:extLst>
          </p:cNvPr>
          <p:cNvGraphicFramePr/>
          <p:nvPr/>
        </p:nvGraphicFramePr>
        <p:xfrm>
          <a:off xmlns:a="http://schemas.openxmlformats.org/drawingml/2006/main" x="4048125" y="2619375"/>
          <a:ext xmlns:a="http://schemas.openxmlformats.org/drawingml/2006/main" cx="111442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6750"/>
                <a:gridCol w="6667500"/>
              </a:tblGrid>
              <a:tr h="904875"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145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收入假设</a:t>
                      </a:r>
                    </a:p>
                  </a:txBody>
                  <a:tcPr marL="91440" marR="91440" marT="45720" marB="45720">
                    <a:solidFill>
                      <a:srgbClr val="DDEFE4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025" b="1">
                          <a:solidFill>
                            <a:srgbClr val="145A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成本构成</a:t>
                      </a:r>
                    </a:p>
                  </a:txBody>
                  <a:tcPr marL="91440" marR="91440" marT="45720" marB="45720">
                    <a:solidFill>
                      <a:srgbClr val="DDEFE4"/>
                    </a:solidFill>
                  </a:tcPr>
                </a:tc>
              </a:tr>
              <a:tr h="90487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设备销售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传感器、采集板、外壳与装配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</a:tr>
              <a:tr h="90487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部署与技术服务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安装、校准、培训与售后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</a:tr>
              <a:tr h="904875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软件服务（后续）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2F3A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维护、迭代与数据服务</a:t>
                      </a:r>
                    </a:p>
                  </a:txBody>
                  <a:tcPr marL="91440" marR="91440" marT="45720" marB="45720">
                    <a:solidFill>
                      <a:srgbClr val="F7FBF8"/>
                    </a:solidFill>
                  </a:tcPr>
                </a:tc>
              </a:tr>
            </a:tbl>
          </a:graphicData>
        </a:graphic>
      </p:graphicFrame>
      <p:sp>
        <p:nvSpPr>
          <p:cNvPr id="26" name="单位毛利＝售价－物料－装配－交付成本">
            <a:extLst xmlns:a="http://schemas.openxmlformats.org/drawingml/2006/main">
              <a:ext uri="{FF2B5EF4-FFF2-40B4-BE49-F238E27FC236}">
                <a16:creationId xmlns:a16="http://schemas.microsoft.com/office/drawing/2014/main" id="{69E71484-3EB0-4C70-A53B-51ED0C4E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7151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单位毛利＝售价－物料－装配－交付成本</a:t>
            </a:r>
          </a:p>
        </p:txBody>
      </p:sp>
      <p:sp>
        <p:nvSpPr>
          <p:cNvPr id="27" name="访谈、采购BOM与付费试点决定财务预测">
            <a:extLst xmlns:a="http://schemas.openxmlformats.org/drawingml/2006/main">
              <a:ext uri="{FF2B5EF4-FFF2-40B4-BE49-F238E27FC236}">
                <a16:creationId xmlns:a16="http://schemas.microsoft.com/office/drawing/2014/main" id="{EAE0119E-52DB-49F3-A9CC-E5DA14D9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4771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访谈、采购BOM与付费试点决定财务预测</a:t>
            </a:r>
          </a:p>
        </p:txBody>
      </p:sp>
    </p:spTree>
    <p:extLst>
      <p:ext uri="{BB962C8B-B14F-4D97-AF65-F5344CB8AC3E}">
        <p14:creationId xmlns:p14="http://schemas.microsoft.com/office/powerpoint/2010/main" val="966790966"/>
      </p:ext>
    </p:extLst>
  </p:cSld>
</p:sld>
</file>

<file path=ppt/slides/slide1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e87e15344c5a4e41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75AD7E-B99D-41C7-8D91-E018A84922FD}"/>
              </a:ext>
            </a:extLst>
          </p:cNvPr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1987213" y="40481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5A32"/>
            </a:solidFill>
            <a:tailEnd type="arrow" w="med" len="me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17A306-828A-41EE-BA90-666A0C5AD87F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220201" y="4048125"/>
            <a:ext cx="3619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5A32"/>
            </a:solidFill>
            <a:tailEnd type="arrow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BFC283-7BB4-428C-8F8F-B7E21FEF291B}"/>
              </a:ext>
            </a:extLst>
          </p:cNvPr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453188" y="40481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45A32"/>
            </a:solidFill>
            <a:tailEnd type="arrow" w="med" len="med"/>
          </a:ln>
        </p:spPr>
      </p:cxnSp>
      <p:sp>
        <p:nvSpPr>
          <p:cNvPr id="3" name="可编辑框架">
            <a:extLst xmlns:a="http://schemas.openxmlformats.org/drawingml/2006/main">
              <a:ext uri="{FF2B5EF4-FFF2-40B4-BE49-F238E27FC236}">
                <a16:creationId xmlns:a16="http://schemas.microsoft.com/office/drawing/2014/main" id="{1993F3A3-1128-4B17-A5DD-E77F7CC3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925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字：青韵智控">
            <a:extLst xmlns:a="http://schemas.openxmlformats.org/drawingml/2006/main">
              <a:ext uri="{FF2B5EF4-FFF2-40B4-BE49-F238E27FC236}">
                <a16:creationId xmlns:a16="http://schemas.microsoft.com/office/drawing/2014/main" id="{CE58B42B-34E7-4818-A279-25204CC6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0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青韵智控</a:t>
            </a:r>
            <a:endParaRPr sz="2400" b="1">
              <a:solidFill>
                <a:srgbClr val="073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0757F0F9-477C-410B-BB56-F5F424D7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57175"/>
            <a:ext cx="0" cy="2762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文字：让传统制茶更可控">
            <a:extLst xmlns:a="http://schemas.openxmlformats.org/drawingml/2006/main">
              <a:ext uri="{FF2B5EF4-FFF2-40B4-BE49-F238E27FC236}">
                <a16:creationId xmlns:a16="http://schemas.microsoft.com/office/drawing/2014/main" id="{44BF4CCC-45DD-41A0-A49C-46DE62FD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38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记录做青过程</a:t>
            </a:r>
            <a:endParaRPr sz="18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7" name="文字：项目背景">
            <a:extLst xmlns:a="http://schemas.openxmlformats.org/drawingml/2006/main">
              <a:ext uri="{FF2B5EF4-FFF2-40B4-BE49-F238E27FC236}">
                <a16:creationId xmlns:a16="http://schemas.microsoft.com/office/drawing/2014/main" id="{0C78B96E-1392-41FB-9083-4E05CD3C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FB64EAD1-C2B9-4567-B9D3-4F5912B3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字：项目概述">
            <a:extLst xmlns:a="http://schemas.openxmlformats.org/drawingml/2006/main">
              <a:ext uri="{FF2B5EF4-FFF2-40B4-BE49-F238E27FC236}">
                <a16:creationId xmlns:a16="http://schemas.microsoft.com/office/drawing/2014/main" id="{E4BAF1F7-54C0-4854-8AD6-963B5A41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项目概述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BB4537BA-7AB2-44F1-BF25-FA8AED47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字：关键技术">
            <a:extLst xmlns:a="http://schemas.openxmlformats.org/drawingml/2006/main">
              <a:ext uri="{FF2B5EF4-FFF2-40B4-BE49-F238E27FC236}">
                <a16:creationId xmlns:a16="http://schemas.microsoft.com/office/drawing/2014/main" id="{54E3B314-79C3-4AAB-890F-51AD4254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关键技术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99003504-05D4-4F2C-9E4A-5D4DD6990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文字：实施与验证">
            <a:extLst xmlns:a="http://schemas.openxmlformats.org/drawingml/2006/main">
              <a:ext uri="{FF2B5EF4-FFF2-40B4-BE49-F238E27FC236}">
                <a16:creationId xmlns:a16="http://schemas.microsoft.com/office/drawing/2014/main" id="{86734DE9-50E9-45C2-8144-4CE3C991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571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实施与验证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929AD76D-51E3-4C47-AC70-15906AD0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7325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文字：商业模式">
            <a:extLst xmlns:a="http://schemas.openxmlformats.org/drawingml/2006/main">
              <a:ext uri="{FF2B5EF4-FFF2-40B4-BE49-F238E27FC236}">
                <a16:creationId xmlns:a16="http://schemas.microsoft.com/office/drawing/2014/main" id="{5B8EA65B-A535-45FD-8AFE-428ABA59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商业模式</a:t>
            </a:r>
            <a:endParaRPr sz="1500" b="0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5AB1D1CB-2611-4C04-AA7E-25DC4C84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323850"/>
            <a:ext cx="0" cy="1619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4B5AE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文字：未来展望">
            <a:extLst xmlns:a="http://schemas.openxmlformats.org/drawingml/2006/main">
              <a:ext uri="{FF2B5EF4-FFF2-40B4-BE49-F238E27FC236}">
                <a16:creationId xmlns:a16="http://schemas.microsoft.com/office/drawing/2014/main" id="{FB05A916-72BD-485B-9B93-74F6A877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82725" y="2571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未来展望</a:t>
            </a:r>
            <a:endParaRPr sz="1500" b="1">
              <a:solidFill>
                <a:srgbClr val="073F32"/>
              </a:solidFill>
              <a:latin typeface="宋体"/>
              <a:ea typeface="宋体"/>
              <a:cs typeface="宋体"/>
            </a:endParaRP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CCB507B5-2AE5-4383-9849-0D0D0027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628650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73F3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文字：16">
            <a:extLst xmlns:a="http://schemas.openxmlformats.org/drawingml/2006/main">
              <a:ext uri="{FF2B5EF4-FFF2-40B4-BE49-F238E27FC236}">
                <a16:creationId xmlns:a16="http://schemas.microsoft.com/office/drawing/2014/main" id="{878D5EA0-EDD7-48AB-AFF1-59029B7D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3800" y="257175"/>
            <a:ext cx="22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spAutoFit/>
          </a:bodyPr>
          <a:lstStyle xmlns:a="http://schemas.openxmlformats.org/drawingml/2006/main">
            <a:defPPr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1950" b="0">
              <a:solidFill>
                <a:srgbClr val="073F32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1EED4A40-3B03-4D2E-B794-4766F1D8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23900"/>
            <a:ext cx="157257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7D8D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06">
            <a:extLst xmlns:a="http://schemas.openxmlformats.org/drawingml/2006/main">
              <a:ext uri="{FF2B5EF4-FFF2-40B4-BE49-F238E27FC236}">
                <a16:creationId xmlns:a16="http://schemas.microsoft.com/office/drawing/2014/main" id="{5FFE68AD-8685-4942-9B66-F4A491DF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266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2" name="未来规划">
            <a:extLst xmlns:a="http://schemas.openxmlformats.org/drawingml/2006/main">
              <a:ext uri="{FF2B5EF4-FFF2-40B4-BE49-F238E27FC236}">
                <a16:creationId xmlns:a16="http://schemas.microsoft.com/office/drawing/2014/main" id="{0DF2FA3D-432B-4FAD-AC72-A5192EBF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0"/>
            <a:ext cx="285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未来规划</a:t>
            </a:r>
          </a:p>
        </p:txBody>
      </p:sp>
      <p:sp>
        <p:nvSpPr>
          <p:cNvPr id="23" name="凤凰单丛&#10;做青辅助系统">
            <a:extLst xmlns:a="http://schemas.openxmlformats.org/drawingml/2006/main">
              <a:ext uri="{FF2B5EF4-FFF2-40B4-BE49-F238E27FC236}">
                <a16:creationId xmlns:a16="http://schemas.microsoft.com/office/drawing/2014/main" id="{13461D32-C245-4731-8677-D34031F4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凤凰单丛</a:t>
            </a:r>
          </a:p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做青辅助系统</a:t>
            </a:r>
          </a:p>
        </p:txBody>
      </p:sp>
      <p:sp>
        <p:nvSpPr>
          <p:cNvPr id="24" name="团队按验证门槛推进下一阶段">
            <a:extLst xmlns:a="http://schemas.openxmlformats.org/drawingml/2006/main">
              <a:ext uri="{FF2B5EF4-FFF2-40B4-BE49-F238E27FC236}">
                <a16:creationId xmlns:a16="http://schemas.microsoft.com/office/drawing/2014/main" id="{F0DC33FD-0F21-48B5-8F79-4946B4C6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143000"/>
            <a:ext cx="11334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团队按验证门槛推进下一阶段</a:t>
            </a:r>
          </a:p>
        </p:txBody>
      </p:sp>
      <p:sp>
        <p:nvSpPr>
          <p:cNvPr id="25" name="流程 补齐证据&#10;环境鲁棒性">
            <a:extLst xmlns:a="http://schemas.openxmlformats.org/drawingml/2006/main">
              <a:ext uri="{FF2B5EF4-FFF2-40B4-BE49-F238E27FC236}">
                <a16:creationId xmlns:a16="http://schemas.microsoft.com/office/drawing/2014/main" id="{35201E0A-77B5-467F-909F-90FDCADD1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38500"/>
            <a:ext cx="240506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7DCD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补齐证据</a:t>
            </a:r>
          </a:p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环境鲁棒性</a:t>
            </a:r>
          </a:p>
        </p:txBody>
      </p:sp>
      <p:sp>
        <p:nvSpPr>
          <p:cNvPr id="26" name="流程 完整做青&#10;师傅标注">
            <a:extLst xmlns:a="http://schemas.openxmlformats.org/drawingml/2006/main">
              <a:ext uri="{FF2B5EF4-FFF2-40B4-BE49-F238E27FC236}">
                <a16:creationId xmlns:a16="http://schemas.microsoft.com/office/drawing/2014/main" id="{82E5DA2B-E513-492A-A85C-687AF7C1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5138" y="3238500"/>
            <a:ext cx="240506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7DCD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完整做青</a:t>
            </a:r>
          </a:p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师傅标注</a:t>
            </a:r>
          </a:p>
        </p:txBody>
      </p:sp>
      <p:sp>
        <p:nvSpPr>
          <p:cNvPr id="27" name="流程 分批次模型&#10;人工建议">
            <a:extLst xmlns:a="http://schemas.openxmlformats.org/drawingml/2006/main">
              <a:ext uri="{FF2B5EF4-FFF2-40B4-BE49-F238E27FC236}">
                <a16:creationId xmlns:a16="http://schemas.microsoft.com/office/drawing/2014/main" id="{886CC89F-AD3F-490B-B353-93DC5C43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38500"/>
            <a:ext cx="240506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7DCD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分批次模型</a:t>
            </a:r>
          </a:p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人工建议</a:t>
            </a:r>
          </a:p>
        </p:txBody>
      </p:sp>
      <p:sp>
        <p:nvSpPr>
          <p:cNvPr id="28" name="流程 安全验收&#10;品质对照">
            <a:extLst xmlns:a="http://schemas.openxmlformats.org/drawingml/2006/main">
              <a:ext uri="{FF2B5EF4-FFF2-40B4-BE49-F238E27FC236}">
                <a16:creationId xmlns:a16="http://schemas.microsoft.com/office/drawing/2014/main" id="{592E59EE-E955-451C-8EBF-12C62D7D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9163" y="3238500"/>
            <a:ext cx="2405063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C7DCD0"/>
            </a:solidFill>
          </a:ln>
        </p:spPr>
        <p:txBody>
          <a:bodyPr xmlns:a="http://schemas.openxmlformats.org/drawingml/2006/main" lIns="114300" tIns="114300" rIns="114300" bIns="114300" anchor="ctr"/>
          <a:lstStyle xmlns:a="http://schemas.openxmlformats.org/drawingml/2006/main">
            <a:def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安全验收</a:t>
            </a:r>
          </a:p>
          <a:p xmlns:a="http://schemas.openxmlformats.org/drawingml/2006/main">
            <a:pPr algn="ctr">
              <a:def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品质对照</a:t>
            </a:r>
          </a:p>
        </p:txBody>
      </p:sp>
      <p:sp>
        <p:nvSpPr>
          <p:cNvPr id="32" name="执行基础：固件、上位机、指标映射与版本归档">
            <a:extLst xmlns:a="http://schemas.openxmlformats.org/drawingml/2006/main">
              <a:ext uri="{FF2B5EF4-FFF2-40B4-BE49-F238E27FC236}">
                <a16:creationId xmlns:a16="http://schemas.microsoft.com/office/drawing/2014/main" id="{376269F9-D290-4C6D-B9A4-CBB35BEF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007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执行基础：固件、上位机、指标映射与版本归档</a:t>
            </a:r>
          </a:p>
        </p:txBody>
      </p:sp>
      <p:sp>
        <p:nvSpPr>
          <p:cNvPr id="33" name="现场试用以工艺与安全验证通过为前提">
            <a:extLst xmlns:a="http://schemas.openxmlformats.org/drawingml/2006/main">
              <a:ext uri="{FF2B5EF4-FFF2-40B4-BE49-F238E27FC236}">
                <a16:creationId xmlns:a16="http://schemas.microsoft.com/office/drawing/2014/main" id="{108688A2-DB4F-4425-BF8D-2850EE2A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0961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A756F"/>
                </a:solidFill>
                <a:latin typeface="Microsoft YaHei"/>
                <a:ea typeface="Microsoft YaHei"/>
                <a:cs typeface="Microsoft YaHei"/>
              </a:rPr>
              <a:t>现场试用以工艺与安全验证通过为前提</a:t>
            </a:r>
          </a:p>
        </p:txBody>
      </p:sp>
    </p:spTree>
    <p:extLst>
      <p:ext uri="{BB962C8B-B14F-4D97-AF65-F5344CB8AC3E}">
        <p14:creationId xmlns:p14="http://schemas.microsoft.com/office/powerpoint/2010/main" val="1242952138"/>
      </p:ext>
    </p:extLst>
  </p:cSld>
</p:sld>
</file>

<file path=ppt/slides/slide1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b0c52eb444e4abc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让做青过程有记录">
            <a:extLst xmlns:a="http://schemas.openxmlformats.org/drawingml/2006/main">
              <a:ext uri="{FF2B5EF4-FFF2-40B4-BE49-F238E27FC236}">
                <a16:creationId xmlns:a16="http://schemas.microsoft.com/office/drawing/2014/main" id="{517C2395-3132-40B7-90DC-2DD3E67E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05000"/>
            <a:ext cx="1219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让做青过程有记录</a:t>
            </a:r>
          </a:p>
        </p:txBody>
      </p:sp>
      <p:sp>
        <p:nvSpPr>
          <p:cNvPr id="2" name="让工艺经验可复盘">
            <a:extLst xmlns:a="http://schemas.openxmlformats.org/drawingml/2006/main">
              <a:ext uri="{FF2B5EF4-FFF2-40B4-BE49-F238E27FC236}">
                <a16:creationId xmlns:a16="http://schemas.microsoft.com/office/drawing/2014/main" id="{A84E1DE1-508B-44F3-BB25-2B83449D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95625"/>
            <a:ext cx="1219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4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让工艺经验可复盘</a:t>
            </a:r>
          </a:p>
        </p:txBody>
      </p:sp>
      <p:sp>
        <p:nvSpPr>
          <p:cNvPr id="3" name="青韵智控  凤凰单丛做青辅助系统">
            <a:extLst xmlns:a="http://schemas.openxmlformats.org/drawingml/2006/main">
              <a:ext uri="{FF2B5EF4-FFF2-40B4-BE49-F238E27FC236}">
                <a16:creationId xmlns:a16="http://schemas.microsoft.com/office/drawing/2014/main" id="{AC1E83E0-F707-4DEB-BBBE-48DB6A6D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196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9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青韵智控  凤凰单丛做青辅助系统</a:t>
            </a:r>
          </a:p>
        </p:txBody>
      </p:sp>
      <p:sp>
        <p:nvSpPr>
          <p:cNvPr id="4" name="感谢聆听">
            <a:extLst xmlns:a="http://schemas.openxmlformats.org/drawingml/2006/main">
              <a:ext uri="{FF2B5EF4-FFF2-40B4-BE49-F238E27FC236}">
                <a16:creationId xmlns:a16="http://schemas.microsoft.com/office/drawing/2014/main" id="{AAAC3C0C-1D9B-431D-AA7F-309670B1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238875"/>
            <a:ext cx="657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感谢聆听</a:t>
            </a:r>
          </a:p>
        </p:txBody>
      </p:sp>
      <p:sp>
        <p:nvSpPr>
          <p:cNvPr id="5" name="广东工业大学">
            <a:extLst xmlns:a="http://schemas.openxmlformats.org/drawingml/2006/main">
              <a:ext uri="{FF2B5EF4-FFF2-40B4-BE49-F238E27FC236}">
                <a16:creationId xmlns:a16="http://schemas.microsoft.com/office/drawing/2014/main" id="{90C0ED98-1548-4C1C-8376-03C6A16B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4295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广东工业大学</a:t>
            </a:r>
          </a:p>
        </p:txBody>
      </p:sp>
    </p:spTree>
    <p:extLst>
      <p:ext uri="{BB962C8B-B14F-4D97-AF65-F5344CB8AC3E}">
        <p14:creationId xmlns:p14="http://schemas.microsoft.com/office/powerpoint/2010/main" val="44870906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2026-10-09T14:06:39.9970000Z</dcterms:created>
  <dcterms:modified xsi:type="dcterms:W3CDTF">2026-10-09T14:06:39.9970000Z</dcterms:modified>
</coreProperties>
</file>